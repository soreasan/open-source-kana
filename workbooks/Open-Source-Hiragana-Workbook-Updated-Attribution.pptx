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slides/slide51.xml" ContentType="application/vnd.openxmlformats-officedocument.presentationml.slide+xml"/>
  <Override PartName="/ppt/notesSlides/notesSlide52.xml" ContentType="application/vnd.openxmlformats-officedocument.presentationml.notesSlide+xml"/>
  <Override PartName="/ppt/slides/slide52.xml" ContentType="application/vnd.openxmlformats-officedocument.presentationml.slide+xml"/>
  <Override PartName="/ppt/notesSlides/notesSlide53.xml" ContentType="application/vnd.openxmlformats-officedocument.presentationml.notesSlide+xml"/>
  <Override PartName="/ppt/slides/slide53.xml" ContentType="application/vnd.openxmlformats-officedocument.presentationml.slide+xml"/>
  <Override PartName="/ppt/notesSlides/notesSlide54.xml" ContentType="application/vnd.openxmlformats-officedocument.presentationml.notesSlide+xml"/>
  <Override PartName="/ppt/slides/slide54.xml" ContentType="application/vnd.openxmlformats-officedocument.presentationml.slide+xml"/>
  <Override PartName="/ppt/notesSlides/notesSlide55.xml" ContentType="application/vnd.openxmlformats-officedocument.presentationml.notesSlide+xml"/>
  <Override PartName="/ppt/slides/slide55.xml" ContentType="application/vnd.openxmlformats-officedocument.presentationml.slide+xml"/>
  <Override PartName="/ppt/notesSlides/notesSlide56.xml" ContentType="application/vnd.openxmlformats-officedocument.presentationml.notesSlide+xml"/>
  <Override PartName="/ppt/slides/slide56.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629" r:id="rIdFrontmatter70"/>
    <p:sldId id="632" r:id="rIdOverview73"/>
    <p:sldId id="619" r:id="rIdHeader59"/>
    <p:sldId id="258" r:id="rId9"/>
    <p:sldId id="259" r:id="rId10"/>
    <p:sldId id="260" r:id="rId11"/>
    <p:sldId id="261" r:id="rId12"/>
    <p:sldId id="262" r:id="rId13"/>
    <p:sldId id="635" r:id="rIdPractice76"/>
    <p:sldId id="636" r:id="rIdVocab77"/>
    <p:sldId id="620" r:id="rIdHeader60"/>
    <p:sldId id="263" r:id="rId14"/>
    <p:sldId id="264" r:id="rId15"/>
    <p:sldId id="265" r:id="rId16"/>
    <p:sldId id="266" r:id="rId17"/>
    <p:sldId id="267" r:id="rId18"/>
    <p:sldId id="637" r:id="rIdWriting78"/>
    <p:sldId id="646" r:id="rIdVocab87"/>
    <p:sldId id="621" r:id="rIdHeader61"/>
    <p:sldId id="400" r:id="rIdExample0"/>
    <p:sldId id="401" r:id="rIdExample1"/>
    <p:sldId id="402" r:id="rIdExample2"/>
    <p:sldId id="403" r:id="rIdExample3"/>
    <p:sldId id="404" r:id="rIdExample4"/>
    <p:sldId id="638" r:id="rIdWriting79"/>
    <p:sldId id="647" r:id="rIdVocab88"/>
    <p:sldId id="622" r:id="rIdHeader62"/>
    <p:sldId id="500" r:id="rIdBasic0"/>
    <p:sldId id="501" r:id="rIdBasic1"/>
    <p:sldId id="502" r:id="rIdBasic2"/>
    <p:sldId id="503" r:id="rIdBasic3"/>
    <p:sldId id="504" r:id="rIdBasic4"/>
    <p:sldId id="639" r:id="rIdWriting80"/>
    <p:sldId id="648" r:id="rIdVocab89"/>
    <p:sldId id="623" r:id="rIdHeader63"/>
    <p:sldId id="505" r:id="rIdBasic5"/>
    <p:sldId id="506" r:id="rIdBasic6"/>
    <p:sldId id="507" r:id="rIdBasic7"/>
    <p:sldId id="508" r:id="rIdBasic8"/>
    <p:sldId id="509" r:id="rIdBasic9"/>
    <p:sldId id="640" r:id="rIdWriting81"/>
    <p:sldId id="649" r:id="rIdVocab90"/>
    <p:sldId id="624" r:id="rIdHeader64"/>
    <p:sldId id="510" r:id="rIdBasic10"/>
    <p:sldId id="511" r:id="rIdBasic11"/>
    <p:sldId id="512" r:id="rIdBasic12"/>
    <p:sldId id="513" r:id="rIdBasic13"/>
    <p:sldId id="514" r:id="rIdBasic14"/>
    <p:sldId id="641" r:id="rIdWriting82"/>
    <p:sldId id="650" r:id="rIdVocab91"/>
    <p:sldId id="625" r:id="rIdHeader65"/>
    <p:sldId id="515" r:id="rIdBasic15"/>
    <p:sldId id="516" r:id="rIdBasic16"/>
    <p:sldId id="517" r:id="rIdBasic17"/>
    <p:sldId id="518" r:id="rIdBasic18"/>
    <p:sldId id="519" r:id="rIdBasic19"/>
    <p:sldId id="642" r:id="rIdWriting83"/>
    <p:sldId id="651" r:id="rIdVocab92"/>
    <p:sldId id="626" r:id="rIdHeader66"/>
    <p:sldId id="520" r:id="rIdBasic20"/>
    <p:sldId id="521" r:id="rIdBasic21"/>
    <p:sldId id="522" r:id="rIdBasic22"/>
    <p:sldId id="643" r:id="rIdWriting84"/>
    <p:sldId id="652" r:id="rIdVocab93"/>
    <p:sldId id="627" r:id="rIdHeader67"/>
    <p:sldId id="523" r:id="rIdBasic23"/>
    <p:sldId id="524" r:id="rIdBasic24"/>
    <p:sldId id="525" r:id="rIdBasic25"/>
    <p:sldId id="526" r:id="rIdBasic26"/>
    <p:sldId id="527" r:id="rIdBasic27"/>
    <p:sldId id="644" r:id="rIdWriting85"/>
    <p:sldId id="653" r:id="rIdVocab94"/>
    <p:sldId id="628" r:id="rIdHeader68"/>
    <p:sldId id="528" r:id="rIdBasic28"/>
    <p:sldId id="529" r:id="rIdBasic29"/>
    <p:sldId id="530" r:id="rIdBasic30"/>
    <p:sldId id="645" r:id="rIdWriting86"/>
    <p:sldId id="654" r:id="rIdVocab95"/>
    <p:sldId id="633" r:id="rIdSoundHeader74"/>
    <p:sldId id="600" r:id="rIdConcept0"/>
    <p:sldId id="601" r:id="rIdConcept1"/>
    <p:sldId id="602" r:id="rIdConcept2"/>
    <p:sldId id="603" r:id="rIdConcept3"/>
    <p:sldId id="604" r:id="rIdConcept4"/>
    <p:sldId id="605" r:id="rIdConcept5"/>
    <p:sldId id="655" r:id="rIdSoundPractice96"/>
    <p:sldId id="656" r:id="rIdSoundPractice97"/>
    <p:sldId id="634" r:id="rIdCredits75"/>
    <p:sldId id="630" r:id="rIdFrontmatter71"/>
    <p:sldId id="631" r:id="rIdFrontmatter72"/>
    <p:sldId id="268" r:id="rId19"/>
    <p:sldId id="269" r:id="rId20"/>
    <p:sldId id="607" r:id="rIdAttribution5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CD3A5F-9F3C-4428-9CE2-51912DDEF8F0}">
  <a:tblStyle styleId="{41CD3A5F-9F3C-4428-9CE2-51912DDEF8F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 Id="rIdExample0" Type="http://schemas.openxmlformats.org/officeDocument/2006/relationships/slide" Target="slides/slide15.xml"/><Relationship Id="rIdExample1" Type="http://schemas.openxmlformats.org/officeDocument/2006/relationships/slide" Target="slides/slide16.xml"/><Relationship Id="rIdExample2" Type="http://schemas.openxmlformats.org/officeDocument/2006/relationships/slide" Target="slides/slide17.xml"/><Relationship Id="rIdExample3" Type="http://schemas.openxmlformats.org/officeDocument/2006/relationships/slide" Target="slides/slide18.xml"/><Relationship Id="rIdExample4" Type="http://schemas.openxmlformats.org/officeDocument/2006/relationships/slide" Target="slides/slide19.xml"/><Relationship Id="rIdBasic0" Type="http://schemas.openxmlformats.org/officeDocument/2006/relationships/slide" Target="slides/slide20.xml"/><Relationship Id="rIdBasic1" Type="http://schemas.openxmlformats.org/officeDocument/2006/relationships/slide" Target="slides/slide21.xml"/><Relationship Id="rIdBasic2" Type="http://schemas.openxmlformats.org/officeDocument/2006/relationships/slide" Target="slides/slide22.xml"/><Relationship Id="rIdBasic3" Type="http://schemas.openxmlformats.org/officeDocument/2006/relationships/slide" Target="slides/slide23.xml"/><Relationship Id="rIdBasic4" Type="http://schemas.openxmlformats.org/officeDocument/2006/relationships/slide" Target="slides/slide24.xml"/><Relationship Id="rIdBasic5" Type="http://schemas.openxmlformats.org/officeDocument/2006/relationships/slide" Target="slides/slide25.xml"/><Relationship Id="rIdBasic6" Type="http://schemas.openxmlformats.org/officeDocument/2006/relationships/slide" Target="slides/slide26.xml"/><Relationship Id="rIdBasic7" Type="http://schemas.openxmlformats.org/officeDocument/2006/relationships/slide" Target="slides/slide27.xml"/><Relationship Id="rIdBasic8" Type="http://schemas.openxmlformats.org/officeDocument/2006/relationships/slide" Target="slides/slide28.xml"/><Relationship Id="rIdBasic9" Type="http://schemas.openxmlformats.org/officeDocument/2006/relationships/slide" Target="slides/slide29.xml"/><Relationship Id="rIdBasic10" Type="http://schemas.openxmlformats.org/officeDocument/2006/relationships/slide" Target="slides/slide30.xml"/><Relationship Id="rIdBasic11" Type="http://schemas.openxmlformats.org/officeDocument/2006/relationships/slide" Target="slides/slide31.xml"/><Relationship Id="rIdBasic12" Type="http://schemas.openxmlformats.org/officeDocument/2006/relationships/slide" Target="slides/slide32.xml"/><Relationship Id="rIdBasic13" Type="http://schemas.openxmlformats.org/officeDocument/2006/relationships/slide" Target="slides/slide33.xml"/><Relationship Id="rIdBasic14" Type="http://schemas.openxmlformats.org/officeDocument/2006/relationships/slide" Target="slides/slide34.xml"/><Relationship Id="rIdBasic15" Type="http://schemas.openxmlformats.org/officeDocument/2006/relationships/slide" Target="slides/slide35.xml"/><Relationship Id="rIdBasic16" Type="http://schemas.openxmlformats.org/officeDocument/2006/relationships/slide" Target="slides/slide36.xml"/><Relationship Id="rIdBasic17" Type="http://schemas.openxmlformats.org/officeDocument/2006/relationships/slide" Target="slides/slide37.xml"/><Relationship Id="rIdBasic18" Type="http://schemas.openxmlformats.org/officeDocument/2006/relationships/slide" Target="slides/slide38.xml"/><Relationship Id="rIdBasic19" Type="http://schemas.openxmlformats.org/officeDocument/2006/relationships/slide" Target="slides/slide39.xml"/><Relationship Id="rIdBasic20" Type="http://schemas.openxmlformats.org/officeDocument/2006/relationships/slide" Target="slides/slide40.xml"/><Relationship Id="rIdBasic21" Type="http://schemas.openxmlformats.org/officeDocument/2006/relationships/slide" Target="slides/slide41.xml"/><Relationship Id="rIdBasic22" Type="http://schemas.openxmlformats.org/officeDocument/2006/relationships/slide" Target="slides/slide42.xml"/><Relationship Id="rIdBasic23" Type="http://schemas.openxmlformats.org/officeDocument/2006/relationships/slide" Target="slides/slide43.xml"/><Relationship Id="rIdBasic24" Type="http://schemas.openxmlformats.org/officeDocument/2006/relationships/slide" Target="slides/slide44.xml"/><Relationship Id="rIdBasic25" Type="http://schemas.openxmlformats.org/officeDocument/2006/relationships/slide" Target="slides/slide45.xml"/><Relationship Id="rIdBasic26" Type="http://schemas.openxmlformats.org/officeDocument/2006/relationships/slide" Target="slides/slide46.xml"/><Relationship Id="rIdBasic27" Type="http://schemas.openxmlformats.org/officeDocument/2006/relationships/slide" Target="slides/slide47.xml"/><Relationship Id="rIdBasic28" Type="http://schemas.openxmlformats.org/officeDocument/2006/relationships/slide" Target="slides/slide48.xml"/><Relationship Id="rIdBasic29" Type="http://schemas.openxmlformats.org/officeDocument/2006/relationships/slide" Target="slides/slide49.xml"/><Relationship Id="rIdBasic30" Type="http://schemas.openxmlformats.org/officeDocument/2006/relationships/slide" Target="slides/slide50.xml"/><Relationship Id="rIdConcept0" Type="http://schemas.openxmlformats.org/officeDocument/2006/relationships/slide" Target="slides/slide51.xml"/><Relationship Id="rIdConcept1" Type="http://schemas.openxmlformats.org/officeDocument/2006/relationships/slide" Target="slides/slide52.xml"/><Relationship Id="rIdConcept2" Type="http://schemas.openxmlformats.org/officeDocument/2006/relationships/slide" Target="slides/slide53.xml"/><Relationship Id="rIdConcept3" Type="http://schemas.openxmlformats.org/officeDocument/2006/relationships/slide" Target="slides/slide54.xml"/><Relationship Id="rIdConcept4" Type="http://schemas.openxmlformats.org/officeDocument/2006/relationships/slide" Target="slides/slide55.xml"/><Relationship Id="rIdConcept5" Type="http://schemas.openxmlformats.org/officeDocument/2006/relationships/slide" Target="slides/slide56.xml"/><Relationship Id="rIdAttribution58" Type="http://schemas.openxmlformats.org/officeDocument/2006/relationships/slide" Target="slides/slide58.xml"/><Relationship Id="rIdHeader59" Type="http://schemas.openxmlformats.org/officeDocument/2006/relationships/slide" Target="slides/slide59.xml"/><Relationship Id="rIdHeader60" Type="http://schemas.openxmlformats.org/officeDocument/2006/relationships/slide" Target="slides/slide60.xml"/><Relationship Id="rIdHeader61" Type="http://schemas.openxmlformats.org/officeDocument/2006/relationships/slide" Target="slides/slide61.xml"/><Relationship Id="rIdHeader62" Type="http://schemas.openxmlformats.org/officeDocument/2006/relationships/slide" Target="slides/slide62.xml"/><Relationship Id="rIdHeader63" Type="http://schemas.openxmlformats.org/officeDocument/2006/relationships/slide" Target="slides/slide63.xml"/><Relationship Id="rIdHeader64" Type="http://schemas.openxmlformats.org/officeDocument/2006/relationships/slide" Target="slides/slide64.xml"/><Relationship Id="rIdHeader65" Type="http://schemas.openxmlformats.org/officeDocument/2006/relationships/slide" Target="slides/slide65.xml"/><Relationship Id="rIdHeader66" Type="http://schemas.openxmlformats.org/officeDocument/2006/relationships/slide" Target="slides/slide66.xml"/><Relationship Id="rIdHeader67" Type="http://schemas.openxmlformats.org/officeDocument/2006/relationships/slide" Target="slides/slide67.xml"/><Relationship Id="rIdHeader68" Type="http://schemas.openxmlformats.org/officeDocument/2006/relationships/slide" Target="slides/slide68.xml"/><Relationship Id="rIdFrontmatter70" Type="http://schemas.openxmlformats.org/officeDocument/2006/relationships/slide" Target="slides/slide70.xml"/><Relationship Id="rIdFrontmatter71" Type="http://schemas.openxmlformats.org/officeDocument/2006/relationships/slide" Target="slides/slide71.xml"/><Relationship Id="rIdFrontmatter72" Type="http://schemas.openxmlformats.org/officeDocument/2006/relationships/slide" Target="slides/slide72.xml"/><Relationship Id="rIdOverview73" Type="http://schemas.openxmlformats.org/officeDocument/2006/relationships/slide" Target="slides/slide73.xml"/><Relationship Id="rIdSoundHeader74" Type="http://schemas.openxmlformats.org/officeDocument/2006/relationships/slide" Target="slides/slide74.xml"/><Relationship Id="rIdCredits75" Type="http://schemas.openxmlformats.org/officeDocument/2006/relationships/slide" Target="slides/slide75.xml"/><Relationship Id="rIdPractice76" Type="http://schemas.openxmlformats.org/officeDocument/2006/relationships/slide" Target="slides/slide76.xml"/><Relationship Id="rIdVocab77" Type="http://schemas.openxmlformats.org/officeDocument/2006/relationships/slide" Target="slides/slide77.xml"/><Relationship Id="rIdWriting78" Type="http://schemas.openxmlformats.org/officeDocument/2006/relationships/slide" Target="slides/slide78.xml"/><Relationship Id="rIdWriting79" Type="http://schemas.openxmlformats.org/officeDocument/2006/relationships/slide" Target="slides/slide79.xml"/><Relationship Id="rIdWriting80" Type="http://schemas.openxmlformats.org/officeDocument/2006/relationships/slide" Target="slides/slide80.xml"/><Relationship Id="rIdWriting81" Type="http://schemas.openxmlformats.org/officeDocument/2006/relationships/slide" Target="slides/slide81.xml"/><Relationship Id="rIdWriting82" Type="http://schemas.openxmlformats.org/officeDocument/2006/relationships/slide" Target="slides/slide82.xml"/><Relationship Id="rIdWriting83" Type="http://schemas.openxmlformats.org/officeDocument/2006/relationships/slide" Target="slides/slide83.xml"/><Relationship Id="rIdWriting84" Type="http://schemas.openxmlformats.org/officeDocument/2006/relationships/slide" Target="slides/slide84.xml"/><Relationship Id="rIdWriting85" Type="http://schemas.openxmlformats.org/officeDocument/2006/relationships/slide" Target="slides/slide85.xml"/><Relationship Id="rIdWriting86" Type="http://schemas.openxmlformats.org/officeDocument/2006/relationships/slide" Target="slides/slide86.xml"/><Relationship Id="rIdVocab87" Type="http://schemas.openxmlformats.org/officeDocument/2006/relationships/slide" Target="slides/slide87.xml"/><Relationship Id="rIdVocab88" Type="http://schemas.openxmlformats.org/officeDocument/2006/relationships/slide" Target="slides/slide88.xml"/><Relationship Id="rIdVocab89" Type="http://schemas.openxmlformats.org/officeDocument/2006/relationships/slide" Target="slides/slide89.xml"/><Relationship Id="rIdVocab90" Type="http://schemas.openxmlformats.org/officeDocument/2006/relationships/slide" Target="slides/slide90.xml"/><Relationship Id="rIdVocab91" Type="http://schemas.openxmlformats.org/officeDocument/2006/relationships/slide" Target="slides/slide91.xml"/><Relationship Id="rIdVocab92" Type="http://schemas.openxmlformats.org/officeDocument/2006/relationships/slide" Target="slides/slide92.xml"/><Relationship Id="rIdVocab93" Type="http://schemas.openxmlformats.org/officeDocument/2006/relationships/slide" Target="slides/slide93.xml"/><Relationship Id="rIdVocab94" Type="http://schemas.openxmlformats.org/officeDocument/2006/relationships/slide" Target="slides/slide94.xml"/><Relationship Id="rIdVocab95" Type="http://schemas.openxmlformats.org/officeDocument/2006/relationships/slide" Target="slides/slide95.xml"/><Relationship Id="rIdSoundPractice96" Type="http://schemas.openxmlformats.org/officeDocument/2006/relationships/slide" Target="slides/slide96.xml"/><Relationship Id="rIdSoundPractice97" Type="http://schemas.openxmlformats.org/officeDocument/2006/relationships/slide" Target="slides/slide9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Type="http://schemas.openxmlformats.org/officeDocument/2006/relationships/slide" Target="../slides/slide51.xml" Id="R7dd87a6a57594e4a"/><Relationship Type="http://schemas.openxmlformats.org/officeDocument/2006/relationships/notesMaster" Target="../notesMasters/notesMaster1.xml" Id="Rb5603aa36ced4dd9"/></Relationships>
</file>

<file path=ppt/notesSlides/_rels/notesSlide52.xml.rels><?xml version='1.0' encoding='UTF-8' standalone='yes'?>
<Relationships xmlns="http://schemas.openxmlformats.org/package/2006/relationships"><Relationship Type="http://schemas.openxmlformats.org/officeDocument/2006/relationships/slide" Target="../slides/slide52.xml" Id="Rc2ef2a73397743ba"/><Relationship Type="http://schemas.openxmlformats.org/officeDocument/2006/relationships/notesMaster" Target="../notesMasters/notesMaster1.xml" Id="R0ca23aec7ee04564"/></Relationships>
</file>

<file path=ppt/notesSlides/_rels/notesSlide53.xml.rels><?xml version='1.0' encoding='UTF-8' standalone='yes'?>
<Relationships xmlns="http://schemas.openxmlformats.org/package/2006/relationships"><Relationship Type="http://schemas.openxmlformats.org/officeDocument/2006/relationships/slide" Target="../slides/slide53.xml" Id="R47d08c2286c14887"/><Relationship Type="http://schemas.openxmlformats.org/officeDocument/2006/relationships/notesMaster" Target="../notesMasters/notesMaster1.xml" Id="R2cd18b61465c404a"/></Relationships>
</file>

<file path=ppt/notesSlides/_rels/notesSlide54.xml.rels><?xml version='1.0' encoding='UTF-8' standalone='yes'?>
<Relationships xmlns="http://schemas.openxmlformats.org/package/2006/relationships"><Relationship Type="http://schemas.openxmlformats.org/officeDocument/2006/relationships/slide" Target="../slides/slide54.xml" Id="Rc59eeced95ad4c36"/><Relationship Type="http://schemas.openxmlformats.org/officeDocument/2006/relationships/notesMaster" Target="../notesMasters/notesMaster1.xml" Id="R1986d6cacd824a0f"/></Relationships>
</file>

<file path=ppt/notesSlides/_rels/notesSlide55.xml.rels><?xml version='1.0' encoding='UTF-8' standalone='yes'?>
<Relationships xmlns="http://schemas.openxmlformats.org/package/2006/relationships"><Relationship Type="http://schemas.openxmlformats.org/officeDocument/2006/relationships/slide" Target="../slides/slide55.xml" Id="Rcf1261fb58b248aa"/><Relationship Type="http://schemas.openxmlformats.org/officeDocument/2006/relationships/notesMaster" Target="../notesMasters/notesMaster1.xml" Id="R048eade1cda54510"/></Relationships>
</file>

<file path=ppt/notesSlides/_rels/notesSlide56.xml.rels><?xml version='1.0' encoding='UTF-8' standalone='yes'?>
<Relationships xmlns="http://schemas.openxmlformats.org/package/2006/relationships"><Relationship Type="http://schemas.openxmlformats.org/officeDocument/2006/relationships/slide" Target="../slides/slide56.xml" Id="Reb26c86238fd44dd"/><Relationship Type="http://schemas.openxmlformats.org/officeDocument/2006/relationships/notesMaster" Target="../notesMasters/notesMaster1.xml" Id="R193f96af8d104ecc"/></Relationships>
</file>

<file path=ppt/notesSlides/_rels/notesSlide96.xml.rels><?xml version='1.0' encoding='UTF-8' standalone='yes'?>
<Relationships xmlns="http://schemas.openxmlformats.org/package/2006/relationships"><Relationship Type="http://schemas.openxmlformats.org/officeDocument/2006/relationships/slide" Target="../slides/slide96.xml" Id="R7dd87a6a57594e4a"/><Relationship Type="http://schemas.openxmlformats.org/officeDocument/2006/relationships/notesMaster" Target="../notesMasters/notesMaster1.xml" Id="Rb5603aa36ced4dd9"/></Relationships>
</file>

<file path=ppt/notesSlides/_rels/notesSlide97.xml.rels><?xml version='1.0' encoding='UTF-8' standalone='yes'?>
<Relationships xmlns="http://schemas.openxmlformats.org/package/2006/relationships"><Relationship Type="http://schemas.openxmlformats.org/officeDocument/2006/relationships/slide" Target="../slides/slide97.xml" Id="R7dd87a6a57594e4a"/><Relationship Type="http://schemas.openxmlformats.org/officeDocument/2006/relationships/notesMaster" Target="../notesMasters/notesMaster1.xml" Id="Rb5603aa36ced4dd9"/></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837ddd7d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837ddd7d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837ddd7d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837ddd7d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837ddd7dd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837ddd7dd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837ddd7dd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837ddd7dd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837ddd7dd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837ddd7dd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837ddd7dd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837ddd7dd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837ddd7dd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837ddd7d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837ddd7dd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837ddd7dd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837ddd7dd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f837ddd7dd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837ddd7dd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837ddd7dd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837ddd7d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f837ddd7d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837ddd7d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f837ddd7d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
For ふ, blow gently between both lips, without placing the upper teeth on the lower lip.</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
The Japanese r sound is a quick tongue tap. English examples are only rough pronunciation guides.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
The Japanese r sound is a quick tongue tap. English examples are only rough pronunciation guides.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
The Japanese r sound is a quick tongue tap. English examples are only rough pronunciation guides.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
The Japanese r sound is a quick tongue tap. English examples are only rough pronunciation guides.</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
The Japanese r sound is a quick tongue tap. English examples are only rough pronunciation guides.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
を is normally pronounced o in modern standard Japanese. The romaji wo distinguishes it from お.</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hiragana.svg, CC BY-SA 3.0. https://commons.wikimedia.org/wiki/File:Table_hiragana.svg
Images cropped and resized from the supplied charts.
ん is a separate mora. Its nasal pronunciation changes with the following sound.</a:t>
            </a:r>
            <a:endParaRPr/>
          </a:p>
        </p:txBody>
      </p:sp>
    </p:spTree>
  </p:cSld>
  <p:clrMapOvr>
    <a:masterClrMapping/>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Chart: TealComet, Hiragana Chart Seion Dakuon Yoon, CC0 1.0. https://commons.wikimedia.org/wiki/File:Hiragana_Chart_Seion_Dakuon_Yoon.png</a:t>
            </a:r>
          </a:p>
          <a:p xmlns:a="http://schemas.openxmlformats.org/drawingml/2006/main">
            <a:r>
              <a:t>Cropped and resized from the supplied chart.</a:t>
            </a:r>
          </a:p>
          <a:p xmlns:a="http://schemas.openxmlformats.org/drawingml/2006/main">
            <a:r>
              <a:t>Concept reference: The Japan Foundation, Irodori kana introduction. https://www.irodori.jpf.go.jp/assets/data/Kana_all.pdf</a:t>
            </a:r>
          </a:p>
          <a:p xmlns:a="http://schemas.openxmlformats.org/drawingml/2006/main">
            <a:r>
              <a:t>Dakuten changes k to g, s to z, t to d, h to b. じ is ji; ぢ and づ are uncommon and usually read ji and zu. Handakuten applies to the h row only, producing 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Chart: TealComet, Hiragana Chart Seion Dakuon Yoon, CC0 1.0. https://commons.wikimedia.org/wiki/File:Hiragana_Chart_Seion_Dakuon_Yoon.png</a:t>
            </a:r>
          </a:p>
          <a:p xmlns:a="http://schemas.openxmlformats.org/drawingml/2006/main">
            <a:r>
              <a:t>Cropped and resized from the supplied chart.</a:t>
            </a:r>
          </a:p>
          <a:p xmlns:a="http://schemas.openxmlformats.org/drawingml/2006/main">
            <a:r>
              <a:t>Concept reference: The Japan Foundation, Irodori kana introduction. https://www.irodori.jpf.go.jp/assets/data/Kana_all.pdf</a:t>
            </a:r>
          </a:p>
          <a:p xmlns:a="http://schemas.openxmlformats.org/drawingml/2006/main">
            <a:r>
              <a:t>Small ya, yu, yo combine with i-row kana to form one mora. Compare full-sized きや (ki-ya, two morae) with きゃ (kya, one mora). Examples shown are ky, sh and ch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Particles: は is wa, へ is e, and を is o. In words such as はな, は is ha. Source: Japan Foundation Irodori Starter grammar explanations.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Printed and handwritten き, さ and り can differ in stroke connections. Students should follow the separate stroke-order models. Source: Japan Foundation Irodori Kana_all.pdf, Writing by hand.</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おかあさん okaasan, おねえさん oneesan, せんせい sensei (usually pronounced sensee), おとうさん otousan (usually pronounced otoosan). Hiragana commonly writes long e with い or え and long o with う or お. Source: https://www.irodori.jpf.go.jp/assets/data/Kana_all.pdf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きっぷ kippu = ticket, ざっし zasshi = magazine. Small っ holds the next consonant for one beat. Source: https://www.irodori.jpf.go.jp/assets/data/Kana_all.pdf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Instructor answers: か + dakuten = が (ga); は + handakuten = ぱ (pa); き + small ゃ = きゃ (kya); し + small ゅ = しゅ (shu).</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Instructor answers: がくせい gakusei (student); さんぽ sanpo (walk); おちゃ ocha (tea); びょういん byouin (hospital); おかあさん okaasan (mother); きっぷ kippu (ticket). びょういん has four beats: byo-u-i-n. Romaji may use macrons for long vowels.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s://commons.wikimedia.org/wiki/File:Japanese_Kana_Mnemonic_Chart.png" TargetMode="External"/><Relationship Id="rId5" Type="http://schemas.openxmlformats.org/officeDocument/2006/relationships/hyperlink" Target="https://creativecommons.org/licenses/by-sa/4.0/" TargetMode="External"/><Relationship Id="rId6" Type="http://schemas.openxmlformats.org/officeDocument/2006/relationships/hyperlink" Target="https://commons.wikimedia.org/wiki/File:Table_hiragana.svg" TargetMode="External"/><Relationship Id="rId7" Type="http://schemas.openxmlformats.org/officeDocument/2006/relationships/hyperlink" Target="https://creativecommons.org/licenses/by-sa/3.0/" TargetMode="External"/><Relationship Id="rId8"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4.png"/><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8.png"/><Relationship Id="rId8"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21.png"/><Relationship Id="rId8"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18.png"/><Relationship Id="rId8"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17.png"/><Relationship Id="rId8"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9.png"/><Relationship Id="rId8"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1.png"/><Relationship Id="rId8"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16.png"/><Relationship Id="rId8"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6.png"/><Relationship Id="rId8"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commons.wikimedia.org/wiki/File:Japanese_Kana_Mnemonic_Chart.png" TargetMode="Externa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commons.wikimedia.org/wiki/File:Table_hiragana.svg" TargetMode="Externa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example-sa-stroke.png"/><Relationship Id="rId8" Type="http://schemas.openxmlformats.org/officeDocument/2006/relationships/image" Target="../media/example-sa-mnemonic.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example-shi-stroke.png"/><Relationship Id="rId8" Type="http://schemas.openxmlformats.org/officeDocument/2006/relationships/image" Target="../media/example-shi-mnemonic.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example-su-stroke.png"/><Relationship Id="rId8" Type="http://schemas.openxmlformats.org/officeDocument/2006/relationships/image" Target="../media/example-su-mnemonic.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example-se-stroke.png"/><Relationship Id="rId8" Type="http://schemas.openxmlformats.org/officeDocument/2006/relationships/image" Target="../media/example-se-mnemonic.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example-so-stroke.png"/><Relationship Id="rId8" Type="http://schemas.openxmlformats.org/officeDocument/2006/relationships/image" Target="../media/example-so-mnemonic.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ta-stroke.png"/><Relationship Id="rId8" Type="http://schemas.openxmlformats.org/officeDocument/2006/relationships/image" Target="../media/basic-ta-mnemonic.png"/><Relationship Id="rIdBasicNotes"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chi-stroke.png"/><Relationship Id="rId8" Type="http://schemas.openxmlformats.org/officeDocument/2006/relationships/image" Target="../media/basic-chi-mnemonic.png"/><Relationship Id="rIdBasicNotes"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tsu-stroke.png"/><Relationship Id="rId8" Type="http://schemas.openxmlformats.org/officeDocument/2006/relationships/image" Target="../media/basic-tsu-mnemonic.png"/><Relationship Id="rIdBasicNotes"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te-stroke.png"/><Relationship Id="rId8" Type="http://schemas.openxmlformats.org/officeDocument/2006/relationships/image" Target="../media/basic-te-mnemonic.png"/><Relationship Id="rIdBasicNotes"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to-stroke.png"/><Relationship Id="rId8" Type="http://schemas.openxmlformats.org/officeDocument/2006/relationships/image" Target="../media/basic-to-mnemonic.png"/><Relationship Id="rIdBasicNotes"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na-stroke.png"/><Relationship Id="rId8" Type="http://schemas.openxmlformats.org/officeDocument/2006/relationships/image" Target="../media/basic-na-mnemonic.png"/><Relationship Id="rIdBasicNotes"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ni-stroke.png"/><Relationship Id="rId8" Type="http://schemas.openxmlformats.org/officeDocument/2006/relationships/image" Target="../media/basic-ni-mnemonic.png"/><Relationship Id="rIdBasicNotes"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nu-stroke.png"/><Relationship Id="rId8" Type="http://schemas.openxmlformats.org/officeDocument/2006/relationships/image" Target="../media/basic-nu-mnemonic.png"/><Relationship Id="rIdBasicNotes"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ne-stroke.png"/><Relationship Id="rId8" Type="http://schemas.openxmlformats.org/officeDocument/2006/relationships/image" Target="../media/basic-ne-mnemonic.png"/><Relationship Id="rIdBasicNotes"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no-stroke.png"/><Relationship Id="rId8" Type="http://schemas.openxmlformats.org/officeDocument/2006/relationships/image" Target="../media/basic-no-mnemonic.png"/><Relationship Id="rIdBasicNotes"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ha-stroke.png"/><Relationship Id="rId8" Type="http://schemas.openxmlformats.org/officeDocument/2006/relationships/image" Target="../media/basic-ha-mnemonic.png"/><Relationship Id="rIdBasicNotes"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hi-stroke.png"/><Relationship Id="rId8" Type="http://schemas.openxmlformats.org/officeDocument/2006/relationships/image" Target="../media/basic-hi-mnemonic.png"/><Relationship Id="rIdBasicNotes"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fu-stroke.png"/><Relationship Id="rId8" Type="http://schemas.openxmlformats.org/officeDocument/2006/relationships/image" Target="../media/basic-fu-mnemonic.png"/><Relationship Id="rIdBasicNotes"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he-stroke.png"/><Relationship Id="rId8" Type="http://schemas.openxmlformats.org/officeDocument/2006/relationships/image" Target="../media/basic-he-mnemonic.png"/><Relationship Id="rIdBasicNotes"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ho-stroke.png"/><Relationship Id="rId8" Type="http://schemas.openxmlformats.org/officeDocument/2006/relationships/image" Target="../media/basic-ho-mnemonic.png"/><Relationship Id="rIdBasicNotes"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ma-stroke.png"/><Relationship Id="rId8" Type="http://schemas.openxmlformats.org/officeDocument/2006/relationships/image" Target="../media/basic-ma-mnemonic.png"/><Relationship Id="rIdBasicNotes"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mi-stroke.png"/><Relationship Id="rId8" Type="http://schemas.openxmlformats.org/officeDocument/2006/relationships/image" Target="../media/basic-mi-mnemonic.png"/><Relationship Id="rIdBasicNotes"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mu-stroke.png"/><Relationship Id="rId8" Type="http://schemas.openxmlformats.org/officeDocument/2006/relationships/image" Target="../media/basic-mu-mnemonic.png"/><Relationship Id="rIdBasicNotes"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me-stroke.png"/><Relationship Id="rId8" Type="http://schemas.openxmlformats.org/officeDocument/2006/relationships/image" Target="../media/basic-me-mnemonic.png"/><Relationship Id="rIdBasicNotes"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mo-stroke.png"/><Relationship Id="rId8" Type="http://schemas.openxmlformats.org/officeDocument/2006/relationships/image" Target="../media/basic-mo-mnemonic.png"/><Relationship Id="rIdBasicNotes"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ya-stroke.png"/><Relationship Id="rId8" Type="http://schemas.openxmlformats.org/officeDocument/2006/relationships/image" Target="../media/basic-ya-mnemonic.png"/><Relationship Id="rIdBasicNotes"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yu-stroke.png"/><Relationship Id="rId8" Type="http://schemas.openxmlformats.org/officeDocument/2006/relationships/image" Target="../media/basic-yu-mnemonic.png"/><Relationship Id="rIdBasicNotes"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yo-stroke.png"/><Relationship Id="rId8" Type="http://schemas.openxmlformats.org/officeDocument/2006/relationships/image" Target="../media/basic-yo-mnemonic.png"/><Relationship Id="rIdBasicNotes"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ra-stroke.png"/><Relationship Id="rId8" Type="http://schemas.openxmlformats.org/officeDocument/2006/relationships/image" Target="../media/basic-ra-mnemonic.png"/><Relationship Id="rIdBasicNotes"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ri-stroke.png"/><Relationship Id="rId8" Type="http://schemas.openxmlformats.org/officeDocument/2006/relationships/image" Target="../media/basic-ri-mnemonic.png"/><Relationship Id="rIdBasicNotes"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ru-stroke.png"/><Relationship Id="rId8" Type="http://schemas.openxmlformats.org/officeDocument/2006/relationships/image" Target="../media/basic-ru-mnemonic.png"/><Relationship Id="rIdBasicNotes"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re-stroke.png"/><Relationship Id="rId8" Type="http://schemas.openxmlformats.org/officeDocument/2006/relationships/image" Target="../media/basic-re-mnemonic.png"/><Relationship Id="rIdBasicNotes"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ro-stroke.png"/><Relationship Id="rId8" Type="http://schemas.openxmlformats.org/officeDocument/2006/relationships/image" Target="../media/basic-ro-mnemonic.png"/><Relationship Id="rIdBasicNotes"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wa-stroke.png"/><Relationship Id="rId8" Type="http://schemas.openxmlformats.org/officeDocument/2006/relationships/image" Target="../media/basic-wa-mnemonic.png"/><Relationship Id="rIdBasicNotes"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wo-stroke.png"/><Relationship Id="rId8" Type="http://schemas.openxmlformats.org/officeDocument/2006/relationships/image" Target="../media/basic-wo-mnemonic.png"/><Relationship Id="rIdBasicNotes"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n-stroke.png"/><Relationship Id="rId8" Type="http://schemas.openxmlformats.org/officeDocument/2006/relationships/image" Target="../media/basic-n-mnemonic.png"/><Relationship Id="rIdBasicNotes"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Type="http://schemas.openxmlformats.org/officeDocument/2006/relationships/slideLayout" Target="../slideLayouts/slideLayout3.xml" Id="R2155efe3da5e4e43"/><Relationship Type="http://schemas.openxmlformats.org/officeDocument/2006/relationships/image" Target="../media/concept-1-1.png" Id="R20f805aaf7584402"/><Relationship Type="http://schemas.openxmlformats.org/officeDocument/2006/relationships/notesSlide" Target="../notesSlides/notesSlide51.xml" Id="R69b4933b2898461c"/><Relationship Id="rIdChartSource" Type="http://schemas.openxmlformats.org/officeDocument/2006/relationships/hyperlink" Target="https://commons.wikimedia.org/wiki/File:Hiragana_Chart_Seion_Dakuon_Yoon.png" TargetMode="External"/><Relationship Id="rIdChartLicense" Type="http://schemas.openxmlformats.org/officeDocument/2006/relationships/hyperlink" Target="https://creativecommons.org/publicdomain/zero/1.0/" TargetMode="External"/></Relationships>
</file>

<file path=ppt/slides/_rels/slide52.xml.rels><?xml version='1.0' encoding='UTF-8' standalone='yes'?>
<Relationships xmlns="http://schemas.openxmlformats.org/package/2006/relationships"><Relationship Type="http://schemas.openxmlformats.org/officeDocument/2006/relationships/slideLayout" Target="../slideLayouts/slideLayout3.xml" Id="R2627969dbdca491e"/><Relationship Type="http://schemas.openxmlformats.org/officeDocument/2006/relationships/image" Target="../media/concept-2-1.png" Id="R89bb9fe3a1cb43a9"/><Relationship Type="http://schemas.openxmlformats.org/officeDocument/2006/relationships/notesSlide" Target="../notesSlides/notesSlide52.xml" Id="Rc77ed4c9f2d74400"/><Relationship Id="rIdChartSource" Type="http://schemas.openxmlformats.org/officeDocument/2006/relationships/hyperlink" Target="https://commons.wikimedia.org/wiki/File:Hiragana_Chart_Seion_Dakuon_Yoon.png" TargetMode="External"/><Relationship Id="rIdChartLicense" Type="http://schemas.openxmlformats.org/officeDocument/2006/relationships/hyperlink" Target="https://creativecommons.org/publicdomain/zero/1.0/" TargetMode="External"/></Relationships>
</file>

<file path=ppt/slides/_rels/slide53.xml.rels><?xml version='1.0' encoding='UTF-8' standalone='yes'?>
<Relationships xmlns="http://schemas.openxmlformats.org/package/2006/relationships"><Relationship Type="http://schemas.openxmlformats.org/officeDocument/2006/relationships/slideLayout" Target="../slideLayouts/slideLayout3.xml" Id="Ra026623864144463"/><Relationship Type="http://schemas.openxmlformats.org/officeDocument/2006/relationships/notesSlide" Target="../notesSlides/notesSlide53.xml" Id="Rfb3aaccba5484a59"/></Relationships>
</file>

<file path=ppt/slides/_rels/slide54.xml.rels><?xml version='1.0' encoding='UTF-8' standalone='yes'?>
<Relationships xmlns="http://schemas.openxmlformats.org/package/2006/relationships"><Relationship Type="http://schemas.openxmlformats.org/officeDocument/2006/relationships/slideLayout" Target="../slideLayouts/slideLayout3.xml" Id="Re7d123d6864a4fc4"/><Relationship Type="http://schemas.openxmlformats.org/officeDocument/2006/relationships/notesSlide" Target="../notesSlides/notesSlide54.xml" Id="R67e612f949ba4b46"/></Relationships>
</file>

<file path=ppt/slides/_rels/slide55.xml.rels><?xml version='1.0' encoding='UTF-8' standalone='yes'?>
<Relationships xmlns="http://schemas.openxmlformats.org/package/2006/relationships"><Relationship Type="http://schemas.openxmlformats.org/officeDocument/2006/relationships/slideLayout" Target="../slideLayouts/slideLayout3.xml" Id="R40520be5f8d44806"/><Relationship Type="http://schemas.openxmlformats.org/officeDocument/2006/relationships/notesSlide" Target="../notesSlides/notesSlide55.xml" Id="R34fd707cf94c4f73"/></Relationships>
</file>

<file path=ppt/slides/_rels/slide56.xml.rels><?xml version='1.0' encoding='UTF-8' standalone='yes'?>
<Relationships xmlns="http://schemas.openxmlformats.org/package/2006/relationships"><Relationship Type="http://schemas.openxmlformats.org/officeDocument/2006/relationships/slideLayout" Target="../slideLayouts/slideLayout3.xml" Id="Rd56a85fd1fd3464a"/><Relationship Type="http://schemas.openxmlformats.org/officeDocument/2006/relationships/notesSlide" Target="../notesSlides/notesSlide56.xml" Id="R820ed8b3601b4391"/></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Hiragana_Chart_Seion_Dakuon_Yoon.png" TargetMode="External"/><Relationship Id="rId4" Type="http://schemas.openxmlformats.org/officeDocument/2006/relationships/image" Target="../media/tealcomet-chart.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hira-vowel-aligned-0.png"/><Relationship Id="rIdImage1" Type="http://schemas.openxmlformats.org/officeDocument/2006/relationships/image" Target="../media/hira-vowel-aligned-1.png"/><Relationship Id="rIdImage2" Type="http://schemas.openxmlformats.org/officeDocument/2006/relationships/image" Target="../media/hira-vowel-aligned-2.png"/><Relationship Id="rIdImage3" Type="http://schemas.openxmlformats.org/officeDocument/2006/relationships/image" Target="../media/hira-vowel-aligned-3.png"/><Relationship Id="rIdImage4" Type="http://schemas.openxmlformats.org/officeDocument/2006/relationships/image" Target="../media/hira-vowel-aligned-4.png"/><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hira-k-aligned-0.png"/><Relationship Id="rIdImage1" Type="http://schemas.openxmlformats.org/officeDocument/2006/relationships/image" Target="../media/hira-k-aligned-1.png"/><Relationship Id="rIdImage2" Type="http://schemas.openxmlformats.org/officeDocument/2006/relationships/image" Target="../media/hira-k-aligned-2.png"/><Relationship Id="rIdImage3" Type="http://schemas.openxmlformats.org/officeDocument/2006/relationships/image" Target="../media/hira-k-aligned-3.png"/><Relationship Id="rIdImage4" Type="http://schemas.openxmlformats.org/officeDocument/2006/relationships/image" Target="../media/hira-k-aligned-4.png"/><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example-sa-stroke.png"/><Relationship Id="rIdImage1" Type="http://schemas.openxmlformats.org/officeDocument/2006/relationships/image" Target="../media/example-shi-stroke.png"/><Relationship Id="rIdImage2" Type="http://schemas.openxmlformats.org/officeDocument/2006/relationships/image" Target="../media/example-su-stroke.png"/><Relationship Id="rIdImage3" Type="http://schemas.openxmlformats.org/officeDocument/2006/relationships/image" Target="../media/example-se-stroke.png"/><Relationship Id="rIdImage4" Type="http://schemas.openxmlformats.org/officeDocument/2006/relationships/image" Target="../media/example-so-stroke.png"/><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ta-stroke.png"/><Relationship Id="rIdImage1" Type="http://schemas.openxmlformats.org/officeDocument/2006/relationships/image" Target="../media/basic-chi-stroke.png"/><Relationship Id="rIdImage2" Type="http://schemas.openxmlformats.org/officeDocument/2006/relationships/image" Target="../media/basic-tsu-stroke.png"/><Relationship Id="rIdImage3" Type="http://schemas.openxmlformats.org/officeDocument/2006/relationships/image" Target="../media/basic-te-stroke.png"/><Relationship Id="rIdImage4" Type="http://schemas.openxmlformats.org/officeDocument/2006/relationships/image" Target="../media/basic-to-stroke.png"/><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na-stroke.png"/><Relationship Id="rIdImage1" Type="http://schemas.openxmlformats.org/officeDocument/2006/relationships/image" Target="../media/basic-ni-stroke.png"/><Relationship Id="rIdImage2" Type="http://schemas.openxmlformats.org/officeDocument/2006/relationships/image" Target="../media/basic-nu-stroke.png"/><Relationship Id="rIdImage3" Type="http://schemas.openxmlformats.org/officeDocument/2006/relationships/image" Target="../media/basic-ne-stroke.png"/><Relationship Id="rIdImage4" Type="http://schemas.openxmlformats.org/officeDocument/2006/relationships/image" Target="../media/basic-no-stroke.png"/><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ha-stroke.png"/><Relationship Id="rIdImage1" Type="http://schemas.openxmlformats.org/officeDocument/2006/relationships/image" Target="../media/basic-hi-stroke.png"/><Relationship Id="rIdImage2" Type="http://schemas.openxmlformats.org/officeDocument/2006/relationships/image" Target="../media/basic-fu-stroke.png"/><Relationship Id="rIdImage3" Type="http://schemas.openxmlformats.org/officeDocument/2006/relationships/image" Target="../media/basic-he-stroke.png"/><Relationship Id="rIdImage4" Type="http://schemas.openxmlformats.org/officeDocument/2006/relationships/image" Target="../media/basic-ho-stroke.png"/><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ma-stroke.png"/><Relationship Id="rIdImage1" Type="http://schemas.openxmlformats.org/officeDocument/2006/relationships/image" Target="../media/basic-mi-stroke.png"/><Relationship Id="rIdImage2" Type="http://schemas.openxmlformats.org/officeDocument/2006/relationships/image" Target="../media/basic-mu-stroke.png"/><Relationship Id="rIdImage3" Type="http://schemas.openxmlformats.org/officeDocument/2006/relationships/image" Target="../media/basic-me-stroke.png"/><Relationship Id="rIdImage4" Type="http://schemas.openxmlformats.org/officeDocument/2006/relationships/image" Target="../media/basic-mo-stroke.png"/><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ya-stroke.png"/><Relationship Id="rIdImage1" Type="http://schemas.openxmlformats.org/officeDocument/2006/relationships/image" Target="../media/basic-yu-stroke.png"/><Relationship Id="rIdImage2" Type="http://schemas.openxmlformats.org/officeDocument/2006/relationships/image" Target="../media/basic-yo-stroke.png"/><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ra-stroke.png"/><Relationship Id="rIdImage1" Type="http://schemas.openxmlformats.org/officeDocument/2006/relationships/image" Target="../media/basic-ri-stroke.png"/><Relationship Id="rIdImage2" Type="http://schemas.openxmlformats.org/officeDocument/2006/relationships/image" Target="../media/basic-ru-stroke.png"/><Relationship Id="rIdImage3" Type="http://schemas.openxmlformats.org/officeDocument/2006/relationships/image" Target="../media/basic-re-stroke.png"/><Relationship Id="rIdImage4" Type="http://schemas.openxmlformats.org/officeDocument/2006/relationships/image" Target="../media/basic-ro-stroke.png"/><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wa-stroke.png"/><Relationship Id="rIdImage1" Type="http://schemas.openxmlformats.org/officeDocument/2006/relationships/image" Target="../media/basic-wo-stroke.png"/><Relationship Id="rIdImage2" Type="http://schemas.openxmlformats.org/officeDocument/2006/relationships/image" Target="../media/basic-n-stroke.png"/><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n-stroke.png"/><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License" Type="http://schemas.openxmlformats.org/officeDocument/2006/relationships/hyperlink" Target="https://creativecommons.org/licenses/by-sa/4.0/"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ChartSource" Type="http://schemas.openxmlformats.org/officeDocument/2006/relationships/hyperlink" Target="https://commons.wikimedia.org/wiki/File:Hiragana_Chart_Seion_Dakuon_Yoon.png" TargetMode="External"/><Relationship Id="rIdChartLicense" Type="http://schemas.openxmlformats.org/officeDocument/2006/relationships/hyperlink" Target="https://creativecommons.org/publicdomain/zero/1.0/"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Stroke0" Type="http://schemas.openxmlformats.org/officeDocument/2006/relationships/image" Target="../media/image2.png"/><Relationship Id="rIdStroke1" Type="http://schemas.openxmlformats.org/officeDocument/2006/relationships/image" Target="../media/image4.png"/><Relationship Id="rIdStroke2" Type="http://schemas.openxmlformats.org/officeDocument/2006/relationships/image" Target="../media/image8.png"/><Relationship Id="rIdStroke3" Type="http://schemas.openxmlformats.org/officeDocument/2006/relationships/image" Target="../media/image21.png"/><Relationship Id="rIdStroke4" Type="http://schemas.openxmlformats.org/officeDocument/2006/relationships/image" Target="../media/image18.png"/><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image17.png"/><Relationship Id="rIdStroke1" Type="http://schemas.openxmlformats.org/officeDocument/2006/relationships/image" Target="../media/image9.png"/><Relationship Id="rIdStroke2" Type="http://schemas.openxmlformats.org/officeDocument/2006/relationships/image" Target="../media/image1.png"/><Relationship Id="rIdStroke3" Type="http://schemas.openxmlformats.org/officeDocument/2006/relationships/image" Target="../media/image16.png"/><Relationship Id="rIdStroke4" Type="http://schemas.openxmlformats.org/officeDocument/2006/relationships/image" Target="../media/image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example-sa-stroke.png"/><Relationship Id="rIdStroke1" Type="http://schemas.openxmlformats.org/officeDocument/2006/relationships/image" Target="../media/example-shi-stroke.png"/><Relationship Id="rIdStroke2" Type="http://schemas.openxmlformats.org/officeDocument/2006/relationships/image" Target="../media/example-su-stroke.png"/><Relationship Id="rIdStroke3" Type="http://schemas.openxmlformats.org/officeDocument/2006/relationships/image" Target="../media/example-se-stroke.png"/><Relationship Id="rIdStroke4" Type="http://schemas.openxmlformats.org/officeDocument/2006/relationships/image" Target="../media/example-so-stroke.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basic-ta-stroke.png"/><Relationship Id="rIdStroke1" Type="http://schemas.openxmlformats.org/officeDocument/2006/relationships/image" Target="../media/basic-chi-stroke.png"/><Relationship Id="rIdStroke2" Type="http://schemas.openxmlformats.org/officeDocument/2006/relationships/image" Target="../media/basic-tsu-stroke.png"/><Relationship Id="rIdStroke3" Type="http://schemas.openxmlformats.org/officeDocument/2006/relationships/image" Target="../media/basic-te-stroke.png"/><Relationship Id="rIdStroke4" Type="http://schemas.openxmlformats.org/officeDocument/2006/relationships/image" Target="../media/basic-to-stroke.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basic-na-stroke.png"/><Relationship Id="rIdStroke1" Type="http://schemas.openxmlformats.org/officeDocument/2006/relationships/image" Target="../media/basic-ni-stroke.png"/><Relationship Id="rIdStroke2" Type="http://schemas.openxmlformats.org/officeDocument/2006/relationships/image" Target="../media/basic-nu-stroke.png"/><Relationship Id="rIdStroke3" Type="http://schemas.openxmlformats.org/officeDocument/2006/relationships/image" Target="../media/basic-ne-stroke.png"/><Relationship Id="rIdStroke4" Type="http://schemas.openxmlformats.org/officeDocument/2006/relationships/image" Target="../media/basic-no-stroke.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basic-ha-stroke.png"/><Relationship Id="rIdStroke1" Type="http://schemas.openxmlformats.org/officeDocument/2006/relationships/image" Target="../media/basic-hi-stroke.png"/><Relationship Id="rIdStroke2" Type="http://schemas.openxmlformats.org/officeDocument/2006/relationships/image" Target="../media/basic-fu-stroke.png"/><Relationship Id="rIdStroke3" Type="http://schemas.openxmlformats.org/officeDocument/2006/relationships/image" Target="../media/basic-he-stroke.png"/><Relationship Id="rIdStroke4" Type="http://schemas.openxmlformats.org/officeDocument/2006/relationships/image" Target="../media/basic-ho-stroke.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basic-ma-stroke.png"/><Relationship Id="rIdStroke1" Type="http://schemas.openxmlformats.org/officeDocument/2006/relationships/image" Target="../media/basic-mi-stroke.png"/><Relationship Id="rIdStroke2" Type="http://schemas.openxmlformats.org/officeDocument/2006/relationships/image" Target="../media/basic-mu-stroke.png"/><Relationship Id="rIdStroke3" Type="http://schemas.openxmlformats.org/officeDocument/2006/relationships/image" Target="../media/basic-me-stroke.png"/><Relationship Id="rIdStroke4" Type="http://schemas.openxmlformats.org/officeDocument/2006/relationships/image" Target="../media/basic-mo-stroke.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basic-ya-stroke.png"/><Relationship Id="rIdStroke1" Type="http://schemas.openxmlformats.org/officeDocument/2006/relationships/image" Target="../media/basic-yu-stroke.png"/><Relationship Id="rIdStroke2" Type="http://schemas.openxmlformats.org/officeDocument/2006/relationships/image" Target="../media/basic-yo-stroke.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basic-ra-stroke.png"/><Relationship Id="rIdStroke1" Type="http://schemas.openxmlformats.org/officeDocument/2006/relationships/image" Target="../media/basic-ri-stroke.png"/><Relationship Id="rIdStroke2" Type="http://schemas.openxmlformats.org/officeDocument/2006/relationships/image" Target="../media/basic-ru-stroke.png"/><Relationship Id="rIdStroke3" Type="http://schemas.openxmlformats.org/officeDocument/2006/relationships/image" Target="../media/basic-re-stroke.png"/><Relationship Id="rIdStroke4" Type="http://schemas.openxmlformats.org/officeDocument/2006/relationships/image" Target="../media/basic-ro-stroke.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hirag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basic-wa-stroke.png"/><Relationship Id="rIdStroke1" Type="http://schemas.openxmlformats.org/officeDocument/2006/relationships/image" Target="../media/basic-wo-stroke.png"/><Relationship Id="rIdStroke2" Type="http://schemas.openxmlformats.org/officeDocument/2006/relationships/image" Target="../media/basic-n-stroke.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Notes"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Notes" Type="http://schemas.openxmlformats.org/officeDocument/2006/relationships/notesSlide" Target="../notesSlides/notesSlide97.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Hiragana Togethe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52450" y="428625"/>
            <a:ext cx="8039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000" b="1">
                <ns0:solidFill>
                  <ns0:srgbClr val="595959"/>
                </ns0:solidFill>
                <ns0:latin typeface="Arial"/>
              </ns0:rPr>
              <ns0:t>Open Source
Hiragana Workbook</ns0:t>
            </ns0:r>
          </ns0:p>
        </p:txBody>
      </p:sp>
      <p:sp>
        <p:nvSpPr>
          <p:cNvPr id="2" name="A free, openly licensed workbook&#10;for learners and study group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2000250"/>
            <a:ext cx="790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rPr>
              <ns0:t>A free, openly licensed resource for individual learners,
study groups, and classrooms.</ns0:t>
            </ns0:r>
          </ns0:p>
        </p:txBody>
      </p:sp>
      <p:sp>
        <p:nvSpPr>
          <p:cNvPr id="3" name="Created by Soreasan / ソレアサン">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309562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ea typeface="Noto Sans CJK JP"/>
              </ns0:rPr>
              <ns0:t>Created by Soreasan / ソレアサン</ns0:t>
            </ns0:r>
          </ns0:p>
        </p:txBody>
      </p:sp>
      <p:sp>
        <p:nvSpPr>
          <p:cNvPr id="6" name="Sharing permissions and license detai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3857625"/>
            <a:ext cx="7905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rPr>
              <ns0:t>You’re welcome to edit, share, and reupload it
under the included license terms.
See slide 90, “Sharing and Adapting This Workbook,” for details.</ns0:t>
            </ns0:r>
          </ns0:p>
        </p:txBody>
      </p:sp>
    </p:spTree>
    <p:extLst>
      <p:ext uri="{BB962C8B-B14F-4D97-AF65-F5344CB8AC3E}">
        <p14:creationId xmlns:p14="http://schemas.microsoft.com/office/powerpoint/2010/main" val="1935321925"/>
      </p:ext>
    </p:extLst>
  </p:cSld>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Hiragana</a:t>
            </a:r>
            <a:endParaRPr/>
          </a:p>
        </p:txBody>
      </p:sp>
      <p:graphicFrame>
        <p:nvGraphicFramePr>
          <p:cNvPr id="61" name="Google Shape;61;p14"/>
          <p:cNvGraphicFramePr/>
          <p:nvPr/>
        </p:nvGraphicFramePr>
        <p:xfrm>
          <a:off x="311700" y="1017725"/>
          <a:ext cx="3000000" cy="3000000"/>
        </p:xfrm>
        <a:graphic>
          <a:graphicData uri="http://schemas.openxmlformats.org/drawingml/2006/table">
            <a:tbl>
              <a:tblPr>
                <a:noFill/>
                <a:tableStyleId>{41CD3A5F-9F3C-4428-9CE2-51912DDEF8F0}</a:tableStyleId>
              </a:tblPr>
              <a:tblGrid>
                <a:gridCol w="1704125"/>
                <a:gridCol w="1704125"/>
                <a:gridCol w="1704125"/>
                <a:gridCol w="1704125"/>
                <a:gridCol w="1704125"/>
              </a:tblGrid>
              <a:tr h="950300">
                <a:tc>
                  <a:txBody>
                    <a:bodyPr/>
                    <a:lstStyle/>
                    <a:p>
                      <a:pPr indent="0" lvl="0" marL="0" rtl="0" algn="ctr">
                        <a:spcBef>
                          <a:spcPts val="0"/>
                        </a:spcBef>
                        <a:spcAft>
                          <a:spcPts val="0"/>
                        </a:spcAft>
                        <a:buNone/>
                      </a:pPr>
                      <a:r>
                        <a:rPr lang="en" sz="5000"/>
                        <a:t>あ</a:t>
                      </a:r>
                      <a:endParaRPr sz="5000"/>
                    </a:p>
                  </a:txBody>
                  <a:tcPr marT="91425" marB="91425" marR="91425" marL="91425"/>
                </a:tc>
                <a:tc>
                  <a:txBody>
                    <a:bodyPr/>
                    <a:lstStyle/>
                    <a:p>
                      <a:pPr indent="0" lvl="0" marL="0" rtl="0" algn="ctr">
                        <a:spcBef>
                          <a:spcPts val="0"/>
                        </a:spcBef>
                        <a:spcAft>
                          <a:spcPts val="0"/>
                        </a:spcAft>
                        <a:buNone/>
                      </a:pPr>
                      <a:r>
                        <a:rPr lang="en" sz="5000"/>
                        <a:t>い </a:t>
                      </a:r>
                      <a:endParaRPr sz="5000"/>
                    </a:p>
                  </a:txBody>
                  <a:tcPr marT="91425" marB="91425" marR="91425" marL="91425"/>
                </a:tc>
                <a:tc>
                  <a:txBody>
                    <a:bodyPr/>
                    <a:lstStyle/>
                    <a:p>
                      <a:pPr indent="0" lvl="0" marL="0" rtl="0" algn="ctr">
                        <a:spcBef>
                          <a:spcPts val="0"/>
                        </a:spcBef>
                        <a:spcAft>
                          <a:spcPts val="0"/>
                        </a:spcAft>
                        <a:buNone/>
                      </a:pPr>
                      <a:r>
                        <a:rPr lang="en" sz="5000"/>
                        <a:t>う</a:t>
                      </a:r>
                      <a:endParaRPr sz="5000"/>
                    </a:p>
                  </a:txBody>
                  <a:tcPr marT="91425" marB="91425" marR="91425" marL="91425"/>
                </a:tc>
                <a:tc>
                  <a:txBody>
                    <a:bodyPr/>
                    <a:lstStyle/>
                    <a:p>
                      <a:pPr indent="0" lvl="0" marL="0" rtl="0" algn="ctr">
                        <a:spcBef>
                          <a:spcPts val="0"/>
                        </a:spcBef>
                        <a:spcAft>
                          <a:spcPts val="0"/>
                        </a:spcAft>
                        <a:buNone/>
                      </a:pPr>
                      <a:r>
                        <a:rPr lang="en" sz="5000"/>
                        <a:t>え</a:t>
                      </a:r>
                      <a:endParaRPr sz="5000"/>
                    </a:p>
                  </a:txBody>
                  <a:tcPr marT="91425" marB="91425" marR="91425" marL="91425"/>
                </a:tc>
                <a:tc>
                  <a:txBody>
                    <a:bodyPr/>
                    <a:lstStyle/>
                    <a:p>
                      <a:pPr indent="0" lvl="0" marL="0" rtl="0" algn="ctr">
                        <a:spcBef>
                          <a:spcPts val="0"/>
                        </a:spcBef>
                        <a:spcAft>
                          <a:spcPts val="0"/>
                        </a:spcAft>
                        <a:buNone/>
                      </a:pPr>
                      <a:r>
                        <a:rPr lang="en" sz="5000"/>
                        <a:t>お </a:t>
                      </a:r>
                      <a:endParaRPr sz="5000"/>
                    </a:p>
                  </a:txBody>
                  <a:tcPr marT="91425" marB="91425" marR="91425" marL="91425"/>
                </a:tc>
              </a:tr>
              <a:tr h="950300">
                <a:tc>
                  <a:txBody>
                    <a:bodyPr/>
                    <a:lstStyle/>
                    <a:p>
                      <a:pPr indent="0" lvl="0" marL="0" rtl="0" algn="ctr">
                        <a:spcBef>
                          <a:spcPts val="0"/>
                        </a:spcBef>
                        <a:spcAft>
                          <a:spcPts val="0"/>
                        </a:spcAft>
                        <a:buNone/>
                      </a:pPr>
                      <a:r>
                        <a:rPr lang="en" sz="5000"/>
                        <a:t>A</a:t>
                      </a:r>
                      <a:endParaRPr sz="5000"/>
                    </a:p>
                  </a:txBody>
                  <a:tcPr marT="91425" marB="91425" marR="91425" marL="91425"/>
                </a:tc>
                <a:tc>
                  <a:txBody>
                    <a:bodyPr/>
                    <a:lstStyle/>
                    <a:p>
                      <a:pPr indent="0" lvl="0" marL="0" rtl="0" algn="ctr">
                        <a:spcBef>
                          <a:spcPts val="0"/>
                        </a:spcBef>
                        <a:spcAft>
                          <a:spcPts val="0"/>
                        </a:spcAft>
                        <a:buNone/>
                      </a:pPr>
                      <a:r>
                        <a:rPr lang="en" sz="5000"/>
                        <a:t>I</a:t>
                      </a:r>
                      <a:endParaRPr sz="5000"/>
                    </a:p>
                  </a:txBody>
                  <a:tcPr marT="91425" marB="91425" marR="91425" marL="91425"/>
                </a:tc>
                <a:tc>
                  <a:txBody>
                    <a:bodyPr/>
                    <a:lstStyle/>
                    <a:p>
                      <a:pPr indent="0" lvl="0" marL="0" rtl="0" algn="ctr">
                        <a:spcBef>
                          <a:spcPts val="0"/>
                        </a:spcBef>
                        <a:spcAft>
                          <a:spcPts val="0"/>
                        </a:spcAft>
                        <a:buNone/>
                      </a:pPr>
                      <a:r>
                        <a:rPr lang="en" sz="5000"/>
                        <a:t>U</a:t>
                      </a:r>
                      <a:endParaRPr sz="5000"/>
                    </a:p>
                  </a:txBody>
                  <a:tcPr marT="91425" marB="91425" marR="91425" marL="91425"/>
                </a:tc>
                <a:tc>
                  <a:txBody>
                    <a:bodyPr/>
                    <a:lstStyle/>
                    <a:p>
                      <a:pPr indent="0" lvl="0" marL="0" rtl="0" algn="ctr">
                        <a:spcBef>
                          <a:spcPts val="0"/>
                        </a:spcBef>
                        <a:spcAft>
                          <a:spcPts val="0"/>
                        </a:spcAft>
                        <a:buNone/>
                      </a:pPr>
                      <a:r>
                        <a:rPr lang="en" sz="5000"/>
                        <a:t>E</a:t>
                      </a:r>
                      <a:endParaRPr sz="5000"/>
                    </a:p>
                  </a:txBody>
                  <a:tcPr marT="91425" marB="91425" marR="91425" marL="91425"/>
                </a:tc>
                <a:tc>
                  <a:txBody>
                    <a:bodyPr/>
                    <a:lstStyle/>
                    <a:p>
                      <a:pPr indent="0" lvl="0" marL="0" rtl="0" algn="ctr">
                        <a:spcBef>
                          <a:spcPts val="0"/>
                        </a:spcBef>
                        <a:spcAft>
                          <a:spcPts val="0"/>
                        </a:spcAft>
                        <a:buNone/>
                      </a:pPr>
                      <a:r>
                        <a:rPr lang="en" sz="5000"/>
                        <a:t>O</a:t>
                      </a:r>
                      <a:endParaRPr sz="5000"/>
                    </a:p>
                  </a:txBody>
                  <a:tcPr marT="91425" marB="91425" marR="91425" marL="91425"/>
                </a:tc>
              </a:tr>
              <a:tr h="950300">
                <a:tc>
                  <a:txBody>
                    <a:bodyPr/>
                    <a:lstStyle/>
                    <a:p>
                      <a:pPr indent="0" lvl="0" marL="0" rtl="0" algn="ctr">
                        <a:spcBef>
                          <a:spcPts val="0"/>
                        </a:spcBef>
                        <a:spcAft>
                          <a:spcPts val="0"/>
                        </a:spcAft>
                        <a:buNone/>
                      </a:pPr>
                      <a:r>
                        <a:rPr lang="en" sz="5000"/>
                        <a:t>か</a:t>
                      </a:r>
                      <a:endParaRPr sz="5000"/>
                    </a:p>
                  </a:txBody>
                  <a:tcPr marT="91425" marB="91425" marR="91425" marL="91425"/>
                </a:tc>
                <a:tc>
                  <a:txBody>
                    <a:bodyPr/>
                    <a:lstStyle/>
                    <a:p>
                      <a:pPr indent="0" lvl="0" marL="0" rtl="0" algn="ctr">
                        <a:spcBef>
                          <a:spcPts val="0"/>
                        </a:spcBef>
                        <a:spcAft>
                          <a:spcPts val="0"/>
                        </a:spcAft>
                        <a:buNone/>
                      </a:pPr>
                      <a:r>
                        <a:rPr lang="en" sz="5000"/>
                        <a:t>き</a:t>
                      </a:r>
                      <a:endParaRPr sz="5000"/>
                    </a:p>
                  </a:txBody>
                  <a:tcPr marT="91425" marB="91425" marR="91425" marL="91425"/>
                </a:tc>
                <a:tc>
                  <a:txBody>
                    <a:bodyPr/>
                    <a:lstStyle/>
                    <a:p>
                      <a:pPr indent="0" lvl="0" marL="0" rtl="0" algn="ctr">
                        <a:spcBef>
                          <a:spcPts val="0"/>
                        </a:spcBef>
                        <a:spcAft>
                          <a:spcPts val="0"/>
                        </a:spcAft>
                        <a:buNone/>
                      </a:pPr>
                      <a:r>
                        <a:rPr lang="en" sz="5000"/>
                        <a:t>く</a:t>
                      </a:r>
                      <a:endParaRPr sz="5000"/>
                    </a:p>
                  </a:txBody>
                  <a:tcPr marT="91425" marB="91425" marR="91425" marL="91425"/>
                </a:tc>
                <a:tc>
                  <a:txBody>
                    <a:bodyPr/>
                    <a:lstStyle/>
                    <a:p>
                      <a:pPr indent="0" lvl="0" marL="0" rtl="0" algn="ctr">
                        <a:spcBef>
                          <a:spcPts val="0"/>
                        </a:spcBef>
                        <a:spcAft>
                          <a:spcPts val="0"/>
                        </a:spcAft>
                        <a:buNone/>
                      </a:pPr>
                      <a:r>
                        <a:rPr lang="en" sz="5000"/>
                        <a:t>け</a:t>
                      </a:r>
                      <a:endParaRPr sz="5000"/>
                    </a:p>
                  </a:txBody>
                  <a:tcPr marT="91425" marB="91425" marR="91425" marL="91425"/>
                </a:tc>
                <a:tc>
                  <a:txBody>
                    <a:bodyPr/>
                    <a:lstStyle/>
                    <a:p>
                      <a:pPr indent="0" lvl="0" marL="0" rtl="0" algn="ctr">
                        <a:spcBef>
                          <a:spcPts val="0"/>
                        </a:spcBef>
                        <a:spcAft>
                          <a:spcPts val="0"/>
                        </a:spcAft>
                        <a:buNone/>
                      </a:pPr>
                      <a:r>
                        <a:rPr lang="en" sz="5000"/>
                        <a:t>こ</a:t>
                      </a:r>
                      <a:endParaRPr sz="5000"/>
                    </a:p>
                  </a:txBody>
                  <a:tcPr marT="91425" marB="91425" marR="91425" marL="91425"/>
                </a:tc>
              </a:tr>
              <a:tr h="950300">
                <a:tc>
                  <a:txBody>
                    <a:bodyPr/>
                    <a:lstStyle/>
                    <a:p>
                      <a:pPr indent="0" lvl="0" marL="0" rtl="0" algn="ctr">
                        <a:spcBef>
                          <a:spcPts val="0"/>
                        </a:spcBef>
                        <a:spcAft>
                          <a:spcPts val="0"/>
                        </a:spcAft>
                        <a:buNone/>
                      </a:pPr>
                      <a:r>
                        <a:rPr lang="en" sz="5000"/>
                        <a:t>KA</a:t>
                      </a:r>
                      <a:endParaRPr sz="5000"/>
                    </a:p>
                  </a:txBody>
                  <a:tcPr marT="91425" marB="91425" marR="91425" marL="91425"/>
                </a:tc>
                <a:tc>
                  <a:txBody>
                    <a:bodyPr/>
                    <a:lstStyle/>
                    <a:p>
                      <a:pPr indent="0" lvl="0" marL="0" rtl="0" algn="ctr">
                        <a:spcBef>
                          <a:spcPts val="0"/>
                        </a:spcBef>
                        <a:spcAft>
                          <a:spcPts val="0"/>
                        </a:spcAft>
                        <a:buNone/>
                      </a:pPr>
                      <a:r>
                        <a:rPr lang="en" sz="5000"/>
                        <a:t>KI</a:t>
                      </a:r>
                      <a:endParaRPr sz="5000"/>
                    </a:p>
                  </a:txBody>
                  <a:tcPr marT="91425" marB="91425" marR="91425" marL="91425"/>
                </a:tc>
                <a:tc>
                  <a:txBody>
                    <a:bodyPr/>
                    <a:lstStyle/>
                    <a:p>
                      <a:pPr indent="0" lvl="0" marL="0" rtl="0" algn="ctr">
                        <a:spcBef>
                          <a:spcPts val="0"/>
                        </a:spcBef>
                        <a:spcAft>
                          <a:spcPts val="0"/>
                        </a:spcAft>
                        <a:buNone/>
                      </a:pPr>
                      <a:r>
                        <a:rPr lang="en" sz="5000"/>
                        <a:t>KU</a:t>
                      </a:r>
                      <a:endParaRPr sz="5000"/>
                    </a:p>
                  </a:txBody>
                  <a:tcPr marT="91425" marB="91425" marR="91425" marL="91425"/>
                </a:tc>
                <a:tc>
                  <a:txBody>
                    <a:bodyPr/>
                    <a:lstStyle/>
                    <a:p>
                      <a:pPr indent="0" lvl="0" marL="0" rtl="0" algn="ctr">
                        <a:spcBef>
                          <a:spcPts val="0"/>
                        </a:spcBef>
                        <a:spcAft>
                          <a:spcPts val="0"/>
                        </a:spcAft>
                        <a:buNone/>
                      </a:pPr>
                      <a:r>
                        <a:rPr lang="en" sz="5000"/>
                        <a:t>KE</a:t>
                      </a:r>
                      <a:endParaRPr sz="5000"/>
                    </a:p>
                  </a:txBody>
                  <a:tcPr marT="91425" marB="91425" marR="91425" marL="91425"/>
                </a:tc>
                <a:tc>
                  <a:txBody>
                    <a:bodyPr/>
                    <a:lstStyle/>
                    <a:p>
                      <a:pPr indent="0" lvl="0" marL="0" rtl="0" algn="ctr">
                        <a:spcBef>
                          <a:spcPts val="0"/>
                        </a:spcBef>
                        <a:spcAft>
                          <a:spcPts val="0"/>
                        </a:spcAft>
                        <a:buNone/>
                      </a:pPr>
                      <a:r>
                        <a:rPr lang="en" sz="5000"/>
                        <a:t>KO</a:t>
                      </a:r>
                      <a:endParaRPr sz="5000"/>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あ</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a - as in “father”</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a</a:t>
            </a:r>
            <a:endParaRPr sz="2600">
              <a:solidFill>
                <a:schemeClr val="dk1"/>
              </a:solidFill>
            </a:endParaRPr>
          </a:p>
        </p:txBody>
      </p:sp>
      <p:pic>
        <p:nvPicPr>
          <p:cNvPr id="67" name="Google Shape;67;p15"/>
          <p:cNvPicPr preferRelativeResize="0"/>
          <p:nvPr/>
        </p:nvPicPr>
        <p:blipFill>
          <a:blip r:embed="rId3">
            <a:alphaModFix/>
          </a:blip>
          <a:stretch>
            <a:fillRect/>
          </a:stretch>
        </p:blipFill>
        <p:spPr>
          <a:xfrm>
            <a:off x="3545825" y="1196226"/>
            <a:ext cx="2052325" cy="2751025"/>
          </a:xfrm>
          <a:prstGeom prst="rect">
            <a:avLst/>
          </a:prstGeom>
          <a:noFill/>
          <a:ln>
            <a:noFill/>
          </a:ln>
        </p:spPr>
      </p:pic>
      <p:sp>
        <p:nvSpPr>
          <p:cNvPr id="68" name="Google Shape;68;p15"/>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4"/>
              </a:rPr>
              <a:t>Japanese Kana Mnemonic Chart</a:t>
            </a:r>
            <a:r>
              <a:rPr lang="en" sz="1200">
                <a:solidFill>
                  <a:schemeClr val="dk1"/>
                </a:solidFill>
              </a:rPr>
              <a:t> — </a:t>
            </a:r>
            <a:r>
              <a:rPr lang="en" sz="1200" u="sng">
                <a:solidFill>
                  <a:schemeClr val="hlink"/>
                </a:solidFill>
                <a:hlinkClick r:id="rId5"/>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6"/>
              </a:rPr>
              <a:t>Table hiragana.svg</a:t>
            </a:r>
            <a:r>
              <a:rPr lang="en" sz="1200">
                <a:solidFill>
                  <a:schemeClr val="dk1"/>
                </a:solidFill>
              </a:rPr>
              <a:t> — </a:t>
            </a:r>
            <a:r>
              <a:rPr lang="en" sz="1200" u="sng">
                <a:solidFill>
                  <a:schemeClr val="hlink"/>
                </a:solidFill>
                <a:hlinkClick r:id="rId7"/>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pic>
        <p:nvPicPr>
          <p:cNvPr id="69" name="Google Shape;69;p15"/>
          <p:cNvPicPr preferRelativeResize="0"/>
          <p:nvPr/>
        </p:nvPicPr>
        <p:blipFill>
          <a:blip r:embed="rId8">
            <a:alphaModFix/>
          </a:blip>
          <a:stretch>
            <a:fillRect/>
          </a:stretch>
        </p:blipFill>
        <p:spPr>
          <a:xfrm>
            <a:off x="5811875" y="1385613"/>
            <a:ext cx="3184825" cy="2224325"/>
          </a:xfrm>
          <a:prstGeom prst="rect">
            <a:avLst/>
          </a:prstGeom>
          <a:noFill/>
          <a:ln>
            <a:noFill/>
          </a:ln>
        </p:spPr>
      </p:pic>
      <p:sp>
        <p:nvSpPr>
          <p:cNvPr id="70" name="Google Shape;70;p15"/>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71" name="Google Shape;71;p15"/>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A</a:t>
            </a:r>
            <a:r>
              <a:rPr b="0" lang="en" sz="2000">
                <a:solidFill>
                  <a:schemeClr val="dk2"/>
                </a:solidFill>
              </a:rPr>
              <a:t>ttention!</a:t>
            </a:r>
            <a:endParaRPr sz="20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い</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i - as in “machine”</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i</a:t>
            </a:r>
            <a:endParaRPr sz="2600">
              <a:solidFill>
                <a:schemeClr val="dk1"/>
              </a:solidFill>
            </a:endParaRPr>
          </a:p>
        </p:txBody>
      </p:sp>
      <p:sp>
        <p:nvSpPr>
          <p:cNvPr id="77" name="Google Shape;77;p16"/>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78" name="Google Shape;78;p16"/>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79" name="Google Shape;79;p16"/>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Ea</a:t>
            </a:r>
            <a:r>
              <a:rPr b="0" lang="en" sz="2000">
                <a:solidFill>
                  <a:schemeClr val="dk2"/>
                </a:solidFill>
              </a:rPr>
              <a:t>ster egg</a:t>
            </a:r>
            <a:endParaRPr sz="2000">
              <a:solidFill>
                <a:schemeClr val="dk2"/>
              </a:solidFill>
            </a:endParaRPr>
          </a:p>
        </p:txBody>
      </p:sp>
      <p:pic>
        <p:nvPicPr>
          <p:cNvPr id="80" name="Google Shape;80;p16"/>
          <p:cNvPicPr preferRelativeResize="0"/>
          <p:nvPr/>
        </p:nvPicPr>
        <p:blipFill>
          <a:blip r:embed="rId7">
            <a:alphaModFix/>
          </a:blip>
          <a:stretch>
            <a:fillRect/>
          </a:stretch>
        </p:blipFill>
        <p:spPr>
          <a:xfrm>
            <a:off x="3383400" y="1096475"/>
            <a:ext cx="2168875" cy="3289471"/>
          </a:xfrm>
          <a:prstGeom prst="rect">
            <a:avLst/>
          </a:prstGeom>
          <a:noFill/>
          <a:ln>
            <a:noFill/>
          </a:ln>
        </p:spPr>
      </p:pic>
      <p:pic>
        <p:nvPicPr>
          <p:cNvPr id="81" name="Google Shape;81;p16"/>
          <p:cNvPicPr preferRelativeResize="0"/>
          <p:nvPr/>
        </p:nvPicPr>
        <p:blipFill>
          <a:blip r:embed="rId8">
            <a:alphaModFix/>
          </a:blip>
          <a:stretch>
            <a:fillRect/>
          </a:stretch>
        </p:blipFill>
        <p:spPr>
          <a:xfrm>
            <a:off x="5700450" y="1441388"/>
            <a:ext cx="3389175" cy="244135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う</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u - as in “oo” in “food”</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u</a:t>
            </a:r>
            <a:endParaRPr sz="2600">
              <a:solidFill>
                <a:schemeClr val="dk1"/>
              </a:solidFill>
            </a:endParaRPr>
          </a:p>
        </p:txBody>
      </p:sp>
      <p:sp>
        <p:nvSpPr>
          <p:cNvPr id="87" name="Google Shape;87;p17"/>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88" name="Google Shape;88;p17"/>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89" name="Google Shape;89;p17"/>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U</a:t>
            </a:r>
            <a:r>
              <a:rPr b="0" lang="en" sz="2000">
                <a:solidFill>
                  <a:schemeClr val="dk2"/>
                </a:solidFill>
              </a:rPr>
              <a:t>kulele</a:t>
            </a:r>
            <a:endParaRPr sz="2000">
              <a:solidFill>
                <a:schemeClr val="dk2"/>
              </a:solidFill>
            </a:endParaRPr>
          </a:p>
        </p:txBody>
      </p:sp>
      <p:pic>
        <p:nvPicPr>
          <p:cNvPr id="90" name="Google Shape;90;p17"/>
          <p:cNvPicPr preferRelativeResize="0"/>
          <p:nvPr/>
        </p:nvPicPr>
        <p:blipFill>
          <a:blip r:embed="rId7">
            <a:alphaModFix/>
          </a:blip>
          <a:stretch>
            <a:fillRect/>
          </a:stretch>
        </p:blipFill>
        <p:spPr>
          <a:xfrm>
            <a:off x="3429275" y="1077825"/>
            <a:ext cx="2173150" cy="3168486"/>
          </a:xfrm>
          <a:prstGeom prst="rect">
            <a:avLst/>
          </a:prstGeom>
          <a:noFill/>
          <a:ln>
            <a:noFill/>
          </a:ln>
        </p:spPr>
      </p:pic>
      <p:pic>
        <p:nvPicPr>
          <p:cNvPr id="91" name="Google Shape;91;p17"/>
          <p:cNvPicPr preferRelativeResize="0"/>
          <p:nvPr/>
        </p:nvPicPr>
        <p:blipFill>
          <a:blip r:embed="rId8">
            <a:alphaModFix/>
          </a:blip>
          <a:stretch>
            <a:fillRect/>
          </a:stretch>
        </p:blipFill>
        <p:spPr>
          <a:xfrm>
            <a:off x="6665302" y="1385625"/>
            <a:ext cx="1872798" cy="2548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え</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e</a:t>
            </a:r>
            <a:r>
              <a:rPr lang="en" sz="2600">
                <a:solidFill>
                  <a:schemeClr val="dk1"/>
                </a:solidFill>
              </a:rPr>
              <a:t> - as in “met”</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e</a:t>
            </a:r>
            <a:endParaRPr sz="2600">
              <a:solidFill>
                <a:schemeClr val="dk1"/>
              </a:solidFill>
            </a:endParaRPr>
          </a:p>
        </p:txBody>
      </p:sp>
      <p:sp>
        <p:nvSpPr>
          <p:cNvPr id="97" name="Google Shape;97;p18"/>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98" name="Google Shape;98;p18"/>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99" name="Google Shape;99;p18"/>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E</a:t>
            </a:r>
            <a:r>
              <a:rPr b="0" lang="en" sz="2000">
                <a:solidFill>
                  <a:schemeClr val="dk2"/>
                </a:solidFill>
              </a:rPr>
              <a:t>dge of the cliff</a:t>
            </a:r>
            <a:endParaRPr sz="2000">
              <a:solidFill>
                <a:schemeClr val="dk2"/>
              </a:solidFill>
            </a:endParaRPr>
          </a:p>
        </p:txBody>
      </p:sp>
      <p:pic>
        <p:nvPicPr>
          <p:cNvPr id="100" name="Google Shape;100;p18"/>
          <p:cNvPicPr preferRelativeResize="0"/>
          <p:nvPr/>
        </p:nvPicPr>
        <p:blipFill>
          <a:blip r:embed="rId7">
            <a:alphaModFix/>
          </a:blip>
          <a:stretch>
            <a:fillRect/>
          </a:stretch>
        </p:blipFill>
        <p:spPr>
          <a:xfrm>
            <a:off x="3429275" y="1061363"/>
            <a:ext cx="2063350" cy="2872818"/>
          </a:xfrm>
          <a:prstGeom prst="rect">
            <a:avLst/>
          </a:prstGeom>
          <a:noFill/>
          <a:ln>
            <a:noFill/>
          </a:ln>
        </p:spPr>
      </p:pic>
      <p:pic>
        <p:nvPicPr>
          <p:cNvPr id="101" name="Google Shape;101;p18"/>
          <p:cNvPicPr preferRelativeResize="0"/>
          <p:nvPr/>
        </p:nvPicPr>
        <p:blipFill>
          <a:blip r:embed="rId8">
            <a:alphaModFix/>
          </a:blip>
          <a:stretch>
            <a:fillRect/>
          </a:stretch>
        </p:blipFill>
        <p:spPr>
          <a:xfrm>
            <a:off x="6869363" y="1346775"/>
            <a:ext cx="1380174" cy="2937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お</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o</a:t>
            </a:r>
            <a:r>
              <a:rPr lang="en" sz="2600">
                <a:solidFill>
                  <a:schemeClr val="dk1"/>
                </a:solidFill>
              </a:rPr>
              <a:t> - as in “go”</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o</a:t>
            </a:r>
            <a:endParaRPr sz="2600">
              <a:solidFill>
                <a:schemeClr val="dk1"/>
              </a:solidFill>
            </a:endParaRPr>
          </a:p>
        </p:txBody>
      </p:sp>
      <p:sp>
        <p:nvSpPr>
          <p:cNvPr id="107" name="Google Shape;107;p19"/>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08" name="Google Shape;108;p19"/>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09" name="Google Shape;109;p19"/>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Oa</a:t>
            </a:r>
            <a:r>
              <a:rPr b="0" lang="en" sz="2000">
                <a:solidFill>
                  <a:schemeClr val="dk2"/>
                </a:solidFill>
              </a:rPr>
              <a:t>k tree drops a leaf</a:t>
            </a:r>
            <a:endParaRPr sz="2000">
              <a:solidFill>
                <a:schemeClr val="dk2"/>
              </a:solidFill>
            </a:endParaRPr>
          </a:p>
        </p:txBody>
      </p:sp>
      <p:pic>
        <p:nvPicPr>
          <p:cNvPr id="110" name="Google Shape;110;p19"/>
          <p:cNvPicPr preferRelativeResize="0"/>
          <p:nvPr/>
        </p:nvPicPr>
        <p:blipFill>
          <a:blip r:embed="rId7">
            <a:alphaModFix/>
          </a:blip>
          <a:stretch>
            <a:fillRect/>
          </a:stretch>
        </p:blipFill>
        <p:spPr>
          <a:xfrm>
            <a:off x="3383400" y="1077825"/>
            <a:ext cx="2268438" cy="3245611"/>
          </a:xfrm>
          <a:prstGeom prst="rect">
            <a:avLst/>
          </a:prstGeom>
          <a:noFill/>
          <a:ln>
            <a:noFill/>
          </a:ln>
        </p:spPr>
      </p:pic>
      <p:pic>
        <p:nvPicPr>
          <p:cNvPr id="111" name="Google Shape;111;p19"/>
          <p:cNvPicPr preferRelativeResize="0"/>
          <p:nvPr/>
        </p:nvPicPr>
        <p:blipFill>
          <a:blip r:embed="rId8">
            <a:alphaModFix/>
          </a:blip>
          <a:stretch>
            <a:fillRect/>
          </a:stretch>
        </p:blipFill>
        <p:spPr>
          <a:xfrm>
            <a:off x="5760599" y="1385625"/>
            <a:ext cx="3332100" cy="296500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か</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ka</a:t>
            </a:r>
            <a:r>
              <a:rPr lang="en" sz="2600">
                <a:solidFill>
                  <a:schemeClr val="dk1"/>
                </a:solidFill>
              </a:rPr>
              <a:t> - as in “karma”</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ka</a:t>
            </a:r>
            <a:endParaRPr sz="2600">
              <a:solidFill>
                <a:schemeClr val="dk1"/>
              </a:solidFill>
            </a:endParaRPr>
          </a:p>
        </p:txBody>
      </p:sp>
      <p:sp>
        <p:nvSpPr>
          <p:cNvPr id="117" name="Google Shape;117;p20"/>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18" name="Google Shape;118;p20"/>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19" name="Google Shape;119;p20"/>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Co</a:t>
            </a:r>
            <a:r>
              <a:rPr b="0" lang="en" sz="2000">
                <a:solidFill>
                  <a:schemeClr val="dk2"/>
                </a:solidFill>
              </a:rPr>
              <a:t>d</a:t>
            </a:r>
            <a:endParaRPr sz="2000">
              <a:solidFill>
                <a:schemeClr val="dk2"/>
              </a:solidFill>
            </a:endParaRPr>
          </a:p>
        </p:txBody>
      </p:sp>
      <p:pic>
        <p:nvPicPr>
          <p:cNvPr id="120" name="Google Shape;120;p20"/>
          <p:cNvPicPr preferRelativeResize="0"/>
          <p:nvPr/>
        </p:nvPicPr>
        <p:blipFill>
          <a:blip r:embed="rId7">
            <a:alphaModFix/>
          </a:blip>
          <a:stretch>
            <a:fillRect/>
          </a:stretch>
        </p:blipFill>
        <p:spPr>
          <a:xfrm>
            <a:off x="3383400" y="1077825"/>
            <a:ext cx="2377200" cy="3093611"/>
          </a:xfrm>
          <a:prstGeom prst="rect">
            <a:avLst/>
          </a:prstGeom>
          <a:noFill/>
          <a:ln>
            <a:noFill/>
          </a:ln>
        </p:spPr>
      </p:pic>
      <p:pic>
        <p:nvPicPr>
          <p:cNvPr id="121" name="Google Shape;121;p20"/>
          <p:cNvPicPr preferRelativeResize="0"/>
          <p:nvPr/>
        </p:nvPicPr>
        <p:blipFill>
          <a:blip r:embed="rId8">
            <a:alphaModFix/>
          </a:blip>
          <a:stretch>
            <a:fillRect/>
          </a:stretch>
        </p:blipFill>
        <p:spPr>
          <a:xfrm>
            <a:off x="5818562" y="1502525"/>
            <a:ext cx="3231000" cy="11565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き</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ki - as in “key”</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ki</a:t>
            </a:r>
            <a:endParaRPr sz="2600">
              <a:solidFill>
                <a:schemeClr val="dk1"/>
              </a:solidFill>
            </a:endParaRPr>
          </a:p>
        </p:txBody>
      </p:sp>
      <p:sp>
        <p:nvSpPr>
          <p:cNvPr id="127" name="Google Shape;127;p21"/>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28" name="Google Shape;128;p21"/>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29" name="Google Shape;129;p21"/>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Key</a:t>
            </a:r>
            <a:endParaRPr sz="2000">
              <a:solidFill>
                <a:schemeClr val="dk2"/>
              </a:solidFill>
            </a:endParaRPr>
          </a:p>
        </p:txBody>
      </p:sp>
      <p:pic>
        <p:nvPicPr>
          <p:cNvPr id="130" name="Google Shape;130;p21"/>
          <p:cNvPicPr preferRelativeResize="0"/>
          <p:nvPr/>
        </p:nvPicPr>
        <p:blipFill>
          <a:blip r:embed="rId7">
            <a:alphaModFix/>
          </a:blip>
          <a:stretch>
            <a:fillRect/>
          </a:stretch>
        </p:blipFill>
        <p:spPr>
          <a:xfrm>
            <a:off x="3351600" y="1077825"/>
            <a:ext cx="2331325" cy="3215612"/>
          </a:xfrm>
          <a:prstGeom prst="rect">
            <a:avLst/>
          </a:prstGeom>
          <a:noFill/>
          <a:ln>
            <a:noFill/>
          </a:ln>
        </p:spPr>
      </p:pic>
      <p:pic>
        <p:nvPicPr>
          <p:cNvPr id="131" name="Google Shape;131;p21"/>
          <p:cNvPicPr preferRelativeResize="0"/>
          <p:nvPr/>
        </p:nvPicPr>
        <p:blipFill>
          <a:blip r:embed="rId8">
            <a:alphaModFix/>
          </a:blip>
          <a:stretch>
            <a:fillRect/>
          </a:stretch>
        </p:blipFill>
        <p:spPr>
          <a:xfrm>
            <a:off x="6682141" y="1385625"/>
            <a:ext cx="1839121" cy="2907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く</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ku</a:t>
            </a:r>
            <a:r>
              <a:rPr lang="en" sz="2600">
                <a:solidFill>
                  <a:schemeClr val="dk1"/>
                </a:solidFill>
              </a:rPr>
              <a:t> - as in “coo”</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ku</a:t>
            </a:r>
            <a:endParaRPr sz="2600">
              <a:solidFill>
                <a:schemeClr val="dk1"/>
              </a:solidFill>
            </a:endParaRPr>
          </a:p>
        </p:txBody>
      </p:sp>
      <p:sp>
        <p:nvSpPr>
          <p:cNvPr id="137" name="Google Shape;137;p22"/>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and cleaned from the original works </a:t>
            </a:r>
            <a:endParaRPr sz="1200"/>
          </a:p>
        </p:txBody>
      </p:sp>
      <p:sp>
        <p:nvSpPr>
          <p:cNvPr id="138" name="Google Shape;138;p22"/>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39" name="Google Shape;139;p22"/>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Cuckoo</a:t>
            </a:r>
            <a:r>
              <a:rPr b="0" lang="en" sz="2000">
                <a:solidFill>
                  <a:schemeClr val="dk2"/>
                </a:solidFill>
              </a:rPr>
              <a:t> bird</a:t>
            </a:r>
            <a:endParaRPr sz="2000">
              <a:solidFill>
                <a:schemeClr val="dk2"/>
              </a:solidFill>
            </a:endParaRPr>
          </a:p>
        </p:txBody>
      </p:sp>
      <p:pic>
        <p:nvPicPr>
          <p:cNvPr id="140" name="Google Shape;140;p22"/>
          <p:cNvPicPr preferRelativeResize="0"/>
          <p:nvPr/>
        </p:nvPicPr>
        <p:blipFill>
          <a:blip r:embed="rId7">
            <a:alphaModFix/>
          </a:blip>
          <a:stretch>
            <a:fillRect/>
          </a:stretch>
        </p:blipFill>
        <p:spPr>
          <a:xfrm>
            <a:off x="3406338" y="1031650"/>
            <a:ext cx="2331325" cy="3335588"/>
          </a:xfrm>
          <a:prstGeom prst="rect">
            <a:avLst/>
          </a:prstGeom>
          <a:noFill/>
          <a:ln>
            <a:noFill/>
          </a:ln>
        </p:spPr>
      </p:pic>
      <p:pic>
        <p:nvPicPr>
          <p:cNvPr id="141" name="Google Shape;141;p22"/>
          <p:cNvPicPr preferRelativeResize="0"/>
          <p:nvPr/>
        </p:nvPicPr>
        <p:blipFill>
          <a:blip r:embed="rId8">
            <a:alphaModFix/>
          </a:blip>
          <a:stretch>
            <a:fillRect/>
          </a:stretch>
        </p:blipFill>
        <p:spPr>
          <a:xfrm>
            <a:off x="6436039" y="1430825"/>
            <a:ext cx="2331325" cy="279097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け</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ke</a:t>
            </a:r>
            <a:r>
              <a:rPr lang="en" sz="2600">
                <a:solidFill>
                  <a:schemeClr val="dk1"/>
                </a:solidFill>
              </a:rPr>
              <a:t> - as in “kettle”</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ke</a:t>
            </a:r>
            <a:endParaRPr sz="2600">
              <a:solidFill>
                <a:schemeClr val="dk1"/>
              </a:solidFill>
            </a:endParaRPr>
          </a:p>
        </p:txBody>
      </p:sp>
      <p:sp>
        <p:nvSpPr>
          <p:cNvPr id="147" name="Google Shape;147;p23"/>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48" name="Google Shape;148;p23"/>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49" name="Google Shape;149;p23"/>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lang="en" sz="2000" b="1">
                <a:solidFill>
                  <a:schemeClr val="dk2"/>
                </a:solidFill>
              </a:rPr>
              <a:t>Ke</a:t>
            </a:r>
            <a:r>
              <a:rPr lang="en" sz="2000" b="0">
                <a:solidFill>
                  <a:schemeClr val="dk2"/>
                </a:solidFill>
              </a:rPr>
              <a:t>tchup bottle</a:t>
            </a:r>
            <a:endParaRPr sz="2000">
              <a:solidFill>
                <a:schemeClr val="dk2"/>
              </a:solidFill>
            </a:endParaRPr>
          </a:p>
        </p:txBody>
      </p:sp>
      <p:pic>
        <p:nvPicPr>
          <p:cNvPr id="150" name="Google Shape;150;p23"/>
          <p:cNvPicPr preferRelativeResize="0"/>
          <p:nvPr/>
        </p:nvPicPr>
        <p:blipFill>
          <a:blip r:embed="rId7">
            <a:alphaModFix/>
          </a:blip>
          <a:stretch>
            <a:fillRect/>
          </a:stretch>
        </p:blipFill>
        <p:spPr>
          <a:xfrm>
            <a:off x="3383400" y="1058226"/>
            <a:ext cx="2377200" cy="3346362"/>
          </a:xfrm>
          <a:prstGeom prst="rect">
            <a:avLst/>
          </a:prstGeom>
          <a:noFill/>
          <a:ln>
            <a:noFill/>
          </a:ln>
        </p:spPr>
      </p:pic>
      <p:pic>
        <p:nvPicPr>
          <p:cNvPr id="151" name="Google Shape;151;p23"/>
          <p:cNvPicPr preferRelativeResize="0"/>
          <p:nvPr/>
        </p:nvPicPr>
        <p:blipFill>
          <a:blip r:embed="rId8">
            <a:alphaModFix/>
          </a:blip>
          <a:stretch>
            <a:fillRect/>
          </a:stretch>
        </p:blipFill>
        <p:spPr>
          <a:xfrm>
            <a:off x="6240463" y="1423988"/>
            <a:ext cx="2784625" cy="2614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こ</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ko</a:t>
            </a:r>
            <a:r>
              <a:rPr lang="en" sz="2600">
                <a:solidFill>
                  <a:schemeClr val="dk1"/>
                </a:solidFill>
              </a:rPr>
              <a:t> - as in “cold”</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ko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Co</a:t>
            </a:r>
            <a:r>
              <a:rPr b="0" lang="en" sz="2000">
                <a:solidFill>
                  <a:schemeClr val="dk2"/>
                </a:solidFill>
              </a:rPr>
              <a:t>mb</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073788"/>
            <a:ext cx="2377200" cy="2995923"/>
          </a:xfrm>
          <a:prstGeom prst="rect">
            <a:avLst/>
          </a:prstGeom>
          <a:noFill/>
          <a:ln>
            <a:noFill/>
          </a:ln>
        </p:spPr>
      </p:pic>
      <p:pic>
        <p:nvPicPr>
          <p:cNvPr id="161" name="Google Shape;161;p24"/>
          <p:cNvPicPr preferRelativeResize="0"/>
          <p:nvPr/>
        </p:nvPicPr>
        <p:blipFill>
          <a:blip r:embed="rId8">
            <a:alphaModFix/>
          </a:blip>
          <a:stretch>
            <a:fillRect/>
          </a:stretch>
        </p:blipFill>
        <p:spPr>
          <a:xfrm>
            <a:off x="6081063" y="1541638"/>
            <a:ext cx="3041275" cy="2060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1200"/>
              </a:spcAft>
              <a:buClr>
                <a:schemeClr val="dk1"/>
              </a:buClr>
              <a:buSzPct val="39286"/>
              <a:buFont typeface="Arial"/>
              <a:buNone/>
            </a:pPr>
            <a:r>
              <a:rPr lang="en"/>
              <a:t>Sources &amp; Attribution</a:t>
            </a:r>
            <a:endParaRPr/>
          </a:p>
        </p:txBody>
      </p:sp>
      <p:sp>
        <p:nvSpPr>
          <p:cNvPr id="167" name="Google Shape;167;p25"/>
          <p:cNvSpPr txBox="1"/>
          <p:nvPr>
            <p:ph idx="1" type="body"/>
          </p:nvPr>
        </p:nvSpPr>
        <p:spPr>
          <a:xfrm>
            <a:off x="-89450" y="572700"/>
            <a:ext cx="9233400" cy="12009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1200"/>
              </a:spcAft>
              <a:buNone/>
            </a:pPr>
            <a:r>
              <a:rPr b="1" lang="en" sz="1100">
                <a:solidFill>
                  <a:schemeClr val="dk1"/>
                </a:solidFill>
              </a:rPr>
              <a:t>Japanese Kana Mnemonic Chart</a:t>
            </a:r>
            <a:br>
              <a:rPr b="1" lang="en" sz="1100">
                <a:solidFill>
                  <a:schemeClr val="dk1"/>
                </a:solidFill>
              </a:rPr>
            </a:br>
            <a:r>
              <a:rPr lang="en" sz="1100">
                <a:solidFill>
                  <a:schemeClr val="dk1"/>
                </a:solidFill>
              </a:rPr>
              <a:t>B. Domangue (LeafPiece), 2016</a:t>
            </a:r>
            <a:br>
              <a:rPr lang="en" sz="1100">
                <a:solidFill>
                  <a:schemeClr val="dk1"/>
                </a:solidFill>
              </a:rPr>
            </a:br>
            <a:r>
              <a:rPr lang="en" sz="1100">
                <a:solidFill>
                  <a:schemeClr val="dk1"/>
                </a:solidFill>
              </a:rPr>
              <a:t>Licensed under </a:t>
            </a:r>
            <a:r>
              <a:rPr b="1" lang="en" sz="1100">
                <a:solidFill>
                  <a:schemeClr val="dk1"/>
                </a:solidFill>
              </a:rPr>
              <a:t>CC BY-SA 4.0</a:t>
            </a:r>
            <a:br>
              <a:rPr b="1" lang="en" sz="1100">
                <a:solidFill>
                  <a:schemeClr val="dk1"/>
                </a:solidFill>
              </a:rPr>
            </a:br>
            <a:r>
              <a:rPr lang="en" sz="1100">
                <a:solidFill>
                  <a:schemeClr val="dk1"/>
                </a:solidFill>
              </a:rPr>
              <a:t>Source: Wikimedia Commons </a:t>
            </a:r>
            <a:br>
              <a:rPr lang="en" sz="1100">
                <a:solidFill>
                  <a:schemeClr val="dk1"/>
                </a:solidFill>
              </a:rPr>
            </a:br>
            <a:r>
              <a:rPr lang="en" sz="1100" u="sng">
                <a:solidFill>
                  <a:schemeClr val="hlink"/>
                </a:solidFill>
                <a:hlinkClick r:id="rId3"/>
              </a:rPr>
              <a:t>https://commons.wikimedia.org/wiki/File:Japanese_Kana_Mnemonic_Chart.png</a:t>
            </a:r>
            <a:r>
              <a:rPr lang="en" sz="1100">
                <a:solidFill>
                  <a:schemeClr val="dk1"/>
                </a:solidFill>
              </a:rPr>
              <a:t> </a:t>
            </a:r>
            <a:br>
              <a:rPr lang="en" sz="1100">
                <a:solidFill>
                  <a:schemeClr val="dk1"/>
                </a:solidFill>
              </a:rPr>
            </a:br>
            <a:r>
              <a:rPr i="1" lang="en" sz="1100">
                <a:solidFill>
                  <a:schemeClr val="dk1"/>
                </a:solidFill>
              </a:rPr>
              <a:t>Mnemonic illustrations are cropped and resized from this work.
Some illustrations were cleaned to remove stray text or marks.</a:t>
            </a:r>
            <a:endParaRPr sz="1100">
              <a:solidFill>
                <a:schemeClr val="dk1"/>
              </a:solidFill>
            </a:endParaRPr>
          </a:p>
        </p:txBody>
      </p:sp>
      <p:pic>
        <p:nvPicPr>
          <p:cNvPr id="168" name="Google Shape;168;p25"/>
          <p:cNvPicPr preferRelativeResize="0"/>
          <p:nvPr/>
        </p:nvPicPr>
        <p:blipFill>
          <a:blip r:embed="rId4">
            <a:alphaModFix/>
          </a:blip>
          <a:stretch>
            <a:fillRect/>
          </a:stretch>
        </p:blipFill>
        <p:spPr>
          <a:xfrm>
            <a:off x="1436212" y="1773475"/>
            <a:ext cx="6092676" cy="3370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1200"/>
              </a:spcAft>
              <a:buNone/>
            </a:pPr>
            <a:r>
              <a:rPr lang="en"/>
              <a:t>Sources &amp; Attribution</a:t>
            </a:r>
            <a:endParaRPr/>
          </a:p>
        </p:txBody>
      </p:sp>
      <p:sp>
        <p:nvSpPr>
          <p:cNvPr id="174" name="Google Shape;174;p26"/>
          <p:cNvSpPr txBox="1"/>
          <p:nvPr>
            <p:ph idx="1" type="body"/>
          </p:nvPr>
        </p:nvSpPr>
        <p:spPr>
          <a:xfrm>
            <a:off x="-89450" y="401250"/>
            <a:ext cx="9233400" cy="12009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1200"/>
              </a:spcBef>
              <a:spcAft>
                <a:spcPts val="1200"/>
              </a:spcAft>
              <a:buNone/>
            </a:pPr>
            <a:r>
              <a:rPr b="1" lang="en" sz="1100">
                <a:solidFill>
                  <a:schemeClr val="dk1"/>
                </a:solidFill>
              </a:rPr>
              <a:t>Hiragana Table with Stroke Order</a:t>
            </a:r>
            <a:br>
              <a:rPr b="1" lang="en" sz="1100">
                <a:solidFill>
                  <a:schemeClr val="dk1"/>
                </a:solidFill>
              </a:rPr>
            </a:br>
            <a:r>
              <a:rPr lang="en" sz="1100">
                <a:solidFill>
                  <a:schemeClr val="dk1"/>
                </a:solidFill>
              </a:rPr>
              <a:t> Pmx, 2007 (based on Karine Widmer’s table)</a:t>
            </a:r>
            <a:br>
              <a:rPr lang="en" sz="1100">
                <a:solidFill>
                  <a:schemeClr val="dk1"/>
                </a:solidFill>
              </a:rPr>
            </a:br>
            <a:r>
              <a:rPr lang="en" sz="1100">
                <a:solidFill>
                  <a:schemeClr val="dk1"/>
                </a:solidFill>
              </a:rPr>
              <a:t> “Table hiragana.svg”</a:t>
            </a:r>
            <a:br>
              <a:rPr lang="en" sz="1100">
                <a:solidFill>
                  <a:schemeClr val="dk1"/>
                </a:solidFill>
              </a:rPr>
            </a:br>
            <a:r>
              <a:rPr lang="en" sz="1100">
                <a:solidFill>
                  <a:schemeClr val="dk1"/>
                </a:solidFill>
              </a:rPr>
              <a:t> Licensed under </a:t>
            </a:r>
            <a:r>
              <a:rPr b="1" lang="en" sz="1100">
                <a:solidFill>
                  <a:schemeClr val="dk1"/>
                </a:solidFill>
              </a:rPr>
              <a:t>CC BY-SA 3.0</a:t>
            </a:r>
            <a:br>
              <a:rPr lang="en" sz="1100">
                <a:solidFill>
                  <a:schemeClr val="dk1"/>
                </a:solidFill>
              </a:rPr>
            </a:br>
            <a:r>
              <a:rPr lang="en" sz="1100">
                <a:solidFill>
                  <a:schemeClr val="dk1"/>
                </a:solidFill>
              </a:rPr>
              <a:t> Source: Wikimedia Commons</a:t>
            </a:r>
            <a:br>
              <a:rPr lang="en" sz="1100">
                <a:solidFill>
                  <a:schemeClr val="dk1"/>
                </a:solidFill>
              </a:rPr>
            </a:br>
            <a:r>
              <a:rPr lang="en" sz="1100" u="sng">
                <a:solidFill>
                  <a:schemeClr val="hlink"/>
                </a:solidFill>
                <a:hlinkClick r:id="rId3"/>
              </a:rPr>
              <a:t>https://commons.wikimedia.org/wiki/File:Table_hiragana.svg</a:t>
            </a:r>
            <a:br>
              <a:rPr lang="en" sz="1100">
                <a:solidFill>
                  <a:schemeClr val="dk1"/>
                </a:solidFill>
              </a:rPr>
            </a:br>
            <a:r>
              <a:rPr i="1" lang="en" sz="1100">
                <a:solidFill>
                  <a:schemeClr val="dk1"/>
                </a:solidFill>
              </a:rPr>
              <a:t>Individual illustrations throughout this presentation are cropped and resized from this work. </a:t>
            </a:r>
            <a:endParaRPr b="1" sz="1100">
              <a:solidFill>
                <a:schemeClr val="dk1"/>
              </a:solidFill>
            </a:endParaRPr>
          </a:p>
        </p:txBody>
      </p:sp>
      <p:pic>
        <p:nvPicPr>
          <p:cNvPr id="175" name="Google Shape;175;p26"/>
          <p:cNvPicPr preferRelativeResize="0"/>
          <p:nvPr/>
        </p:nvPicPr>
        <p:blipFill>
          <a:blip r:embed="rId4">
            <a:alphaModFix/>
          </a:blip>
          <a:stretch>
            <a:fillRect/>
          </a:stretch>
        </p:blipFill>
        <p:spPr>
          <a:xfrm>
            <a:off x="1570800" y="1711200"/>
            <a:ext cx="6002400" cy="3432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さ</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sa - as in “sardine”</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sa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So</a:t>
            </a:r>
            <a:r>
              <a:rPr b="0" lang="en" sz="2000">
                <a:solidFill>
                  <a:schemeClr val="dk2"/>
                </a:solidFill>
              </a:rPr>
              <a:t>cks</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94483"/>
            <a:ext cx="2377200" cy="2754533"/>
          </a:xfrm>
          <a:prstGeom prst="rect">
            <a:avLst/>
          </a:prstGeom>
          <a:noFill/>
          <a:ln>
            <a:noFill/>
          </a:ln>
        </p:spPr>
      </p:pic>
      <p:pic>
        <p:nvPicPr>
          <p:cNvPr id="161" name="Google Shape;161;p24"/>
          <p:cNvPicPr preferRelativeResize="0"/>
          <p:nvPr/>
        </p:nvPicPr>
        <p:blipFill>
          <a:blip r:embed="rId8">
            <a:alphaModFix/>
          </a:blip>
          <a:stretch>
            <a:fillRect/>
          </a:stretch>
        </p:blipFill>
        <p:spPr>
          <a:xfrm>
            <a:off x="6432383" y="1541638"/>
            <a:ext cx="2338634" cy="2060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し</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shi - as in “sheep”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shi</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Shee</a:t>
            </a:r>
            <a:r>
              <a:rPr b="0" lang="en" sz="2000">
                <a:solidFill>
                  <a:schemeClr val="dk2"/>
                </a:solidFill>
              </a:rPr>
              <a:t>p</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75616"/>
            <a:ext cx="2377200" cy="2792267"/>
          </a:xfrm>
          <a:prstGeom prst="rect">
            <a:avLst/>
          </a:prstGeom>
          <a:noFill/>
          <a:ln>
            <a:noFill/>
          </a:ln>
        </p:spPr>
      </p:pic>
      <p:pic>
        <p:nvPicPr>
          <p:cNvPr id="161" name="Google Shape;161;p24"/>
          <p:cNvPicPr preferRelativeResize="0"/>
          <p:nvPr/>
        </p:nvPicPr>
        <p:blipFill>
          <a:blip r:embed="rId8">
            <a:alphaModFix/>
          </a:blip>
          <a:stretch>
            <a:fillRect/>
          </a:stretch>
        </p:blipFill>
        <p:spPr>
          <a:xfrm>
            <a:off x="6475763" y="1541638"/>
            <a:ext cx="2251874" cy="2060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す</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su - as in “sou” in “soup”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su</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Sou</a:t>
            </a:r>
            <a:r>
              <a:rPr b="0" lang="en" sz="2000">
                <a:solidFill>
                  <a:schemeClr val="dk2"/>
                </a:solidFill>
              </a:rPr>
              <a:t>p ladle in a pot</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94483"/>
            <a:ext cx="2377200" cy="2754533"/>
          </a:xfrm>
          <a:prstGeom prst="rect">
            <a:avLst/>
          </a:prstGeom>
          <a:noFill/>
          <a:ln>
            <a:noFill/>
          </a:ln>
        </p:spPr>
      </p:pic>
      <p:pic>
        <p:nvPicPr>
          <p:cNvPr id="161" name="Google Shape;161;p24"/>
          <p:cNvPicPr preferRelativeResize="0"/>
          <p:nvPr/>
        </p:nvPicPr>
        <p:blipFill>
          <a:blip r:embed="rId8">
            <a:alphaModFix/>
          </a:blip>
          <a:stretch>
            <a:fillRect/>
          </a:stretch>
        </p:blipFill>
        <p:spPr>
          <a:xfrm>
            <a:off x="6370044" y="1541638"/>
            <a:ext cx="2463312" cy="2060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せ</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se - as in “set”</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se</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Se</a:t>
            </a:r>
            <a:r>
              <a:rPr b="0" lang="en" sz="2000">
                <a:solidFill>
                  <a:schemeClr val="dk2"/>
                </a:solidFill>
              </a:rPr>
              <a:t>curity guard</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94483"/>
            <a:ext cx="2377200" cy="2754533"/>
          </a:xfrm>
          <a:prstGeom prst="rect">
            <a:avLst/>
          </a:prstGeom>
          <a:noFill/>
          <a:ln>
            <a:noFill/>
          </a:ln>
        </p:spPr>
      </p:pic>
      <p:pic>
        <p:nvPicPr>
          <p:cNvPr id="161" name="Google Shape;161;p24"/>
          <p:cNvPicPr preferRelativeResize="0"/>
          <p:nvPr/>
        </p:nvPicPr>
        <p:blipFill>
          <a:blip r:embed="rId8">
            <a:alphaModFix/>
          </a:blip>
          <a:stretch>
            <a:fillRect/>
          </a:stretch>
        </p:blipFill>
        <p:spPr>
          <a:xfrm>
            <a:off x="6933519" y="1541638"/>
            <a:ext cx="1336362" cy="2060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そ</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so - as in “sew”</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so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Sew</a:t>
            </a:r>
            <a:r>
              <a:rPr b="0" lang="en" sz="2000">
                <a:solidFill>
                  <a:schemeClr val="dk2"/>
                </a:solidFill>
              </a:rPr>
              <a:t> a stitch</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94483"/>
            <a:ext cx="2377200" cy="2754533"/>
          </a:xfrm>
          <a:prstGeom prst="rect">
            <a:avLst/>
          </a:prstGeom>
          <a:noFill/>
          <a:ln>
            <a:noFill/>
          </a:ln>
        </p:spPr>
      </p:pic>
      <p:pic>
        <p:nvPicPr>
          <p:cNvPr id="161" name="Google Shape;161;p24"/>
          <p:cNvPicPr preferRelativeResize="0"/>
          <p:nvPr/>
        </p:nvPicPr>
        <p:blipFill>
          <a:blip r:embed="rId8">
            <a:alphaModFix/>
          </a:blip>
          <a:stretch>
            <a:fillRect/>
          </a:stretch>
        </p:blipFill>
        <p:spPr>
          <a:xfrm>
            <a:off x="6542974" y="1541638"/>
            <a:ext cx="2117453" cy="2060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た</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ta - as in “taco”</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ta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0" lang="en" sz="2000">
                <a:solidFill>
                  <a:schemeClr val="dk2"/>
                </a:solidFill>
              </a:rPr>
              <a:t>“</a:t>
            </a:r>
            <a:r>
              <a:rPr b="1" lang="en" sz="2000">
                <a:solidFill>
                  <a:schemeClr val="dk2"/>
                </a:solidFill>
              </a:rPr>
              <a:t>Ta</a:t>
            </a:r>
            <a:r>
              <a:rPr b="0" lang="en" sz="2000">
                <a:solidFill>
                  <a:schemeClr val="dk2"/>
                </a:solidFill>
              </a:rPr>
              <a:t>!”</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14989"/>
            <a:ext cx="2377200" cy="2913520"/>
          </a:xfrm>
          <a:prstGeom prst="rect">
            <a:avLst/>
          </a:prstGeom>
          <a:noFill/>
          <a:ln>
            <a:noFill/>
          </a:ln>
        </p:spPr>
      </p:pic>
      <p:pic>
        <p:nvPicPr>
          <p:cNvPr id="161" name="Google Shape;161;p24"/>
          <p:cNvPicPr preferRelativeResize="0"/>
          <p:nvPr/>
        </p:nvPicPr>
        <p:blipFill>
          <a:blip r:embed="rId8">
            <a:alphaModFix/>
          </a:blip>
          <a:stretch>
            <a:fillRect/>
          </a:stretch>
        </p:blipFill>
        <p:spPr>
          <a:xfrm>
            <a:off x="6914959" y="1541638"/>
            <a:ext cx="1373483" cy="2060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ち</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chi - as in “cheese”</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chi</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0" lang="en" sz="2000">
                <a:solidFill>
                  <a:schemeClr val="dk2"/>
                </a:solidFill>
              </a:rPr>
              <a:t>“</a:t>
            </a:r>
            <a:r>
              <a:rPr b="1" lang="en" sz="2000">
                <a:solidFill>
                  <a:schemeClr val="dk2"/>
                </a:solidFill>
              </a:rPr>
              <a:t>Cheep</a:t>
            </a:r>
            <a:r>
              <a:rPr b="0" lang="en" sz="2000">
                <a:solidFill>
                  <a:schemeClr val="dk2"/>
                </a:solidFill>
              </a:rPr>
              <a:t>, cheep,” says the chick</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379533" y="1541638"/>
            <a:ext cx="2444335" cy="2060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つ</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tsu - “ts” as in “cats,” followed by “oo”</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tsu</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Tsu</a:t>
            </a:r>
            <a:r>
              <a:rPr b="0" lang="en" sz="2000">
                <a:solidFill>
                  <a:schemeClr val="dk2"/>
                </a:solidFill>
              </a:rPr>
              <a:t>nami wave</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458527" y="1541638"/>
            <a:ext cx="2286347" cy="2060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て</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te - as in “ten”</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te</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Te</a:t>
            </a:r>
            <a:r>
              <a:rPr b="0" lang="en" sz="2000">
                <a:solidFill>
                  <a:schemeClr val="dk2"/>
                </a:solidFill>
              </a:rPr>
              <a:t>lescope</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331228" y="1541638"/>
            <a:ext cx="2540944" cy="2060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と</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to - as in “toe”</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to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Toa</a:t>
            </a:r>
            <a:r>
              <a:rPr b="0" lang="en" sz="2000">
                <a:solidFill>
                  <a:schemeClr val="dk2"/>
                </a:solidFill>
              </a:rPr>
              <a:t>ster</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698905" y="1541638"/>
            <a:ext cx="1805590" cy="20602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な</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na - as in “nacho”</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na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No</a:t>
            </a:r>
            <a:r>
              <a:rPr b="0" lang="en" sz="2000">
                <a:solidFill>
                  <a:schemeClr val="dk2"/>
                </a:solidFill>
              </a:rPr>
              <a:t>stril</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14989"/>
            <a:ext cx="2377200" cy="2913520"/>
          </a:xfrm>
          <a:prstGeom prst="rect">
            <a:avLst/>
          </a:prstGeom>
          <a:noFill/>
          <a:ln>
            <a:noFill/>
          </a:ln>
        </p:spPr>
      </p:pic>
      <p:pic>
        <p:nvPicPr>
          <p:cNvPr id="161" name="Google Shape;161;p24"/>
          <p:cNvPicPr preferRelativeResize="0"/>
          <p:nvPr/>
        </p:nvPicPr>
        <p:blipFill>
          <a:blip r:embed="rId8">
            <a:alphaModFix/>
          </a:blip>
          <a:stretch>
            <a:fillRect/>
          </a:stretch>
        </p:blipFill>
        <p:spPr>
          <a:xfrm>
            <a:off x="6745691" y="1541638"/>
            <a:ext cx="1712018" cy="20602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に</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ni - as in “knee”</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ni</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Knee</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7076739" y="1541638"/>
            <a:ext cx="1049922" cy="2060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ぬ</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nu - as in “noo” in “noodle”</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nu</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Noo</a:t>
            </a:r>
            <a:r>
              <a:rPr b="0" lang="en" sz="2000">
                <a:solidFill>
                  <a:schemeClr val="dk2"/>
                </a:solidFill>
              </a:rPr>
              <a:t>dles and chopsticks</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628816" y="1541638"/>
            <a:ext cx="1945768" cy="2060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ね</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ne - as in “net”</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ne</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Ne</a:t>
            </a:r>
            <a:r>
              <a:rPr b="0" lang="en" sz="2000">
                <a:solidFill>
                  <a:schemeClr val="dk2"/>
                </a:solidFill>
              </a:rPr>
              <a:t>xt train arrives</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820236" y="1541638"/>
            <a:ext cx="1562929" cy="20602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の</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no - as in “no”</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no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No</a:t>
            </a:r>
            <a:r>
              <a:rPr b="0" lang="en" sz="2000">
                <a:solidFill>
                  <a:schemeClr val="dk2"/>
                </a:solidFill>
              </a:rPr>
              <a:t> smoking</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604290" y="1541638"/>
            <a:ext cx="1994821" cy="20602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は</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ha - as in “ha!”</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ha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Hi</a:t>
            </a:r>
            <a:r>
              <a:rPr b="0" lang="en" sz="2000">
                <a:solidFill>
                  <a:schemeClr val="dk2"/>
                </a:solidFill>
              </a:rPr>
              <a:t>king boot</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14989"/>
            <a:ext cx="2377200" cy="2913520"/>
          </a:xfrm>
          <a:prstGeom prst="rect">
            <a:avLst/>
          </a:prstGeom>
          <a:noFill/>
          <a:ln>
            <a:noFill/>
          </a:ln>
        </p:spPr>
      </p:pic>
      <p:pic>
        <p:nvPicPr>
          <p:cNvPr id="161" name="Google Shape;161;p24"/>
          <p:cNvPicPr preferRelativeResize="0"/>
          <p:nvPr/>
        </p:nvPicPr>
        <p:blipFill>
          <a:blip r:embed="rId8">
            <a:alphaModFix/>
          </a:blip>
          <a:stretch>
            <a:fillRect/>
          </a:stretch>
        </p:blipFill>
        <p:spPr>
          <a:xfrm>
            <a:off x="6775067" y="1541638"/>
            <a:ext cx="1653267" cy="20602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ひ</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hi - as in “heat”</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hi</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Hee</a:t>
            </a:r>
            <a:r>
              <a:rPr b="0" lang="en" sz="2000">
                <a:solidFill>
                  <a:schemeClr val="dk2"/>
                </a:solidFill>
              </a:rPr>
              <a:t>l</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081063" y="1552923"/>
            <a:ext cx="3041275" cy="203765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ふ</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fu - like “foo” in “food,” with a gentle puff of air</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fu</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and cleaned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0" lang="en" sz="2000">
                <a:solidFill>
                  <a:schemeClr val="dk2"/>
                </a:solidFill>
              </a:rPr>
              <a:t>Mount </a:t>
            </a:r>
            <a:r>
              <a:rPr b="1" lang="en" sz="2000">
                <a:solidFill>
                  <a:schemeClr val="dk2"/>
                </a:solidFill>
              </a:rPr>
              <a:t>Fu</a:t>
            </a:r>
            <a:r>
              <a:rPr b="0" lang="en" sz="2000">
                <a:solidFill>
                  <a:schemeClr val="dk2"/>
                </a:solidFill>
              </a:rPr>
              <a:t>ji</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535654" y="1541638"/>
            <a:ext cx="2132093" cy="20602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へ</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he - as in “help”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he</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Hea</a:t>
            </a:r>
            <a:r>
              <a:rPr b="0" lang="en" sz="2000">
                <a:solidFill>
                  <a:schemeClr val="dk2"/>
                </a:solidFill>
              </a:rPr>
              <a:t>dband</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730067" y="1541638"/>
            <a:ext cx="1743267" cy="20602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ほ</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ho - as in “hope”</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ho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Ho</a:t>
            </a:r>
            <a:r>
              <a:rPr b="0" lang="en" sz="2000">
                <a:solidFill>
                  <a:schemeClr val="dk2"/>
                </a:solidFill>
              </a:rPr>
              <a:t>tel room</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460224" y="1541638"/>
            <a:ext cx="2282952" cy="20602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ま</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ma - as in “mama”</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ma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and cleaned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Mo</a:t>
            </a:r>
            <a:r>
              <a:rPr b="0" lang="en" sz="2000">
                <a:solidFill>
                  <a:schemeClr val="dk2"/>
                </a:solidFill>
              </a:rPr>
              <a:t>p and bucket</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14989"/>
            <a:ext cx="2377200" cy="2913520"/>
          </a:xfrm>
          <a:prstGeom prst="rect">
            <a:avLst/>
          </a:prstGeom>
          <a:noFill/>
          <a:ln>
            <a:noFill/>
          </a:ln>
        </p:spPr>
      </p:pic>
      <p:pic>
        <p:nvPicPr>
          <p:cNvPr id="161" name="Google Shape;161;p24"/>
          <p:cNvPicPr preferRelativeResize="0"/>
          <p:nvPr/>
        </p:nvPicPr>
        <p:blipFill>
          <a:blip r:embed="rId8">
            <a:alphaModFix/>
          </a:blip>
          <a:stretch>
            <a:fillRect/>
          </a:stretch>
        </p:blipFill>
        <p:spPr>
          <a:xfrm>
            <a:off x="6081063" y="1653345"/>
            <a:ext cx="3041275" cy="183681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み</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mi - as in “meet”</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mi</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Mea</a:t>
            </a:r>
            <a:r>
              <a:rPr b="0" lang="en" sz="2000">
                <a:solidFill>
                  <a:schemeClr val="dk2"/>
                </a:solidFill>
              </a:rPr>
              <a:t>n number is 21</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816853" y="1541638"/>
            <a:ext cx="1569695" cy="20602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む</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mu - as in “moo”</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mu</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Moo</a:t>
            </a:r>
            <a:r>
              <a:rPr b="0" lang="en" sz="2000">
                <a:solidFill>
                  <a:schemeClr val="dk2"/>
                </a:solidFill>
              </a:rPr>
              <a:t>se chewing leaves</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687114" y="1541638"/>
            <a:ext cx="1829172" cy="20602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め</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me - as in “met”</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me</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Me</a:t>
            </a:r>
            <a:r>
              <a:rPr b="0" lang="en" sz="2000">
                <a:solidFill>
                  <a:schemeClr val="dk2"/>
                </a:solidFill>
              </a:rPr>
              <a:t>dallion</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587939" y="1541638"/>
            <a:ext cx="2027523" cy="20602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も</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mo - as in “mow”</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mo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and cleaned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Mo</a:t>
            </a:r>
            <a:r>
              <a:rPr b="0" lang="en" sz="2000">
                <a:solidFill>
                  <a:schemeClr val="dk2"/>
                </a:solidFill>
              </a:rPr>
              <a:t>torboat</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238875" y="2143125"/>
            <a:ext cx="2714625" cy="9525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や</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ya - as in “yard”</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ya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Ya</a:t>
            </a:r>
            <a:r>
              <a:rPr b="0" lang="en" sz="2000">
                <a:solidFill>
                  <a:schemeClr val="dk2"/>
                </a:solidFill>
              </a:rPr>
              <a:t>wl</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14989"/>
            <a:ext cx="2377200" cy="2913520"/>
          </a:xfrm>
          <a:prstGeom prst="rect">
            <a:avLst/>
          </a:prstGeom>
          <a:noFill/>
          <a:ln>
            <a:noFill/>
          </a:ln>
        </p:spPr>
      </p:pic>
      <p:pic>
        <p:nvPicPr>
          <p:cNvPr id="161" name="Google Shape;161;p24"/>
          <p:cNvPicPr preferRelativeResize="0"/>
          <p:nvPr/>
        </p:nvPicPr>
        <p:blipFill>
          <a:blip r:embed="rId8">
            <a:alphaModFix/>
          </a:blip>
          <a:stretch>
            <a:fillRect/>
          </a:stretch>
        </p:blipFill>
        <p:spPr>
          <a:xfrm>
            <a:off x="6643248" y="1541638"/>
            <a:ext cx="1916905" cy="20602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ゆ</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yu - as in “you”</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yu</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U</a:t>
            </a:r>
            <a:r>
              <a:rPr b="0" lang="en" sz="2000">
                <a:solidFill>
                  <a:schemeClr val="dk2"/>
                </a:solidFill>
              </a:rPr>
              <a:t>tensils for eating</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365565" y="1541638"/>
            <a:ext cx="2472270" cy="20602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よ</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yo - as in “yoga”</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yo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Yo</a:t>
            </a:r>
            <a:r>
              <a:rPr b="0" lang="en" sz="2000">
                <a:solidFill>
                  <a:schemeClr val="dk2"/>
                </a:solidFill>
              </a:rPr>
              <a:t>ga</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081063" y="1719525"/>
            <a:ext cx="3041275" cy="170445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ら</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ra - like “la” in “lava,” with a quick tongue tap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ra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Ro</a:t>
            </a:r>
            <a:r>
              <a:rPr b="0" lang="en" sz="2000">
                <a:solidFill>
                  <a:schemeClr val="dk2"/>
                </a:solidFill>
              </a:rPr>
              <a:t>d and reel</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14989"/>
            <a:ext cx="2377200" cy="2913520"/>
          </a:xfrm>
          <a:prstGeom prst="rect">
            <a:avLst/>
          </a:prstGeom>
          <a:noFill/>
          <a:ln>
            <a:noFill/>
          </a:ln>
        </p:spPr>
      </p:pic>
      <p:pic>
        <p:nvPicPr>
          <p:cNvPr id="161" name="Google Shape;161;p24"/>
          <p:cNvPicPr preferRelativeResize="0"/>
          <p:nvPr/>
        </p:nvPicPr>
        <p:blipFill>
          <a:blip r:embed="rId8">
            <a:alphaModFix/>
          </a:blip>
          <a:stretch>
            <a:fillRect/>
          </a:stretch>
        </p:blipFill>
        <p:spPr>
          <a:xfrm>
            <a:off x="6598001" y="1541638"/>
            <a:ext cx="2007399" cy="20602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り</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ri - like “lee” in “leap,” with a quick tongue tap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ri</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Rea</a:t>
            </a:r>
            <a:r>
              <a:rPr b="0" lang="en" sz="2000">
                <a:solidFill>
                  <a:schemeClr val="dk2"/>
                </a:solidFill>
              </a:rPr>
              <a:t>ch high</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7136893" y="1541638"/>
            <a:ext cx="929614" cy="20602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る</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ru - like “loo” in “loop,” with a quick tongue tap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ru</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and cleaned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Roo</a:t>
            </a:r>
            <a:r>
              <a:rPr b="0" lang="en" sz="2000">
                <a:solidFill>
                  <a:schemeClr val="dk2"/>
                </a:solidFill>
              </a:rPr>
              <a:t>ster</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715125" y="1381125"/>
            <a:ext cx="1762125" cy="29241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れ</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re - like “le” in “let,” with a quick tongue tap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re</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and cleaned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Wre</a:t>
            </a:r>
            <a:r>
              <a:rPr b="0" lang="en" sz="2000">
                <a:solidFill>
                  <a:schemeClr val="dk2"/>
                </a:solidFill>
              </a:rPr>
              <a:t>nch</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238875" y="2143125"/>
            <a:ext cx="2714625" cy="9525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ろ</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ro - like “low,” with a quick tongue tap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ro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0" lang="en" sz="2000">
                <a:solidFill>
                  <a:schemeClr val="dk2"/>
                </a:solidFill>
              </a:rPr>
              <a:t>I </a:t>
            </a:r>
            <a:r>
              <a:rPr b="1" lang="en" sz="2000">
                <a:solidFill>
                  <a:schemeClr val="dk2"/>
                </a:solidFill>
              </a:rPr>
              <a:t>wrote</a:t>
            </a:r>
            <a:r>
              <a:rPr b="0" lang="en" sz="2000">
                <a:solidFill>
                  <a:schemeClr val="dk2"/>
                </a:solidFill>
              </a:rPr>
              <a:t> the number “3”</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769686" y="1541638"/>
            <a:ext cx="1664028" cy="20602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わ</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wa - as in “water”</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wa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Wa</a:t>
            </a:r>
            <a:r>
              <a:rPr b="0" lang="en" sz="2000">
                <a:solidFill>
                  <a:schemeClr val="dk2"/>
                </a:solidFill>
              </a:rPr>
              <a:t>llaby</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3818"/>
            <a:ext cx="2377200" cy="2895862"/>
          </a:xfrm>
          <a:prstGeom prst="rect">
            <a:avLst/>
          </a:prstGeom>
          <a:noFill/>
          <a:ln>
            <a:noFill/>
          </a:ln>
        </p:spPr>
      </p:pic>
      <p:pic>
        <p:nvPicPr>
          <p:cNvPr id="161" name="Google Shape;161;p24"/>
          <p:cNvPicPr preferRelativeResize="0"/>
          <p:nvPr/>
        </p:nvPicPr>
        <p:blipFill>
          <a:blip r:embed="rId8">
            <a:alphaModFix/>
          </a:blip>
          <a:stretch>
            <a:fillRect/>
          </a:stretch>
        </p:blipFill>
        <p:spPr>
          <a:xfrm>
            <a:off x="6781102" y="1541638"/>
            <a:ext cx="1641196" cy="20602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を</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o - as in “go”; usually sounds the same as お</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wo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Oh</a:t>
            </a:r>
            <a:r>
              <a:rPr b="0" lang="en" sz="2000">
                <a:solidFill>
                  <a:schemeClr val="dk2"/>
                </a:solidFill>
              </a:rPr>
              <a:t>! Water is too cold</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8226"/>
            <a:ext cx="2377200" cy="2867047"/>
          </a:xfrm>
          <a:prstGeom prst="rect">
            <a:avLst/>
          </a:prstGeom>
          <a:noFill/>
          <a:ln>
            <a:noFill/>
          </a:ln>
        </p:spPr>
      </p:pic>
      <p:pic>
        <p:nvPicPr>
          <p:cNvPr id="161" name="Google Shape;161;p24"/>
          <p:cNvPicPr preferRelativeResize="0"/>
          <p:nvPr/>
        </p:nvPicPr>
        <p:blipFill>
          <a:blip r:embed="rId8">
            <a:alphaModFix/>
          </a:blip>
          <a:stretch>
            <a:fillRect/>
          </a:stretch>
        </p:blipFill>
        <p:spPr>
          <a:xfrm>
            <a:off x="6132275" y="1541638"/>
            <a:ext cx="2938850" cy="20602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ん</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n - like the final “n” in “sun”; give it one beat</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n</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0" lang="en" sz="2000">
                <a:solidFill>
                  <a:schemeClr val="dk2"/>
                </a:solidFill>
              </a:rPr>
              <a:t>The letter “</a:t>
            </a:r>
            <a:r>
              <a:rPr b="1" lang="en" sz="2000">
                <a:solidFill>
                  <a:schemeClr val="dk2"/>
                </a:solidFill>
              </a:rPr>
              <a:t>n</a:t>
            </a:r>
            <a:r>
              <a:rPr b="0" lang="en" sz="2000">
                <a:solidFill>
                  <a:schemeClr val="dk2"/>
                </a:solidFill>
              </a:rPr>
              <a:t>”</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14989"/>
            <a:ext cx="2377200" cy="2913520"/>
          </a:xfrm>
          <a:prstGeom prst="rect">
            <a:avLst/>
          </a:prstGeom>
          <a:noFill/>
          <a:ln>
            <a:noFill/>
          </a:ln>
        </p:spPr>
      </p:pic>
      <p:pic>
        <p:nvPicPr>
          <p:cNvPr id="161" name="Google Shape;161;p24"/>
          <p:cNvPicPr preferRelativeResize="0"/>
          <p:nvPr/>
        </p:nvPicPr>
        <p:blipFill>
          <a:blip r:embed="rId8">
            <a:alphaModFix/>
          </a:blip>
          <a:stretch>
            <a:fillRect/>
          </a:stretch>
        </p:blipFill>
        <p:spPr>
          <a:xfrm>
            <a:off x="6223381" y="1541638"/>
            <a:ext cx="2756639" cy="2060225"/>
          </a:xfrm>
          <a:prstGeom prst="rect">
            <a:avLst/>
          </a:prstGeom>
          <a:noFill/>
          <a:ln>
            <a:noFill/>
          </a:ln>
        </p:spPr>
      </p:pic>
    </p:spTree>
  </p:cSld>
  <p:clrMapOvr>
    <a:masterClrMapping/>
  </p:clrMapOvr>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ncept titl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361950"/>
            <a:ext cx="828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595959"/>
                </a:solidFill>
                <a:latin typeface="Arial"/>
                <a:ea typeface="Arial"/>
                <a:cs typeface="Arial"/>
              </a:defRPr>
            </a:pPr>
            <a:r>
              <a:rPr sz="2625" b="1">
                <a:solidFill>
                  <a:srgbClr val="595959"/>
                </a:solidFill>
                <a:latin typeface="Arial"/>
                <a:ea typeface="Arial"/>
                <a:cs typeface="Arial"/>
              </a:rPr>
              <a:t>Dakuten and Handakuten</a:t>
            </a:r>
          </a:p>
        </p:txBody>
      </p:sp>
      <p:sp xmlns:a="http://schemas.openxmlformats.org/drawingml/2006/main" xmlns:r="http://schemas.openxmlformats.org/officeDocument/2006/relationships">
        <p:nvSpPr>
          <p:cNvPr id="2" name="Chart attribution"/>
          <p:cNvSpPr txBox="1"/>
          <p:nvPr/>
        </p:nvSpPr>
        <p:spPr>
          <a:xfrm>
            <a:off x="619125" y="4600575"/>
            <a:ext cx="7905750" cy="400050"/>
          </a:xfrm>
          <a:prstGeom prst="rect">
            <a:avLst/>
          </a:prstGeom>
          <a:noFill/>
          <a:ln>
            <a:noFill/>
          </a:ln>
        </p:spPr>
        <p:txBody>
          <a:bodyPr anchorCtr="0" anchor="t" bIns="91425" lIns="91425" spcFirstLastPara="1" rIns="91425" wrap="square" tIns="91425">
            <a:spAutoFit/>
          </a:bodyPr>
          <a:lstStyle/>
          <a:p>
            <a:pPr algn="ctr">
              <a:buNone/>
            </a:pPr>
            <a:r>
              <a:rPr sz="1200" lang="en" b="1">
                <a:solidFill>
                  <a:schemeClr val="dk1"/>
                </a:solidFill>
              </a:rPr>
              <a:t>Chart:</a:t>
            </a:r>
            <a:r>
              <a:rPr sz="1200" lang="en">
                <a:solidFill>
                  <a:schemeClr val="dk1"/>
                </a:solidFill>
              </a:rPr>
              <a:t> TealComet, </a:t>
            </a:r>
            <a:r>
              <a:rPr sz="1200" lang="en" i="1" u="sng">
                <a:solidFill>
                  <a:schemeClr val="hlink"/>
                </a:solidFill>
                <a:hlinkClick r:id="rIdChartSource"/>
              </a:rPr>
              <a:t>Hiragana Chart Seion Dakuon Yoon</a:t>
            </a:r>
            <a:r>
              <a:rPr sz="1200" lang="en">
                <a:solidFill>
                  <a:schemeClr val="dk1"/>
                </a:solidFill>
              </a:rPr>
              <a:t> — </a:t>
            </a:r>
            <a:r>
              <a:rPr sz="1200" lang="en" u="sng">
                <a:solidFill>
                  <a:schemeClr val="hlink"/>
                </a:solidFill>
                <a:hlinkClick r:id="rIdChartLicense"/>
              </a:rPr>
              <a:t>CC0 1.0</a:t>
            </a:r>
          </a:p>
          <a:p>
            <a:pPr algn="ctr">
              <a:buNone/>
            </a:pPr>
            <a:r>
              <a:rPr sz="1200" lang="en">
                <a:solidFill>
                  <a:schemeClr val="dk1"/>
                </a:solidFill>
              </a:rPr>
              <a:t>Wikimedia Commons · Cropped/resized from the original work</a:t>
            </a:r>
          </a:p>
        </p:txBody>
      </p:sp>
      <p:sp>
        <p:nvSpPr>
          <p:cNvPr id="3" name="Dakuten label">
            <a:extLst xmlns:a="http://schemas.openxmlformats.org/drawingml/2006/main">
              <a:ext uri="{FF2B5EF4-FFF2-40B4-BE49-F238E27FC236}">
                <a16:creationId xmlns:a16="http://schemas.microsoft.com/office/drawing/2014/main" id="{4FB0C056-7FDE-4ADF-ACB5-B3C8C06F619E}"/>
              </a:ext>
            </a:extLst>
          </p:cNvPr>
          <p:cNvSpPr>
            <a:spLocks xmlns:a="http://schemas.openxmlformats.org/drawingml/2006/main" noGrp="1"/>
          </p:cNvSpPr>
          <p:nvPr/>
        </p:nvSpPr>
        <p:spPr>
          <a:xfrm xmlns:a="http://schemas.openxmlformats.org/drawingml/2006/main">
            <a:off x="457200" y="11049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95959"/>
                </a:solidFill>
                <a:latin typeface="Arial"/>
                <a:ea typeface="Arial"/>
                <a:cs typeface="Arial"/>
              </a:defRPr>
            </a:pPr>
            <a:r>
              <a:rPr sz="1875" b="1">
                <a:solidFill>
                  <a:srgbClr val="595959"/>
                </a:solidFill>
                <a:latin typeface="Arial"/>
                <a:ea typeface="Arial"/>
                <a:cs typeface="Arial"/>
              </a:rPr>
              <a:t>Dakuten: two small strokes</a:t>
            </a:r>
          </a:p>
        </p:txBody>
      </p:sp>
      <p:sp>
        <p:nvSpPr>
          <p:cNvPr id="4" name="Ka becomes ga">
            <a:extLst xmlns:a="http://schemas.openxmlformats.org/drawingml/2006/main">
              <a:ext uri="{FF2B5EF4-FFF2-40B4-BE49-F238E27FC236}">
                <a16:creationId xmlns:a16="http://schemas.microsoft.com/office/drawing/2014/main" id="{CADD33A5-DE5F-43C6-B5FA-AABA72F537EA}"/>
              </a:ext>
            </a:extLst>
          </p:cNvPr>
          <p:cNvSpPr>
            <a:spLocks xmlns:a="http://schemas.openxmlformats.org/drawingml/2006/main" noGrp="1"/>
          </p:cNvSpPr>
          <p:nvPr/>
        </p:nvSpPr>
        <p:spPr>
          <a:xfrm xmlns:a="http://schemas.openxmlformats.org/drawingml/2006/main">
            <a:off x="457200" y="144780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525" b="0">
                <a:solidFill>
                  <a:srgbClr val="000000"/>
                </a:solidFill>
                <a:latin typeface="Noto Sans CJK JP"/>
                <a:ea typeface="Noto Sans CJK JP"/>
                <a:cs typeface="Noto Sans CJK JP"/>
              </a:defRPr>
            </a:pPr>
            <a:r>
              <a:rPr sz="3525" b="0">
                <a:solidFill>
                  <a:srgbClr val="000000"/>
                </a:solidFill>
                <a:latin typeface="Noto Sans CJK JP"/>
                <a:ea typeface="Noto Sans CJK JP"/>
                <a:cs typeface="Noto Sans CJK JP"/>
              </a:rPr>
              <a:t>か + ゛ = が</a:t>
            </a:r>
          </a:p>
        </p:txBody>
      </p:sp>
      <p:sp>
        <p:nvSpPr>
          <p:cNvPr id="5" name="Ka ga romaji">
            <a:extLst xmlns:a="http://schemas.openxmlformats.org/drawingml/2006/main">
              <a:ext uri="{FF2B5EF4-FFF2-40B4-BE49-F238E27FC236}">
                <a16:creationId xmlns:a16="http://schemas.microsoft.com/office/drawing/2014/main" id="{284026F4-5DC7-442D-B1CB-169A622E3829}"/>
              </a:ext>
            </a:extLst>
          </p:cNvPr>
          <p:cNvSpPr>
            <a:spLocks xmlns:a="http://schemas.openxmlformats.org/drawingml/2006/main" noGrp="1"/>
          </p:cNvSpPr>
          <p:nvPr/>
        </p:nvSpPr>
        <p:spPr>
          <a:xfrm xmlns:a="http://schemas.openxmlformats.org/drawingml/2006/main">
            <a:off x="457200" y="21336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0">
                <a:solidFill>
                  <a:srgbClr val="000000"/>
                </a:solidFill>
                <a:latin typeface="Arial"/>
                <a:ea typeface="Arial"/>
                <a:cs typeface="Arial"/>
              </a:defRPr>
            </a:pPr>
            <a:r>
              <a:rPr sz="1725" b="0">
                <a:solidFill>
                  <a:srgbClr val="000000"/>
                </a:solidFill>
                <a:latin typeface="Arial"/>
                <a:ea typeface="Arial"/>
                <a:cs typeface="Arial"/>
              </a:rPr>
              <a:t>ka                        ga</a:t>
            </a:r>
          </a:p>
        </p:txBody>
      </p:sp>
      <p:sp>
        <p:nvSpPr>
          <p:cNvPr id="6" name="Voiced rows">
            <a:extLst xmlns:a="http://schemas.openxmlformats.org/drawingml/2006/main">
              <a:ext uri="{FF2B5EF4-FFF2-40B4-BE49-F238E27FC236}">
                <a16:creationId xmlns:a16="http://schemas.microsoft.com/office/drawing/2014/main" id="{C5526238-5B44-45A6-ADAB-223B29710A45}"/>
              </a:ext>
            </a:extLst>
          </p:cNvPr>
          <p:cNvSpPr>
            <a:spLocks xmlns:a="http://schemas.openxmlformats.org/drawingml/2006/main" noGrp="1"/>
          </p:cNvSpPr>
          <p:nvPr/>
        </p:nvSpPr>
        <p:spPr>
          <a:xfrm xmlns:a="http://schemas.openxmlformats.org/drawingml/2006/main">
            <a:off x="457200" y="2552700"/>
            <a:ext cx="428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0">
                <a:solidFill>
                  <a:srgbClr val="000000"/>
                </a:solidFill>
                <a:latin typeface="Noto Sans CJK JP"/>
                <a:ea typeface="Noto Sans CJK JP"/>
                <a:cs typeface="Noto Sans CJK JP"/>
              </a:defRPr>
            </a:pPr>
            <a:r>
              <a:rPr sz="1725" b="0">
                <a:solidFill>
                  <a:srgbClr val="000000"/>
                </a:solidFill>
                <a:latin typeface="Noto Sans CJK JP"/>
                <a:ea typeface="Noto Sans CJK JP"/>
                <a:cs typeface="Noto Sans CJK JP"/>
              </a:rPr>
              <a:t>k → g    s → z</a:t>
            </a:r>
          </a:p>
          <a:p xmlns:a="http://schemas.openxmlformats.org/drawingml/2006/main">
            <a:pPr algn="ctr">
              <a:defRPr sz="1725" b="0">
                <a:solidFill>
                  <a:srgbClr val="000000"/>
                </a:solidFill>
                <a:latin typeface="Noto Sans CJK JP"/>
                <a:ea typeface="Noto Sans CJK JP"/>
                <a:cs typeface="Noto Sans CJK JP"/>
              </a:defRPr>
            </a:pPr>
            <a:r>
              <a:rPr sz="1725" b="0">
                <a:solidFill>
                  <a:srgbClr val="000000"/>
                </a:solidFill>
                <a:latin typeface="Noto Sans CJK JP"/>
                <a:ea typeface="Noto Sans CJK JP"/>
                <a:cs typeface="Noto Sans CJK JP"/>
              </a:rPr>
              <a:t>t → d    h → b</a:t>
            </a:r>
          </a:p>
          <a:p xmlns:a="http://schemas.openxmlformats.org/drawingml/2006/main">
            <a:pPr algn="ctr">
              <a:defRPr sz="1725" b="0">
                <a:solidFill>
                  <a:srgbClr val="000000"/>
                </a:solidFill>
                <a:latin typeface="Noto Sans CJK JP"/>
                <a:ea typeface="Noto Sans CJK JP"/>
                <a:cs typeface="Noto Sans CJK JP"/>
              </a:defRPr>
            </a:pPr>
            <a:r>
              <a:rPr sz="1725" b="0">
                <a:solidFill>
                  <a:srgbClr val="000000"/>
                </a:solidFill>
                <a:latin typeface="Noto Sans CJK JP"/>
                <a:ea typeface="Noto Sans CJK JP"/>
                <a:cs typeface="Noto Sans CJK JP"/>
              </a:rPr>
              <a:t>じ / ぢ = ji   ず / づ = zu</a:t>
            </a:r>
          </a:p>
        </p:txBody>
      </p:sp>
      <p:sp>
        <p:nvSpPr>
          <p:cNvPr id="7" name="Handakuten label">
            <a:extLst xmlns:a="http://schemas.openxmlformats.org/drawingml/2006/main">
              <a:ext uri="{FF2B5EF4-FFF2-40B4-BE49-F238E27FC236}">
                <a16:creationId xmlns:a16="http://schemas.microsoft.com/office/drawing/2014/main" id="{FED3EBBF-453C-4FB2-8FF1-CD6EAE71C7AA}"/>
              </a:ext>
            </a:extLst>
          </p:cNvPr>
          <p:cNvSpPr>
            <a:spLocks xmlns:a="http://schemas.openxmlformats.org/drawingml/2006/main" noGrp="1"/>
          </p:cNvSpPr>
          <p:nvPr/>
        </p:nvSpPr>
        <p:spPr>
          <a:xfrm xmlns:a="http://schemas.openxmlformats.org/drawingml/2006/main">
            <a:off x="457200" y="34194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95959"/>
                </a:solidFill>
                <a:latin typeface="Arial"/>
                <a:ea typeface="Arial"/>
                <a:cs typeface="Arial"/>
              </a:defRPr>
            </a:pPr>
            <a:r>
              <a:rPr sz="1875" b="1">
                <a:solidFill>
                  <a:srgbClr val="595959"/>
                </a:solidFill>
                <a:latin typeface="Arial"/>
                <a:ea typeface="Arial"/>
                <a:cs typeface="Arial"/>
              </a:rPr>
              <a:t>Handakuten: a small circle</a:t>
            </a:r>
          </a:p>
        </p:txBody>
      </p:sp>
      <p:sp>
        <p:nvSpPr>
          <p:cNvPr id="8" name="Ha becomes pa">
            <a:extLst xmlns:a="http://schemas.openxmlformats.org/drawingml/2006/main">
              <a:ext uri="{FF2B5EF4-FFF2-40B4-BE49-F238E27FC236}">
                <a16:creationId xmlns:a16="http://schemas.microsoft.com/office/drawing/2014/main" id="{B0C905E5-89AF-4292-BEC9-22CB2D760673}"/>
              </a:ext>
            </a:extLst>
          </p:cNvPr>
          <p:cNvSpPr>
            <a:spLocks xmlns:a="http://schemas.openxmlformats.org/drawingml/2006/main" noGrp="1"/>
          </p:cNvSpPr>
          <p:nvPr/>
        </p:nvSpPr>
        <p:spPr>
          <a:xfrm xmlns:a="http://schemas.openxmlformats.org/drawingml/2006/main">
            <a:off x="457200" y="3762375"/>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0">
                <a:solidFill>
                  <a:srgbClr val="000000"/>
                </a:solidFill>
                <a:latin typeface="Noto Sans CJK JP"/>
                <a:ea typeface="Noto Sans CJK JP"/>
                <a:cs typeface="Noto Sans CJK JP"/>
              </a:defRPr>
            </a:pPr>
            <a:r>
              <a:rPr sz="3300" b="0">
                <a:solidFill>
                  <a:srgbClr val="000000"/>
                </a:solidFill>
                <a:latin typeface="Noto Sans CJK JP"/>
                <a:ea typeface="Noto Sans CJK JP"/>
                <a:cs typeface="Noto Sans CJK JP"/>
              </a:rPr>
              <a:t>は + ゜ = ぱ</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0f805aaf7584402"/>
          <a:stretch xmlns:a="http://schemas.openxmlformats.org/drawingml/2006/main"/>
        </p:blipFill>
        <p:spPr>
          <a:xfrm xmlns:a="http://schemas.openxmlformats.org/drawingml/2006/main">
            <a:off x="5350777" y="1095375"/>
            <a:ext cx="2776321" cy="3352800"/>
          </a:xfrm>
          <a:prstGeom xmlns:a="http://schemas.openxmlformats.org/drawingml/2006/main" prst="rect">
            <a:avLst/>
          </a:prstGeom>
        </p:spPr>
      </p:pic>
      <p:sp>
        <p:nvSpPr>
          <p:cNvPr id="200" name="ha">
            <a:extLst xmlns:a="http://schemas.openxmlformats.org/drawingml/2006/main">
              <a:ext uri="{FF2B5EF4-FFF2-40B4-BE49-F238E27FC236}">
                <a16:creationId xmlns:a16="http://schemas.microsoft.com/office/drawing/2014/main" id="{F61ACC0B-2794-49EE-A232-B054B5A5B762}"/>
              </a:ext>
            </a:extLst>
          </p:cNvPr>
          <p:cNvSpPr>
            <a:spLocks xmlns:a="http://schemas.openxmlformats.org/drawingml/2006/main" noGrp="1"/>
          </p:cNvSpPr>
          <p:nvPr/>
        </p:nvSpPr>
        <p:spPr>
          <a:xfrm xmlns:a="http://schemas.openxmlformats.org/drawingml/2006/main">
            <a:off x="1419225" y="42862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0">
                <a:solidFill>
                  <a:srgbClr val="000000"/>
                </a:solidFill>
                <a:latin typeface="Arial"/>
                <a:ea typeface="Arial"/>
                <a:cs typeface="Arial"/>
              </a:defRPr>
            </a:pPr>
            <a:r>
              <a:rPr sz="1500" b="0">
                <a:solidFill>
                  <a:srgbClr val="000000"/>
                </a:solidFill>
                <a:latin typeface="Arial"/>
                <a:ea typeface="Arial"/>
                <a:cs typeface="Arial"/>
              </a:rPr>
              <a:t>ha</a:t>
            </a:r>
          </a:p>
        </p:txBody>
      </p:sp>
      <p:sp>
        <p:nvSpPr>
          <p:cNvPr id="201" name="pa">
            <a:extLst xmlns:a="http://schemas.openxmlformats.org/drawingml/2006/main">
              <a:ext uri="{FF2B5EF4-FFF2-40B4-BE49-F238E27FC236}">
                <a16:creationId xmlns:a16="http://schemas.microsoft.com/office/drawing/2014/main" id="{F61ACC0B-2794-49EE-A232-B054B5A5B762}"/>
              </a:ext>
            </a:extLst>
          </p:cNvPr>
          <p:cNvSpPr>
            <a:spLocks xmlns:a="http://schemas.openxmlformats.org/drawingml/2006/main" noGrp="1"/>
          </p:cNvSpPr>
          <p:nvPr/>
        </p:nvSpPr>
        <p:spPr>
          <a:xfrm xmlns:a="http://schemas.openxmlformats.org/drawingml/2006/main">
            <a:off x="3167062" y="42862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0">
                <a:solidFill>
                  <a:srgbClr val="000000"/>
                </a:solidFill>
                <a:latin typeface="Arial"/>
                <a:ea typeface="Arial"/>
                <a:cs typeface="Arial"/>
              </a:defRPr>
            </a:pPr>
            <a:r>
              <a:rPr sz="1500" b="0">
                <a:solidFill>
                  <a:srgbClr val="000000"/>
                </a:solidFill>
                <a:latin typeface="Arial"/>
                <a:ea typeface="Arial"/>
                <a:cs typeface="Arial"/>
              </a:rPr>
              <a:t>pa</a:t>
            </a:r>
          </a:p>
        </p:txBody>
      </p:sp>
      <p:sp>
        <p:nvSpPr>
          <p:cNvPr id="202" name="(h row only)">
            <a:extLst xmlns:a="http://schemas.openxmlformats.org/drawingml/2006/main">
              <a:ext uri="{FF2B5EF4-FFF2-40B4-BE49-F238E27FC236}">
                <a16:creationId xmlns:a16="http://schemas.microsoft.com/office/drawing/2014/main" id="{F61ACC0B-2794-49EE-A232-B054B5A5B762}"/>
              </a:ext>
            </a:extLst>
          </p:cNvPr>
          <p:cNvSpPr>
            <a:spLocks xmlns:a="http://schemas.openxmlformats.org/drawingml/2006/main" noGrp="1"/>
          </p:cNvSpPr>
          <p:nvPr/>
        </p:nvSpPr>
        <p:spPr>
          <a:xfrm xmlns:a="http://schemas.openxmlformats.org/drawingml/2006/main">
            <a:off x="3619500" y="4286250"/>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0">
                <a:solidFill>
                  <a:srgbClr val="000000"/>
                </a:solidFill>
                <a:latin typeface="Arial"/>
                <a:ea typeface="Arial"/>
                <a:cs typeface="Arial"/>
              </a:defRPr>
            </a:pPr>
            <a:r>
              <a:rPr sz="1200" b="0">
                <a:solidFill>
                  <a:srgbClr val="000000"/>
                </a:solidFill>
                <a:latin typeface="Arial"/>
                <a:ea typeface="Arial"/>
                <a:cs typeface="Arial"/>
              </a:rPr>
              <a:t>(h row only)</a:t>
            </a:r>
          </a:p>
        </p:txBody>
      </p:sp>
    </p:spTree>
    <p:extLst>
      <p:ext uri="{BB962C8B-B14F-4D97-AF65-F5344CB8AC3E}">
        <p14:creationId xmlns:p14="http://schemas.microsoft.com/office/powerpoint/2010/main" val="193532192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ncept title">
            <a:extLst xmlns:a="http://schemas.openxmlformats.org/drawingml/2006/main">
              <a:ext uri="{FF2B5EF4-FFF2-40B4-BE49-F238E27FC236}">
                <a16:creationId xmlns:a16="http://schemas.microsoft.com/office/drawing/2014/main" id="{AF41426C-7F83-4828-82DC-1A7732260651}"/>
              </a:ext>
            </a:extLst>
          </p:cNvPr>
          <p:cNvSpPr>
            <a:spLocks xmlns:a="http://schemas.openxmlformats.org/drawingml/2006/main" noGrp="1"/>
          </p:cNvSpPr>
          <p:nvPr/>
        </p:nvSpPr>
        <p:spPr>
          <a:xfrm xmlns:a="http://schemas.openxmlformats.org/drawingml/2006/main">
            <a:off x="428625" y="361950"/>
            <a:ext cx="828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595959"/>
                </a:solidFill>
                <a:latin typeface="Arial"/>
                <a:ea typeface="Arial"/>
                <a:cs typeface="Arial"/>
              </a:defRPr>
            </a:pPr>
            <a:r>
              <a:rPr sz="2625" b="1">
                <a:solidFill>
                  <a:srgbClr val="595959"/>
                </a:solidFill>
                <a:latin typeface="Arial"/>
                <a:ea typeface="Arial"/>
                <a:cs typeface="Arial"/>
              </a:rPr>
              <a:t>Small ゃ・ゅ・ょ: Combined Sounds</a:t>
            </a:r>
          </a:p>
        </p:txBody>
      </p:sp>
      <p:sp xmlns:a="http://schemas.openxmlformats.org/drawingml/2006/main" xmlns:r="http://schemas.openxmlformats.org/officeDocument/2006/relationships">
        <p:nvSpPr>
          <p:cNvPr id="2" name="Chart attribution"/>
          <p:cNvSpPr txBox="1"/>
          <p:nvPr/>
        </p:nvSpPr>
        <p:spPr>
          <a:xfrm>
            <a:off x="619125" y="4600575"/>
            <a:ext cx="7905750" cy="400050"/>
          </a:xfrm>
          <a:prstGeom prst="rect">
            <a:avLst/>
          </a:prstGeom>
          <a:noFill/>
          <a:ln>
            <a:noFill/>
          </a:ln>
        </p:spPr>
        <p:txBody>
          <a:bodyPr anchorCtr="0" anchor="t" bIns="91425" lIns="91425" spcFirstLastPara="1" rIns="91425" wrap="square" tIns="91425">
            <a:spAutoFit/>
          </a:bodyPr>
          <a:lstStyle/>
          <a:p>
            <a:pPr algn="ctr">
              <a:buNone/>
            </a:pPr>
            <a:r>
              <a:rPr sz="1200" lang="en" b="1">
                <a:solidFill>
                  <a:schemeClr val="dk1"/>
                </a:solidFill>
              </a:rPr>
              <a:t>Chart:</a:t>
            </a:r>
            <a:r>
              <a:rPr sz="1200" lang="en">
                <a:solidFill>
                  <a:schemeClr val="dk1"/>
                </a:solidFill>
              </a:rPr>
              <a:t> TealComet, </a:t>
            </a:r>
            <a:r>
              <a:rPr sz="1200" lang="en" i="1" u="sng">
                <a:solidFill>
                  <a:schemeClr val="hlink"/>
                </a:solidFill>
                <a:hlinkClick r:id="rIdChartSource"/>
              </a:rPr>
              <a:t>Hiragana Chart Seion Dakuon Yoon</a:t>
            </a:r>
            <a:r>
              <a:rPr sz="1200" lang="en">
                <a:solidFill>
                  <a:schemeClr val="dk1"/>
                </a:solidFill>
              </a:rPr>
              <a:t> — </a:t>
            </a:r>
            <a:r>
              <a:rPr sz="1200" lang="en" u="sng">
                <a:solidFill>
                  <a:schemeClr val="hlink"/>
                </a:solidFill>
                <a:hlinkClick r:id="rIdChartLicense"/>
              </a:rPr>
              <a:t>CC0 1.0</a:t>
            </a:r>
          </a:p>
          <a:p>
            <a:pPr algn="ctr">
              <a:buNone/>
            </a:pPr>
            <a:r>
              <a:rPr sz="1200" lang="en">
                <a:solidFill>
                  <a:schemeClr val="dk1"/>
                </a:solidFill>
              </a:rPr>
              <a:t>Wikimedia Commons · Cropped/resized from the original work</a:t>
            </a:r>
          </a:p>
        </p:txBody>
      </p:sp>
      <p:sp>
        <p:nvSpPr>
          <p:cNvPr id="3" name="Yoon rule">
            <a:extLst xmlns:a="http://schemas.openxmlformats.org/drawingml/2006/main">
              <a:ext uri="{FF2B5EF4-FFF2-40B4-BE49-F238E27FC236}">
                <a16:creationId xmlns:a16="http://schemas.microsoft.com/office/drawing/2014/main" id="{3DD3B6D4-E379-4FEA-B14D-B7BC1417AD6C}"/>
              </a:ext>
            </a:extLst>
          </p:cNvPr>
          <p:cNvSpPr>
            <a:spLocks xmlns:a="http://schemas.openxmlformats.org/drawingml/2006/main" noGrp="1"/>
          </p:cNvSpPr>
          <p:nvPr/>
        </p:nvSpPr>
        <p:spPr>
          <a:xfrm xmlns:a="http://schemas.openxmlformats.org/drawingml/2006/main">
            <a:off x="476250" y="1133475"/>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Noto Sans CJK JP"/>
                <a:ea typeface="Noto Sans CJK JP"/>
                <a:cs typeface="Noto Sans CJK JP"/>
              </a:defRPr>
            </a:pPr>
            <a:r>
              <a:rPr sz="1875" b="0">
                <a:solidFill>
                  <a:srgbClr val="000000"/>
                </a:solidFill>
                <a:latin typeface="Noto Sans CJK JP"/>
                <a:ea typeface="Noto Sans CJK JP"/>
                <a:cs typeface="Noto Sans CJK JP"/>
              </a:rPr>
              <a:t>Add a small ゃ, ゅ, or ょ to an i-row kana.</a:t>
            </a:r>
          </a:p>
        </p:txBody>
      </p:sp>
      <p:sp>
        <p:nvSpPr>
          <p:cNvPr id="6" name="Full-sized comparison">
            <a:extLst xmlns:a="http://schemas.openxmlformats.org/drawingml/2006/main">
              <a:ext uri="{FF2B5EF4-FFF2-40B4-BE49-F238E27FC236}">
                <a16:creationId xmlns:a16="http://schemas.microsoft.com/office/drawing/2014/main" id="{9C3945D9-4F27-493F-94B9-1D25697553F8}"/>
              </a:ext>
            </a:extLst>
          </p:cNvPr>
          <p:cNvSpPr>
            <a:spLocks xmlns:a="http://schemas.openxmlformats.org/drawingml/2006/main" noGrp="1"/>
          </p:cNvSpPr>
          <p:nvPr/>
        </p:nvSpPr>
        <p:spPr>
          <a:xfrm xmlns:a="http://schemas.openxmlformats.org/drawingml/2006/main">
            <a:off x="476250" y="30480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0">
                <a:solidFill>
                  <a:srgbClr val="000000"/>
                </a:solidFill>
                <a:latin typeface="Noto Sans CJK JP"/>
                <a:ea typeface="Noto Sans CJK JP"/>
                <a:cs typeface="Noto Sans CJK JP"/>
              </a:defRPr>
            </a:pPr>
            <a:r>
              <a:rPr sz="3300" b="0">
                <a:solidFill>
                  <a:srgbClr val="000000"/>
                </a:solidFill>
                <a:latin typeface="Noto Sans CJK JP"/>
                <a:ea typeface="Noto Sans CJK JP"/>
                <a:cs typeface="Noto Sans CJK JP"/>
              </a:rPr>
              <a:t>きや</a:t>
            </a:r>
          </a:p>
        </p:txBody>
      </p:sp>
      <p:sp>
        <p:nvSpPr>
          <p:cNvPr id="7" name="Two beats">
            <a:extLst xmlns:a="http://schemas.openxmlformats.org/drawingml/2006/main">
              <a:ext uri="{FF2B5EF4-FFF2-40B4-BE49-F238E27FC236}">
                <a16:creationId xmlns:a16="http://schemas.microsoft.com/office/drawing/2014/main" id="{C98E101B-8E1C-42FB-9999-0CE5683D2A61}"/>
              </a:ext>
            </a:extLst>
          </p:cNvPr>
          <p:cNvSpPr>
            <a:spLocks xmlns:a="http://schemas.openxmlformats.org/drawingml/2006/main" noGrp="1"/>
          </p:cNvSpPr>
          <p:nvPr/>
        </p:nvSpPr>
        <p:spPr>
          <a:xfrm xmlns:a="http://schemas.openxmlformats.org/drawingml/2006/main">
            <a:off x="476250" y="367665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000000"/>
                </a:solidFill>
                <a:latin typeface="Arial"/>
                <a:ea typeface="Arial"/>
                <a:cs typeface="Arial"/>
              </a:defRPr>
            </a:pPr>
            <a:r>
              <a:rPr sz="1800" b="0">
                <a:solidFill>
                  <a:srgbClr val="000000"/>
                </a:solidFill>
                <a:latin typeface="Arial"/>
                <a:ea typeface="Arial"/>
                <a:cs typeface="Arial"/>
              </a:rPr>
              <a:t>ki-ya</a:t>
            </a:r>
          </a:p>
          <a:p xmlns:a="http://schemas.openxmlformats.org/drawingml/2006/main">
            <a:pPr algn="ctr">
              <a:defRPr sz="1800" b="0">
                <a:solidFill>
                  <a:srgbClr val="000000"/>
                </a:solidFill>
                <a:latin typeface="Arial"/>
                <a:ea typeface="Arial"/>
                <a:cs typeface="Arial"/>
              </a:defRPr>
            </a:pPr>
            <a:r>
              <a:rPr sz="1800" b="0">
                <a:solidFill>
                  <a:srgbClr val="000000"/>
                </a:solidFill>
                <a:latin typeface="Arial"/>
                <a:ea typeface="Arial"/>
                <a:cs typeface="Arial"/>
              </a:rPr>
              <a:t>Two beats</a:t>
            </a:r>
          </a:p>
        </p:txBody>
      </p:sp>
      <p:sp>
        <p:nvSpPr>
          <p:cNvPr id="8" name="Small-sized comparison">
            <a:extLst xmlns:a="http://schemas.openxmlformats.org/drawingml/2006/main">
              <a:ext uri="{FF2B5EF4-FFF2-40B4-BE49-F238E27FC236}">
                <a16:creationId xmlns:a16="http://schemas.microsoft.com/office/drawing/2014/main" id="{383F1CEF-730E-4225-ACAD-FA7BF543EFF3}"/>
              </a:ext>
            </a:extLst>
          </p:cNvPr>
          <p:cNvSpPr>
            <a:spLocks xmlns:a="http://schemas.openxmlformats.org/drawingml/2006/main" noGrp="1"/>
          </p:cNvSpPr>
          <p:nvPr/>
        </p:nvSpPr>
        <p:spPr>
          <a:xfrm xmlns:a="http://schemas.openxmlformats.org/drawingml/2006/main">
            <a:off x="2619375" y="30480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0">
                <a:solidFill>
                  <a:srgbClr val="000000"/>
                </a:solidFill>
                <a:latin typeface="Noto Sans CJK JP"/>
                <a:ea typeface="Noto Sans CJK JP"/>
                <a:cs typeface="Noto Sans CJK JP"/>
              </a:defRPr>
            </a:pPr>
            <a:r>
              <a:rPr sz="3300" b="0">
                <a:solidFill>
                  <a:srgbClr val="000000"/>
                </a:solidFill>
                <a:latin typeface="Noto Sans CJK JP"/>
                <a:ea typeface="Noto Sans CJK JP"/>
                <a:cs typeface="Noto Sans CJK JP"/>
              </a:rPr>
              <a:t>きゃ</a:t>
            </a:r>
          </a:p>
        </p:txBody>
      </p:sp>
      <p:sp>
        <p:nvSpPr>
          <p:cNvPr id="9" name="One beat">
            <a:extLst xmlns:a="http://schemas.openxmlformats.org/drawingml/2006/main">
              <a:ext uri="{FF2B5EF4-FFF2-40B4-BE49-F238E27FC236}">
                <a16:creationId xmlns:a16="http://schemas.microsoft.com/office/drawing/2014/main" id="{C12733AA-0A81-44EA-9A4C-D0960473C77F}"/>
              </a:ext>
            </a:extLst>
          </p:cNvPr>
          <p:cNvSpPr>
            <a:spLocks xmlns:a="http://schemas.openxmlformats.org/drawingml/2006/main" noGrp="1"/>
          </p:cNvSpPr>
          <p:nvPr/>
        </p:nvSpPr>
        <p:spPr>
          <a:xfrm xmlns:a="http://schemas.openxmlformats.org/drawingml/2006/main">
            <a:off x="2619375" y="367665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000000"/>
                </a:solidFill>
                <a:latin typeface="Arial"/>
                <a:ea typeface="Arial"/>
                <a:cs typeface="Arial"/>
              </a:defRPr>
            </a:pPr>
            <a:r>
              <a:rPr sz="1800" b="0">
                <a:solidFill>
                  <a:srgbClr val="000000"/>
                </a:solidFill>
                <a:latin typeface="Arial"/>
                <a:ea typeface="Arial"/>
                <a:cs typeface="Arial"/>
              </a:rPr>
              <a:t>kya</a:t>
            </a:r>
          </a:p>
          <a:p xmlns:a="http://schemas.openxmlformats.org/drawingml/2006/main">
            <a:pPr algn="ctr">
              <a:defRPr sz="1800" b="0">
                <a:solidFill>
                  <a:srgbClr val="000000"/>
                </a:solidFill>
                <a:latin typeface="Arial"/>
                <a:ea typeface="Arial"/>
                <a:cs typeface="Arial"/>
              </a:defRPr>
            </a:pPr>
            <a:r>
              <a:rPr sz="1800" b="0">
                <a:solidFill>
                  <a:srgbClr val="000000"/>
                </a:solidFill>
                <a:latin typeface="Arial"/>
                <a:ea typeface="Arial"/>
                <a:cs typeface="Arial"/>
              </a:rPr>
              <a:t>One beat</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9bb9fe3a1cb43a9"/>
          <a:stretch xmlns:a="http://schemas.openxmlformats.org/drawingml/2006/main"/>
        </p:blipFill>
        <p:spPr>
          <a:xfrm xmlns:a="http://schemas.openxmlformats.org/drawingml/2006/main">
            <a:off x="5190627" y="2857500"/>
            <a:ext cx="3096621" cy="1666875"/>
          </a:xfrm>
          <a:prstGeom xmlns:a="http://schemas.openxmlformats.org/drawingml/2006/main" prst="rect">
            <a:avLst/>
          </a:prstGeom>
        </p:spPr>
      </p:pic>
      <p:sp>
        <p:nvSpPr>
          <p:cNvPr id="240" name="き">
            <a:extLst xmlns:a="http://schemas.openxmlformats.org/drawingml/2006/main">
              <a:ext uri="{FF2B5EF4-FFF2-40B4-BE49-F238E27FC236}">
                <a16:creationId xmlns:a16="http://schemas.microsoft.com/office/drawing/2014/main" id="{461D8DF5-A844-4E7C-9B17-9AB021B891FA}"/>
              </a:ext>
            </a:extLst>
          </p:cNvPr>
          <p:cNvSpPr>
            <a:spLocks xmlns:a="http://schemas.openxmlformats.org/drawingml/2006/main" noGrp="1"/>
          </p:cNvSpPr>
          <p:nvPr/>
        </p:nvSpPr>
        <p:spPr>
          <a:xfrm xmlns:a="http://schemas.openxmlformats.org/drawingml/2006/main">
            <a:off x="2547938" y="1638300"/>
            <a:ext cx="619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0">
                <a:solidFill>
                  <a:srgbClr val="000000"/>
                </a:solidFill>
                <a:latin typeface="Noto Sans CJK JP"/>
                <a:ea typeface="Noto Sans CJK JP"/>
                <a:cs typeface="Noto Sans CJK JP"/>
              </a:defRPr>
            </a:pPr>
            <a:r>
              <a:rPr sz="3600" b="0">
                <a:solidFill>
                  <a:srgbClr val="000000"/>
                </a:solidFill>
                <a:latin typeface="Noto Sans CJK JP"/>
                <a:ea typeface="Noto Sans CJK JP"/>
                <a:cs typeface="Noto Sans CJK JP"/>
              </a:rPr>
              <a:t>き</a:t>
            </a:r>
          </a:p>
        </p:txBody>
      </p:sp>
      <p:sp>
        <p:nvSpPr>
          <p:cNvPr id="241" name="+">
            <a:extLst xmlns:a="http://schemas.openxmlformats.org/drawingml/2006/main">
              <a:ext uri="{FF2B5EF4-FFF2-40B4-BE49-F238E27FC236}">
                <a16:creationId xmlns:a16="http://schemas.microsoft.com/office/drawing/2014/main" id="{461D8DF5-A844-4E7C-9B17-9AB021B891FA}"/>
              </a:ext>
            </a:extLst>
          </p:cNvPr>
          <p:cNvSpPr>
            <a:spLocks xmlns:a="http://schemas.openxmlformats.org/drawingml/2006/main" noGrp="1"/>
          </p:cNvSpPr>
          <p:nvPr/>
        </p:nvSpPr>
        <p:spPr>
          <a:xfrm xmlns:a="http://schemas.openxmlformats.org/drawingml/2006/main">
            <a:off x="3381375" y="1638300"/>
            <a:ext cx="47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0">
                <a:solidFill>
                  <a:srgbClr val="000000"/>
                </a:solidFill>
                <a:latin typeface="Noto Sans CJK JP"/>
                <a:ea typeface="Noto Sans CJK JP"/>
                <a:cs typeface="Noto Sans CJK JP"/>
              </a:defRPr>
            </a:pPr>
            <a:r>
              <a:rPr sz="3600" b="0">
                <a:solidFill>
                  <a:srgbClr val="000000"/>
                </a:solidFill>
                <a:latin typeface="Noto Sans CJK JP"/>
                <a:ea typeface="Noto Sans CJK JP"/>
                <a:cs typeface="Noto Sans CJK JP"/>
              </a:rPr>
              <a:t>+</a:t>
            </a:r>
          </a:p>
        </p:txBody>
      </p:sp>
      <p:sp>
        <p:nvSpPr>
          <p:cNvPr id="242" name="ゃ">
            <a:extLst xmlns:a="http://schemas.openxmlformats.org/drawingml/2006/main">
              <a:ext uri="{FF2B5EF4-FFF2-40B4-BE49-F238E27FC236}">
                <a16:creationId xmlns:a16="http://schemas.microsoft.com/office/drawing/2014/main" id="{461D8DF5-A844-4E7C-9B17-9AB021B891FA}"/>
              </a:ext>
            </a:extLst>
          </p:cNvPr>
          <p:cNvSpPr>
            <a:spLocks xmlns:a="http://schemas.openxmlformats.org/drawingml/2006/main" noGrp="1"/>
          </p:cNvSpPr>
          <p:nvPr/>
        </p:nvSpPr>
        <p:spPr>
          <a:xfrm xmlns:a="http://schemas.openxmlformats.org/drawingml/2006/main">
            <a:off x="4071938" y="1638300"/>
            <a:ext cx="619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0">
                <a:solidFill>
                  <a:srgbClr val="000000"/>
                </a:solidFill>
                <a:latin typeface="Noto Sans CJK JP"/>
                <a:ea typeface="Noto Sans CJK JP"/>
                <a:cs typeface="Noto Sans CJK JP"/>
              </a:defRPr>
            </a:pPr>
            <a:r>
              <a:rPr sz="3600" b="0">
                <a:solidFill>
                  <a:srgbClr val="000000"/>
                </a:solidFill>
                <a:latin typeface="Noto Sans CJK JP"/>
                <a:ea typeface="Noto Sans CJK JP"/>
                <a:cs typeface="Noto Sans CJK JP"/>
              </a:rPr>
              <a:t>ゃ</a:t>
            </a:r>
          </a:p>
        </p:txBody>
      </p:sp>
      <p:sp>
        <p:nvSpPr>
          <p:cNvPr id="243" name="=">
            <a:extLst xmlns:a="http://schemas.openxmlformats.org/drawingml/2006/main">
              <a:ext uri="{FF2B5EF4-FFF2-40B4-BE49-F238E27FC236}">
                <a16:creationId xmlns:a16="http://schemas.microsoft.com/office/drawing/2014/main" id="{461D8DF5-A844-4E7C-9B17-9AB021B891FA}"/>
              </a:ext>
            </a:extLst>
          </p:cNvPr>
          <p:cNvSpPr>
            <a:spLocks xmlns:a="http://schemas.openxmlformats.org/drawingml/2006/main" noGrp="1"/>
          </p:cNvSpPr>
          <p:nvPr/>
        </p:nvSpPr>
        <p:spPr>
          <a:xfrm xmlns:a="http://schemas.openxmlformats.org/drawingml/2006/main">
            <a:off x="5000625" y="1638300"/>
            <a:ext cx="47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0">
                <a:solidFill>
                  <a:srgbClr val="000000"/>
                </a:solidFill>
                <a:latin typeface="Noto Sans CJK JP"/>
                <a:ea typeface="Noto Sans CJK JP"/>
                <a:cs typeface="Noto Sans CJK JP"/>
              </a:defRPr>
            </a:pPr>
            <a:r>
              <a:rPr sz="3600" b="0">
                <a:solidFill>
                  <a:srgbClr val="000000"/>
                </a:solidFill>
                <a:latin typeface="Noto Sans CJK JP"/>
                <a:ea typeface="Noto Sans CJK JP"/>
                <a:cs typeface="Noto Sans CJK JP"/>
              </a:rPr>
              <a:t>=</a:t>
            </a:r>
          </a:p>
        </p:txBody>
      </p:sp>
      <p:sp>
        <p:nvSpPr>
          <p:cNvPr id="244" name="きゃ">
            <a:extLst xmlns:a="http://schemas.openxmlformats.org/drawingml/2006/main">
              <a:ext uri="{FF2B5EF4-FFF2-40B4-BE49-F238E27FC236}">
                <a16:creationId xmlns:a16="http://schemas.microsoft.com/office/drawing/2014/main" id="{461D8DF5-A844-4E7C-9B17-9AB021B891FA}"/>
              </a:ext>
            </a:extLst>
          </p:cNvPr>
          <p:cNvSpPr>
            <a:spLocks xmlns:a="http://schemas.openxmlformats.org/drawingml/2006/main" noGrp="1"/>
          </p:cNvSpPr>
          <p:nvPr/>
        </p:nvSpPr>
        <p:spPr>
          <a:xfrm xmlns:a="http://schemas.openxmlformats.org/drawingml/2006/main">
            <a:off x="5667375" y="1638300"/>
            <a:ext cx="142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0">
                <a:solidFill>
                  <a:srgbClr val="000000"/>
                </a:solidFill>
                <a:latin typeface="Noto Sans CJK JP"/>
                <a:ea typeface="Noto Sans CJK JP"/>
                <a:cs typeface="Noto Sans CJK JP"/>
              </a:defRPr>
            </a:pPr>
            <a:r>
              <a:rPr sz="3600" b="0">
                <a:solidFill>
                  <a:srgbClr val="000000"/>
                </a:solidFill>
                <a:latin typeface="Noto Sans CJK JP"/>
                <a:ea typeface="Noto Sans CJK JP"/>
                <a:cs typeface="Noto Sans CJK JP"/>
              </a:rPr>
              <a:t>きゃ</a:t>
            </a:r>
          </a:p>
        </p:txBody>
      </p:sp>
      <p:sp>
        <p:nvSpPr>
          <p:cNvPr id="200" name="ki">
            <a:extLst xmlns:a="http://schemas.openxmlformats.org/drawingml/2006/main">
              <a:ext uri="{FF2B5EF4-FFF2-40B4-BE49-F238E27FC236}">
                <a16:creationId xmlns:a16="http://schemas.microsoft.com/office/drawing/2014/main" id="{72024AEF-B1A8-48FD-BAB5-B5FA7DE3CB9D}"/>
              </a:ext>
            </a:extLst>
          </p:cNvPr>
          <p:cNvSpPr>
            <a:spLocks xmlns:a="http://schemas.openxmlformats.org/drawingml/2006/main" noGrp="1"/>
          </p:cNvSpPr>
          <p:nvPr/>
        </p:nvSpPr>
        <p:spPr>
          <a:xfrm xmlns:a="http://schemas.openxmlformats.org/drawingml/2006/main">
            <a:off x="2571750" y="23336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0">
                <a:solidFill>
                  <a:srgbClr val="000000"/>
                </a:solidFill>
                <a:latin typeface="Arial"/>
                <a:ea typeface="Arial"/>
                <a:cs typeface="Arial"/>
              </a:defRPr>
            </a:pPr>
            <a:r>
              <a:rPr sz="1725" b="0">
                <a:solidFill>
                  <a:srgbClr val="000000"/>
                </a:solidFill>
                <a:latin typeface="Arial"/>
                <a:ea typeface="Arial"/>
                <a:cs typeface="Arial"/>
              </a:rPr>
              <a:t>ki</a:t>
            </a:r>
          </a:p>
        </p:txBody>
      </p:sp>
      <p:sp>
        <p:nvSpPr>
          <p:cNvPr id="201" name="small ya">
            <a:extLst xmlns:a="http://schemas.openxmlformats.org/drawingml/2006/main">
              <a:ext uri="{FF2B5EF4-FFF2-40B4-BE49-F238E27FC236}">
                <a16:creationId xmlns:a16="http://schemas.microsoft.com/office/drawing/2014/main" id="{72024AEF-B1A8-48FD-BAB5-B5FA7DE3CB9D}"/>
              </a:ext>
            </a:extLst>
          </p:cNvPr>
          <p:cNvSpPr>
            <a:spLocks xmlns:a="http://schemas.openxmlformats.org/drawingml/2006/main" noGrp="1"/>
          </p:cNvSpPr>
          <p:nvPr/>
        </p:nvSpPr>
        <p:spPr>
          <a:xfrm xmlns:a="http://schemas.openxmlformats.org/drawingml/2006/main">
            <a:off x="3810000" y="2333625"/>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0">
                <a:solidFill>
                  <a:srgbClr val="000000"/>
                </a:solidFill>
                <a:latin typeface="Arial"/>
                <a:ea typeface="Arial"/>
                <a:cs typeface="Arial"/>
              </a:defRPr>
            </a:pPr>
            <a:r>
              <a:rPr sz="1725" b="0">
                <a:solidFill>
                  <a:srgbClr val="000000"/>
                </a:solidFill>
                <a:latin typeface="Arial"/>
                <a:ea typeface="Arial"/>
                <a:cs typeface="Arial"/>
              </a:rPr>
              <a:t>small ya</a:t>
            </a:r>
          </a:p>
        </p:txBody>
      </p:sp>
      <p:sp>
        <p:nvSpPr>
          <p:cNvPr id="202" name="kya (one beat)">
            <a:extLst xmlns:a="http://schemas.openxmlformats.org/drawingml/2006/main">
              <a:ext uri="{FF2B5EF4-FFF2-40B4-BE49-F238E27FC236}">
                <a16:creationId xmlns:a16="http://schemas.microsoft.com/office/drawing/2014/main" id="{72024AEF-B1A8-48FD-BAB5-B5FA7DE3CB9D}"/>
              </a:ext>
            </a:extLst>
          </p:cNvPr>
          <p:cNvSpPr>
            <a:spLocks xmlns:a="http://schemas.openxmlformats.org/drawingml/2006/main" noGrp="1"/>
          </p:cNvSpPr>
          <p:nvPr/>
        </p:nvSpPr>
        <p:spPr>
          <a:xfrm xmlns:a="http://schemas.openxmlformats.org/drawingml/2006/main">
            <a:off x="5381625" y="2333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0">
                <a:solidFill>
                  <a:srgbClr val="000000"/>
                </a:solidFill>
                <a:latin typeface="Arial"/>
                <a:ea typeface="Arial"/>
                <a:cs typeface="Arial"/>
              </a:defRPr>
            </a:pPr>
            <a:r>
              <a:rPr sz="1725" b="0">
                <a:solidFill>
                  <a:srgbClr val="000000"/>
                </a:solidFill>
                <a:latin typeface="Arial"/>
                <a:ea typeface="Arial"/>
                <a:cs typeface="Arial"/>
              </a:rPr>
              <a:t>kya (one beat)</a:t>
            </a:r>
          </a:p>
        </p:txBody>
      </p:sp>
    </p:spTree>
    <p:extLst>
      <p:ext uri="{BB962C8B-B14F-4D97-AF65-F5344CB8AC3E}">
        <p14:creationId xmlns:p14="http://schemas.microsoft.com/office/powerpoint/2010/main" val="1077854963"/>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Hiragana Particles: は・へ・を">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2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Hiragana Particles: は・へ・を</ns0:t>
            </ns0:r>
          </ns0:p>
        </p:txBody>
      </p:sp>
      <p:sp>
        <p:nvSpPr>
          <p:cNvPr id="2" name="Some hiragana sound different when they are particl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1500" y="1047750"/>
            <a:ext cx="800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ea typeface="Noto Sans CJK JP"/>
              </ns0:rPr>
              <ns0:t>Some hiragana sound different when they are particles.</ns0:t>
            </ns0:r>
          </ns0:p>
        </p:txBody>
      </p:sp>
      <p:sp>
        <p:nvSpPr>
          <p:cNvPr id="3" name="は → wa     へ → e     を → 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1500" y="1571625"/>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400" b="0">
                <ns0:solidFill>
                  <ns0:srgbClr val="000000"/>
                </ns0:solidFill>
                <ns0:latin typeface="Arial"/>
                <ns0:ea typeface="Noto Sans CJK JP"/>
              </ns0:rPr>
              <ns0:t>は → wa     へ → e     を → o</ns0:t>
            </ns0:r>
          </ns0:p>
        </p:txBody>
      </p:sp>
      <p:sp>
        <p:nvSpPr>
          <p:cNvPr id="4" name="は marks the topic.  へ marks a direction.  を marks an object.">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1500" y="2333625"/>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ea typeface="Noto Sans CJK JP"/>
              </ns0:rPr>
              <ns0:t>は marks the topic.  へ marks a direction.  を marks an object.</ns0:t>
            </ns0:r>
          </ns0:p>
        </p:txBody>
      </p:sp>
      <p:sp>
        <p:nvSpPr>
          <p:cNvPr id="7" name="In ordinary words, は is ha and へ is h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1500" y="4333875"/>
            <a:ext cx="800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In ordinary words, は is ha and へ is he.</ns0:t>
            </ns0:r>
          </ns0:p>
        </p:txBody>
      </p:sp>
      <p:sp>
        <p:nvSpPr>
          <p:cNvPr id="200" name="わたしは">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524000" y="3095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0">
                <ns0:solidFill>
                  <ns0:srgbClr val="000000"/>
                </ns0:solidFill>
                <ns0:latin typeface="Arial"/>
                <ns0:ea typeface="Noto Sans CJK JP"/>
              </ns0:rPr>
              <ns0:t>わたしは</ns0:t>
            </ns0:r>
          </ns0:p>
        </p:txBody>
      </p:sp>
      <p:sp>
        <p:nvSpPr>
          <p:cNvPr id="201" name="がっこうへ">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619500" y="3095625"/>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0">
                <ns0:solidFill>
                  <ns0:srgbClr val="000000"/>
                </ns0:solidFill>
                <ns0:latin typeface="Arial"/>
                <ns0:ea typeface="Noto Sans CJK JP"/>
              </ns0:rPr>
              <ns0:t>がっこうへ</ns0:t>
            </ns0:r>
          </ns0:p>
        </p:txBody>
      </p:sp>
      <p:sp>
        <p:nvSpPr>
          <p:cNvPr id="202" name="みずを">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000750" y="3095625"/>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0">
                <ns0:solidFill>
                  <ns0:srgbClr val="000000"/>
                </ns0:solidFill>
                <ns0:latin typeface="Arial"/>
                <ns0:ea typeface="Noto Sans CJK JP"/>
              </ns0:rPr>
              <ns0:t>みずを</ns0:t>
            </ns0:r>
          </ns0:p>
        </p:txBody>
      </p:sp>
      <p:sp>
        <p:nvSpPr>
          <p:cNvPr id="200" name="watashi w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524000" y="371475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watashi wa</ns0:t>
            </ns0:r>
          </ns0:p>
        </p:txBody>
      </p:sp>
      <p:sp>
        <p:nvSpPr>
          <p:cNvPr id="201" name="gakkou 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619500" y="3714750"/>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gakkou e</ns0:t>
            </ns0:r>
          </ns0:p>
        </p:txBody>
      </p:sp>
      <p:sp>
        <p:nvSpPr>
          <p:cNvPr id="202" name="mizu 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000750" y="3714750"/>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mizu o</ns0:t>
            </ns0:r>
          </ns0:p>
        </p:txBody>
      </p:sp>
    </p:spTree>
    <p:extLst>
      <p:ext uri="{BB962C8B-B14F-4D97-AF65-F5344CB8AC3E}">
        <p14:creationId xmlns:p14="http://schemas.microsoft.com/office/powerpoint/2010/main" val="125139710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Printed and Handwritten Hiragan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2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Printed and Handwritten Hiragana</ns0:t>
            </ns0:r>
          </ns0:p>
        </p:txBody>
      </p:sp>
      <p:sp>
        <p:nvSpPr>
          <p:cNvPr id="2" name="Printed fonts and handwriting can look different.">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1500" y="104775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100" b="0">
                <ns0:solidFill>
                  <ns0:srgbClr val="000000"/>
                </ns0:solidFill>
                <ns0:latin typeface="Arial"/>
                <ns0:ea typeface="Noto Sans CJK JP"/>
              </ns0:rPr>
              <ns0:t>Printed fonts and handwriting can look different.</ns0:t>
            </ns0:r>
          </ns0:p>
        </p:txBody>
      </p:sp>
      <p:sp>
        <p:nvSpPr>
          <p:cNvPr id="3" name="き      さ      り">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1500" y="1714500"/>
            <a:ext cx="800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800" b="0">
                <ns0:solidFill>
                  <ns0:srgbClr val="000000"/>
                </ns0:solidFill>
                <ns0:latin typeface="Arial"/>
                <ns0:ea typeface="Noto Sans CJK JP"/>
              </ns0:rPr>
              <ns0:t>き      さ      り</ns0:t>
            </ns0:r>
          </ns0:p>
        </p:txBody>
      </p:sp>
      <p:sp>
        <p:nvSpPr>
          <p:cNvPr id="4" name="For き and さ, the final curved stroke can be separate.&#10;The two strokes of り can also be separat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1500" y="2762250"/>
            <a:ext cx="800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For き and さ, the final curved stroke can be separate.
The two strokes of り can also be separate.</ns0:t>
            </ns0:r>
          </ns0:p>
        </p:txBody>
      </p:sp>
      <p:sp>
        <p:nvSpPr>
          <p:cNvPr id="5" name="Use the stroke-order diagrams as your writing mod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1500" y="409575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Use the stroke-order diagrams as your writing models.</ns0:t>
            </ns0:r>
          </ns0:p>
        </p:txBody>
      </p:sp>
    </p:spTree>
    <p:extLst>
      <p:ext uri="{BB962C8B-B14F-4D97-AF65-F5344CB8AC3E}">
        <p14:creationId xmlns:p14="http://schemas.microsoft.com/office/powerpoint/2010/main" val="1735432666"/>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Long Vowels: An Extra Beat">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2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Long Vowels: An Extra Beat</ns0:t>
            </ns0:r>
          </ns0:p>
        </p:txBody>
      </p:sp>
      <p:sp>
        <p:nvSpPr>
          <p:cNvPr id="2" name="Hiragana usually uses a vowel kana to make a vowel longe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1500" y="1000125"/>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Hiragana usually uses a vowel kana to make a vowel longer.</ns0:t>
            </ns0:r>
          </ns0:p>
        </p:txBody>
      </p:sp>
      <p:sp>
        <p:nvSpPr>
          <p:cNvPr id="7" name="い often extends e; う often extends o. Learn each word’s spelling.">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1500" y="4429125"/>
            <a:ext cx="800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い often extends e; う often extends o. Learn each word’s spelling.</ns0:t>
            </ns0:r>
          </ns0:p>
        </p:txBody>
      </p:sp>
      <p:sp>
        <p:nvSpPr>
          <p:cNvPr id="220" name="おかあさん">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333500" y="166687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700" b="0">
                <ns0:solidFill>
                  <ns0:srgbClr val="000000"/>
                </ns0:solidFill>
                <ns0:latin typeface="Arial"/>
                <ns0:ea typeface="Noto Sans CJK JP"/>
              </ns0:rPr>
              <ns0:t>おかあさん</ns0:t>
            </ns0:r>
          </ns0:p>
        </p:txBody>
      </p:sp>
      <p:sp>
        <p:nvSpPr>
          <p:cNvPr id="221" name="okaasa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10000" y="1666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700" b="0">
                <ns0:solidFill>
                  <ns0:srgbClr val="000000"/>
                </ns0:solidFill>
                <ns0:latin typeface="Arial"/>
                <ns0:ea typeface="Noto Sans CJK JP"/>
              </ns0:rPr>
              <ns0:t>okaasan</ns0:t>
            </ns0:r>
          </ns0:p>
        </p:txBody>
      </p:sp>
      <p:sp>
        <p:nvSpPr>
          <p:cNvPr id="222" name="mothe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15000" y="166687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700" b="0">
                <ns0:solidFill>
                  <ns0:srgbClr val="000000"/>
                </ns0:solidFill>
                <ns0:latin typeface="Arial"/>
                <ns0:ea typeface="Noto Sans CJK JP"/>
              </ns0:rPr>
              <ns0:t>mother</ns0:t>
            </ns0:r>
          </ns0:p>
        </p:txBody>
      </p:sp>
      <p:sp>
        <p:nvSpPr>
          <p:cNvPr id="223" name="おねえさん">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333500" y="23336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700" b="0">
                <ns0:solidFill>
                  <ns0:srgbClr val="000000"/>
                </ns0:solidFill>
                <ns0:latin typeface="Arial"/>
                <ns0:ea typeface="Noto Sans CJK JP"/>
              </ns0:rPr>
              <ns0:t>おねえさん</ns0:t>
            </ns0:r>
          </ns0:p>
        </p:txBody>
      </p:sp>
      <p:sp>
        <p:nvSpPr>
          <p:cNvPr id="224" name="oneesa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10000" y="233362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700" b="0">
                <ns0:solidFill>
                  <ns0:srgbClr val="000000"/>
                </ns0:solidFill>
                <ns0:latin typeface="Arial"/>
                <ns0:ea typeface="Noto Sans CJK JP"/>
              </ns0:rPr>
              <ns0:t>oneesan</ns0:t>
            </ns0:r>
          </ns0:p>
        </p:txBody>
      </p:sp>
      <p:sp>
        <p:nvSpPr>
          <p:cNvPr id="225" name="older siste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15000" y="23336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700" b="0">
                <ns0:solidFill>
                  <ns0:srgbClr val="000000"/>
                </ns0:solidFill>
                <ns0:latin typeface="Arial"/>
                <ns0:ea typeface="Noto Sans CJK JP"/>
              </ns0:rPr>
              <ns0:t>older sister</ns0:t>
            </ns0:r>
          </ns0:p>
        </p:txBody>
      </p:sp>
      <p:sp>
        <p:nvSpPr>
          <p:cNvPr id="226" name="せんせい">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333500" y="300037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700" b="0">
                <ns0:solidFill>
                  <ns0:srgbClr val="000000"/>
                </ns0:solidFill>
                <ns0:latin typeface="Arial"/>
                <ns0:ea typeface="Noto Sans CJK JP"/>
              </ns0:rPr>
              <ns0:t>せんせい</ns0:t>
            </ns0:r>
          </ns0:p>
        </p:txBody>
      </p:sp>
      <p:sp>
        <p:nvSpPr>
          <p:cNvPr id="227" name="sense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10000" y="3000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700" b="0">
                <ns0:solidFill>
                  <ns0:srgbClr val="000000"/>
                </ns0:solidFill>
                <ns0:latin typeface="Arial"/>
                <ns0:ea typeface="Noto Sans CJK JP"/>
              </ns0:rPr>
              <ns0:t>sensei</ns0:t>
            </ns0:r>
          </ns0:p>
        </p:txBody>
      </p:sp>
      <p:sp>
        <p:nvSpPr>
          <p:cNvPr id="228" name="teache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15000" y="300037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700" b="0">
                <ns0:solidFill>
                  <ns0:srgbClr val="000000"/>
                </ns0:solidFill>
                <ns0:latin typeface="Arial"/>
                <ns0:ea typeface="Noto Sans CJK JP"/>
              </ns0:rPr>
              <ns0:t>teacher</ns0:t>
            </ns0:r>
          </ns0:p>
        </p:txBody>
      </p:sp>
      <p:sp>
        <p:nvSpPr>
          <p:cNvPr id="229" name="おとうさん">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333500" y="36671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700" b="0">
                <ns0:solidFill>
                  <ns0:srgbClr val="000000"/>
                </ns0:solidFill>
                <ns0:latin typeface="Arial"/>
                <ns0:ea typeface="Noto Sans CJK JP"/>
              </ns0:rPr>
              <ns0:t>おとうさん</ns0:t>
            </ns0:r>
          </ns0:p>
        </p:txBody>
      </p:sp>
      <p:sp>
        <p:nvSpPr>
          <p:cNvPr id="230" name="otousa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10000" y="366712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700" b="0">
                <ns0:solidFill>
                  <ns0:srgbClr val="000000"/>
                </ns0:solidFill>
                <ns0:latin typeface="Arial"/>
                <ns0:ea typeface="Noto Sans CJK JP"/>
              </ns0:rPr>
              <ns0:t>otousan</ns0:t>
            </ns0:r>
          </ns0:p>
        </p:txBody>
      </p:sp>
      <p:sp>
        <p:nvSpPr>
          <p:cNvPr id="231" name="fathe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15000" y="36671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700" b="0">
                <ns0:solidFill>
                  <ns0:srgbClr val="000000"/>
                </ns0:solidFill>
                <ns0:latin typeface="Arial"/>
                <ns0:ea typeface="Noto Sans CJK JP"/>
              </ns0:rPr>
              <ns0:t>father</ns0:t>
            </ns0:r>
          </ns0:p>
        </p:txBody>
      </p:sp>
    </p:spTree>
    <p:extLst>
      <p:ext uri="{BB962C8B-B14F-4D97-AF65-F5344CB8AC3E}">
        <p14:creationId xmlns:p14="http://schemas.microsoft.com/office/powerpoint/2010/main" val="95569898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ncept title">
            <a:extLst xmlns:a="http://schemas.openxmlformats.org/drawingml/2006/main">
              <a:ext uri="{FF2B5EF4-FFF2-40B4-BE49-F238E27FC236}">
                <a16:creationId xmlns:a16="http://schemas.microsoft.com/office/drawing/2014/main" id="{BD7BE50F-A13E-411C-868D-0AEA8CB6360B}"/>
              </a:ext>
            </a:extLst>
          </p:cNvPr>
          <p:cNvSpPr>
            <a:spLocks xmlns:a="http://schemas.openxmlformats.org/drawingml/2006/main" noGrp="1"/>
          </p:cNvSpPr>
          <p:nvPr/>
        </p:nvSpPr>
        <p:spPr>
          <a:xfrm xmlns:a="http://schemas.openxmlformats.org/drawingml/2006/main">
            <a:off x="428625" y="361950"/>
            <a:ext cx="828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595959"/>
                </a:solidFill>
                <a:latin typeface="Arial"/>
                <a:ea typeface="Arial"/>
                <a:cs typeface="Arial"/>
              </a:defRPr>
            </a:pPr>
            <a:r>
              <a:rPr sz="2625" b="1">
                <a:solidFill>
                  <a:srgbClr val="595959"/>
                </a:solidFill>
                <a:latin typeface="Arial"/>
                <a:ea typeface="Arial"/>
                <a:cs typeface="Arial"/>
              </a:rPr>
              <a:t>Small っ: A Consonant Hold</a:t>
            </a:r>
          </a:p>
        </p:txBody>
      </p:sp>
      <p:sp>
        <p:nvSpPr>
          <p:cNvPr id="2" name="Small tsu size contrast">
            <a:extLst xmlns:a="http://schemas.openxmlformats.org/drawingml/2006/main">
              <a:ext uri="{FF2B5EF4-FFF2-40B4-BE49-F238E27FC236}">
                <a16:creationId xmlns:a16="http://schemas.microsoft.com/office/drawing/2014/main" id="{00A78A5D-6DD9-4407-A515-1FA3BADBFE8D}"/>
              </a:ext>
            </a:extLst>
          </p:cNvPr>
          <p:cNvSpPr>
            <a:spLocks xmlns:a="http://schemas.openxmlformats.org/drawingml/2006/main" noGrp="1"/>
          </p:cNvSpPr>
          <p:nvPr/>
        </p:nvSpPr>
        <p:spPr>
          <a:xfrm xmlns:a="http://schemas.openxmlformats.org/drawingml/2006/main">
            <a:off x="381000" y="1133475"/>
            <a:ext cx="838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0">
                <a:solidFill>
                  <a:srgbClr val="000000"/>
                </a:solidFill>
                <a:latin typeface="Noto Sans CJK JP"/>
                <a:ea typeface="Noto Sans CJK JP"/>
                <a:cs typeface="Noto Sans CJK JP"/>
              </a:defRPr>
            </a:pPr>
            <a:r>
              <a:rPr sz="2625" b="0">
                <a:solidFill>
                  <a:srgbClr val="000000"/>
                </a:solidFill>
                <a:latin typeface="Noto Sans CJK JP"/>
                <a:ea typeface="Noto Sans CJK JP"/>
                <a:cs typeface="Noto Sans CJK JP"/>
              </a:rPr>
              <a:t>つ tsu     /     っ consonant hold</a:t>
            </a:r>
          </a:p>
        </p:txBody>
      </p:sp>
      <p:sp>
        <p:nvSpPr>
          <p:cNvPr id="3" name="Consonant hold rule">
            <a:extLst xmlns:a="http://schemas.openxmlformats.org/drawingml/2006/main">
              <a:ext uri="{FF2B5EF4-FFF2-40B4-BE49-F238E27FC236}">
                <a16:creationId xmlns:a16="http://schemas.microsoft.com/office/drawing/2014/main" id="{231B0502-5EB4-4B35-9422-16696F7397B5}"/>
              </a:ext>
            </a:extLst>
          </p:cNvPr>
          <p:cNvSpPr>
            <a:spLocks xmlns:a="http://schemas.openxmlformats.org/drawingml/2006/main" noGrp="1"/>
          </p:cNvSpPr>
          <p:nvPr/>
        </p:nvSpPr>
        <p:spPr>
          <a:xfrm xmlns:a="http://schemas.openxmlformats.org/drawingml/2006/main">
            <a:off x="404812" y="1714500"/>
            <a:ext cx="833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00" b="0">
                <a:solidFill>
                  <a:srgbClr val="000000"/>
                </a:solidFill>
                <a:latin typeface="Noto Sans CJK JP"/>
                <a:ea typeface="Noto Sans CJK JP"/>
                <a:cs typeface="Noto Sans CJK JP"/>
              </a:defRPr>
            </a:pPr>
            <a:r>
              <a:rPr sz="1700" b="0">
                <a:solidFill>
                  <a:srgbClr val="000000"/>
                </a:solidFill>
                <a:latin typeface="Noto Sans CJK JP"/>
                <a:ea typeface="Noto Sans CJK JP"/>
                <a:cs typeface="Noto Sans CJK JP"/>
              </a:rPr>
              <a:t>Small っ makes the next consonant longer.
In romaji, we usually show this by doubling the consonant.</a:t>
            </a:r>
          </a:p>
        </p:txBody>
      </p:sp>
      <p:sp>
        <p:nvSpPr>
          <p:cNvPr id="6" name="Cup example">
            <a:extLst xmlns:a="http://schemas.openxmlformats.org/drawingml/2006/main">
              <a:ext uri="{FF2B5EF4-FFF2-40B4-BE49-F238E27FC236}">
                <a16:creationId xmlns:a16="http://schemas.microsoft.com/office/drawing/2014/main" id="{0A907393-B7C7-4294-9ABD-4885DD7D2BC7}"/>
              </a:ext>
            </a:extLst>
          </p:cNvPr>
          <p:cNvSpPr>
            <a:spLocks xmlns:a="http://schemas.openxmlformats.org/drawingml/2006/main" noGrp="1"/>
          </p:cNvSpPr>
          <p:nvPr/>
        </p:nvSpPr>
        <p:spPr>
          <a:xfrm xmlns:a="http://schemas.openxmlformats.org/drawingml/2006/main">
            <a:off x="457200" y="3733800"/>
            <a:ext cx="390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00" b="0">
                <a:solidFill>
                  <a:srgbClr val="000000"/>
                </a:solidFill>
                <a:latin typeface="Noto Sans CJK JP"/>
                <a:ea typeface="Noto Sans CJK JP"/>
                <a:cs typeface="Noto Sans CJK JP"/>
              </a:defRPr>
            </a:pPr>
            <a:r>
              <a:rPr sz="3000" b="0">
                <a:solidFill>
                  <a:srgbClr val="000000"/>
                </a:solidFill>
                <a:latin typeface="Noto Sans CJK JP"/>
                <a:ea typeface="Noto Sans CJK JP"/>
                <a:cs typeface="Noto Sans CJK JP"/>
              </a:rPr>
              <a:t>きっぷ</a:t>
            </a:r>
          </a:p>
        </p:txBody>
      </p:sp>
      <p:sp>
        <p:nvSpPr>
          <p:cNvPr id="7" name="Cup translation">
            <a:extLst xmlns:a="http://schemas.openxmlformats.org/drawingml/2006/main">
              <a:ext uri="{FF2B5EF4-FFF2-40B4-BE49-F238E27FC236}">
                <a16:creationId xmlns:a16="http://schemas.microsoft.com/office/drawing/2014/main" id="{F770E27E-E121-48F2-8A9B-46D940495604}"/>
              </a:ext>
            </a:extLst>
          </p:cNvPr>
          <p:cNvSpPr>
            <a:spLocks xmlns:a="http://schemas.openxmlformats.org/drawingml/2006/main" noGrp="1"/>
          </p:cNvSpPr>
          <p:nvPr/>
        </p:nvSpPr>
        <p:spPr>
          <a:xfrm xmlns:a="http://schemas.openxmlformats.org/drawingml/2006/main">
            <a:off x="457200" y="4391025"/>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kippu = ticket</a:t>
            </a:r>
          </a:p>
        </p:txBody>
      </p:sp>
      <p:sp>
        <p:nvSpPr>
          <p:cNvPr id="8" name="Bed example">
            <a:extLst xmlns:a="http://schemas.openxmlformats.org/drawingml/2006/main">
              <a:ext uri="{FF2B5EF4-FFF2-40B4-BE49-F238E27FC236}">
                <a16:creationId xmlns:a16="http://schemas.microsoft.com/office/drawing/2014/main" id="{CE738C46-7F0D-439E-956F-F3CF5B80BBE8}"/>
              </a:ext>
            </a:extLst>
          </p:cNvPr>
          <p:cNvSpPr>
            <a:spLocks xmlns:a="http://schemas.openxmlformats.org/drawingml/2006/main" noGrp="1"/>
          </p:cNvSpPr>
          <p:nvPr/>
        </p:nvSpPr>
        <p:spPr>
          <a:xfrm xmlns:a="http://schemas.openxmlformats.org/drawingml/2006/main">
            <a:off x="4857750" y="3733800"/>
            <a:ext cx="390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00" b="0">
                <a:solidFill>
                  <a:srgbClr val="000000"/>
                </a:solidFill>
                <a:latin typeface="Noto Sans CJK JP"/>
                <a:ea typeface="Noto Sans CJK JP"/>
                <a:cs typeface="Noto Sans CJK JP"/>
              </a:defRPr>
            </a:pPr>
            <a:r>
              <a:rPr sz="3000" b="0">
                <a:solidFill>
                  <a:srgbClr val="000000"/>
                </a:solidFill>
                <a:latin typeface="Noto Sans CJK JP"/>
                <a:ea typeface="Noto Sans CJK JP"/>
                <a:cs typeface="Noto Sans CJK JP"/>
              </a:rPr>
              <a:t>ざっし</a:t>
            </a:r>
          </a:p>
        </p:txBody>
      </p:sp>
      <p:sp>
        <p:nvSpPr>
          <p:cNvPr id="9" name="Bed translation">
            <a:extLst xmlns:a="http://schemas.openxmlformats.org/drawingml/2006/main">
              <a:ext uri="{FF2B5EF4-FFF2-40B4-BE49-F238E27FC236}">
                <a16:creationId xmlns:a16="http://schemas.microsoft.com/office/drawing/2014/main" id="{61862A67-704E-480C-A472-5AC344CB8AA1}"/>
              </a:ext>
            </a:extLst>
          </p:cNvPr>
          <p:cNvSpPr>
            <a:spLocks xmlns:a="http://schemas.openxmlformats.org/drawingml/2006/main" noGrp="1"/>
          </p:cNvSpPr>
          <p:nvPr/>
        </p:nvSpPr>
        <p:spPr>
          <a:xfrm xmlns:a="http://schemas.openxmlformats.org/drawingml/2006/main">
            <a:off x="4857750" y="4391025"/>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zasshi = magazine</a:t>
            </a:r>
          </a:p>
        </p:txBody>
      </p:sp>
      <p:sp>
        <p:nvSpPr>
          <p:cNvPr id="11" name="Cup timing か">
            <a:extLst xmlns:a="http://schemas.openxmlformats.org/drawingml/2006/main">
              <a:ext uri="{FF2B5EF4-FFF2-40B4-BE49-F238E27FC236}">
                <a16:creationId xmlns:a16="http://schemas.microsoft.com/office/drawing/2014/main" id="{BA8069EC-35E9-4229-868B-AF6E27300791}"/>
              </a:ext>
            </a:extLst>
          </p:cNvPr>
          <p:cNvSpPr>
            <a:spLocks xmlns:a="http://schemas.openxmlformats.org/drawingml/2006/main" noGrp="1"/>
          </p:cNvSpPr>
          <p:nvPr/>
        </p:nvSpPr>
        <p:spPr>
          <a:xfrm xmlns:a="http://schemas.openxmlformats.org/drawingml/2006/main">
            <a:off x="2014537" y="2400300"/>
            <a:ext cx="85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825" b="0">
                <a:solidFill>
                  <a:srgbClr val="000000"/>
                </a:solidFill>
                <a:latin typeface="Noto Sans CJK JP"/>
                <a:ea typeface="Noto Sans CJK JP"/>
                <a:cs typeface="Noto Sans CJK JP"/>
              </a:defRPr>
            </a:pPr>
            <a:r>
              <a:rPr sz="3825" b="0">
                <a:solidFill>
                  <a:srgbClr val="000000"/>
                </a:solidFill>
                <a:latin typeface="Noto Sans CJK JP"/>
                <a:ea typeface="Noto Sans CJK JP"/>
                <a:cs typeface="Noto Sans CJK JP"/>
              </a:rPr>
              <a:t>き</a:t>
            </a:r>
          </a:p>
        </p:txBody>
      </p:sp>
      <p:sp>
        <p:nvSpPr>
          <p:cNvPr id="12" name="Cup timing っ">
            <a:extLst xmlns:a="http://schemas.openxmlformats.org/drawingml/2006/main">
              <a:ext uri="{FF2B5EF4-FFF2-40B4-BE49-F238E27FC236}">
                <a16:creationId xmlns:a16="http://schemas.microsoft.com/office/drawing/2014/main" id="{BA8069EC-35E9-4229-868B-AF6E27300791}"/>
              </a:ext>
            </a:extLst>
          </p:cNvPr>
          <p:cNvSpPr>
            <a:spLocks xmlns:a="http://schemas.openxmlformats.org/drawingml/2006/main" noGrp="1"/>
          </p:cNvSpPr>
          <p:nvPr/>
        </p:nvSpPr>
        <p:spPr>
          <a:xfrm xmlns:a="http://schemas.openxmlformats.org/drawingml/2006/main">
            <a:off x="3062287" y="2400300"/>
            <a:ext cx="85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825" b="0">
                <a:solidFill>
                  <a:srgbClr val="000000"/>
                </a:solidFill>
                <a:latin typeface="Noto Sans CJK JP"/>
                <a:ea typeface="Noto Sans CJK JP"/>
                <a:cs typeface="Noto Sans CJK JP"/>
              </a:defRPr>
            </a:pPr>
            <a:r>
              <a:rPr sz="3825" b="0">
                <a:solidFill>
                  <a:srgbClr val="000000"/>
                </a:solidFill>
                <a:latin typeface="Noto Sans CJK JP"/>
                <a:ea typeface="Noto Sans CJK JP"/>
                <a:cs typeface="Noto Sans CJK JP"/>
              </a:rPr>
              <a:t>っ</a:t>
            </a:r>
          </a:p>
        </p:txBody>
      </p:sp>
      <p:sp>
        <p:nvSpPr>
          <p:cNvPr id="13" name="Cup timing ぷ">
            <a:extLst xmlns:a="http://schemas.openxmlformats.org/drawingml/2006/main">
              <a:ext uri="{FF2B5EF4-FFF2-40B4-BE49-F238E27FC236}">
                <a16:creationId xmlns:a16="http://schemas.microsoft.com/office/drawing/2014/main" id="{BA8069EC-35E9-4229-868B-AF6E27300791}"/>
              </a:ext>
            </a:extLst>
          </p:cNvPr>
          <p:cNvSpPr>
            <a:spLocks xmlns:a="http://schemas.openxmlformats.org/drawingml/2006/main" noGrp="1"/>
          </p:cNvSpPr>
          <p:nvPr/>
        </p:nvSpPr>
        <p:spPr>
          <a:xfrm xmlns:a="http://schemas.openxmlformats.org/drawingml/2006/main">
            <a:off x="4110037" y="2400300"/>
            <a:ext cx="85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825" b="0">
                <a:solidFill>
                  <a:srgbClr val="000000"/>
                </a:solidFill>
                <a:latin typeface="Noto Sans CJK JP"/>
                <a:ea typeface="Noto Sans CJK JP"/>
                <a:cs typeface="Noto Sans CJK JP"/>
              </a:defRPr>
            </a:pPr>
            <a:r>
              <a:rPr sz="3825" b="0">
                <a:solidFill>
                  <a:srgbClr val="000000"/>
                </a:solidFill>
                <a:latin typeface="Noto Sans CJK JP"/>
                <a:ea typeface="Noto Sans CJK JP"/>
                <a:cs typeface="Noto Sans CJK JP"/>
              </a:rPr>
              <a:t>ぷ</a:t>
            </a:r>
          </a:p>
        </p:txBody>
      </p:sp>
      <p:sp>
        <p:nvSpPr>
          <p:cNvPr id="14" name="Cup beats ka">
            <a:extLst xmlns:a="http://schemas.openxmlformats.org/drawingml/2006/main">
              <a:ext uri="{FF2B5EF4-FFF2-40B4-BE49-F238E27FC236}">
                <a16:creationId xmlns:a16="http://schemas.microsoft.com/office/drawing/2014/main" id="{64BAB625-54CE-4100-8AD5-684A908A6570}"/>
              </a:ext>
            </a:extLst>
          </p:cNvPr>
          <p:cNvSpPr>
            <a:spLocks xmlns:a="http://schemas.openxmlformats.org/drawingml/2006/main" noGrp="1"/>
          </p:cNvSpPr>
          <p:nvPr/>
        </p:nvSpPr>
        <p:spPr>
          <a:xfrm xmlns:a="http://schemas.openxmlformats.org/drawingml/2006/main">
            <a:off x="2014537" y="3152775"/>
            <a:ext cx="85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ki</a:t>
            </a:r>
          </a:p>
        </p:txBody>
      </p:sp>
      <p:sp>
        <p:nvSpPr>
          <p:cNvPr id="15" name="Cup beats hold">
            <a:extLst xmlns:a="http://schemas.openxmlformats.org/drawingml/2006/main">
              <a:ext uri="{FF2B5EF4-FFF2-40B4-BE49-F238E27FC236}">
                <a16:creationId xmlns:a16="http://schemas.microsoft.com/office/drawing/2014/main" id="{64BAB625-54CE-4100-8AD5-684A908A6570}"/>
              </a:ext>
            </a:extLst>
          </p:cNvPr>
          <p:cNvSpPr>
            <a:spLocks xmlns:a="http://schemas.openxmlformats.org/drawingml/2006/main" noGrp="1"/>
          </p:cNvSpPr>
          <p:nvPr/>
        </p:nvSpPr>
        <p:spPr>
          <a:xfrm xmlns:a="http://schemas.openxmlformats.org/drawingml/2006/main">
            <a:off x="3062287" y="3152775"/>
            <a:ext cx="85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hold</a:t>
            </a:r>
          </a:p>
        </p:txBody>
      </p:sp>
      <p:sp>
        <p:nvSpPr>
          <p:cNvPr id="16" name="Cup beats pu">
            <a:extLst xmlns:a="http://schemas.openxmlformats.org/drawingml/2006/main">
              <a:ext uri="{FF2B5EF4-FFF2-40B4-BE49-F238E27FC236}">
                <a16:creationId xmlns:a16="http://schemas.microsoft.com/office/drawing/2014/main" id="{64BAB625-54CE-4100-8AD5-684A908A6570}"/>
              </a:ext>
            </a:extLst>
          </p:cNvPr>
          <p:cNvSpPr>
            <a:spLocks xmlns:a="http://schemas.openxmlformats.org/drawingml/2006/main" noGrp="1"/>
          </p:cNvSpPr>
          <p:nvPr/>
        </p:nvSpPr>
        <p:spPr>
          <a:xfrm xmlns:a="http://schemas.openxmlformats.org/drawingml/2006/main">
            <a:off x="4110037" y="3152775"/>
            <a:ext cx="85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pu</a:t>
            </a:r>
          </a:p>
        </p:txBody>
      </p:sp>
      <p:sp>
        <p:nvSpPr>
          <p:cNvPr id="17" name="Total cup beats">
            <a:extLst xmlns:a="http://schemas.openxmlformats.org/drawingml/2006/main">
              <a:ext uri="{FF2B5EF4-FFF2-40B4-BE49-F238E27FC236}">
                <a16:creationId xmlns:a16="http://schemas.microsoft.com/office/drawing/2014/main" id="{64BAB625-54CE-4100-8AD5-684A908A6570}"/>
              </a:ext>
            </a:extLst>
          </p:cNvPr>
          <p:cNvSpPr>
            <a:spLocks xmlns:a="http://schemas.openxmlformats.org/drawingml/2006/main" noGrp="1"/>
          </p:cNvSpPr>
          <p:nvPr/>
        </p:nvSpPr>
        <p:spPr>
          <a:xfrm xmlns:a="http://schemas.openxmlformats.org/drawingml/2006/main">
            <a:off x="5224462" y="315277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 3 beats</a:t>
            </a:r>
          </a:p>
        </p:txBody>
      </p:sp>
    </p:spTree>
    <p:extLst>
      <p:ext uri="{BB962C8B-B14F-4D97-AF65-F5344CB8AC3E}">
        <p14:creationId xmlns:p14="http://schemas.microsoft.com/office/powerpoint/2010/main" val="462696839"/>
      </p:ext>
    </p:extLst>
  </p:cSld>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1200"/>
              </a:spcAft>
              <a:buNone/>
            </a:pPr>
            <a:r>
              <a:rPr lang="en" sz="3000">
                <a:solidFill>
                  <a:srgbClr val="000000"/>
                </a:solidFill>
                <a:latin typeface="Arial"/>
              </a:rPr>
              <a:t>Sources &amp; Attribution</a:t>
            </a:r>
            <a:endParaRPr/>
          </a:p>
        </p:txBody>
      </p:sp>
      <p:sp>
        <p:nvSpPr>
          <p:cNvPr id="174" name="Google Shape;174;p26"/>
          <p:cNvSpPr txBox="1"/>
          <p:nvPr>
            <p:ph idx="1" type="body"/>
          </p:nvPr>
        </p:nvSpPr>
        <p:spPr>
          <a:xfrm>
            <a:off x="311700" y="572700"/>
            <a:ext cx="8520600" cy="13500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1200"/>
              </a:spcBef>
              <a:spcAft>
                <a:spcPts val="1200"/>
              </a:spcAft>
              <a:buNone/>
            </a:pPr>
            <a:r>
              <a:rPr b="1" lang="en" sz="1100">
                <a:solidFill>
                  <a:schemeClr val="dk1"/>
                </a:solidFill>
              </a:rPr>
              <a:t>Hiragana Chart: Seion, Dakuon and Yoon</a:t>
            </a:r>
            <a:br>
              <a:rPr b="1" lang="en" sz="1100">
                <a:solidFill>
                  <a:schemeClr val="dk1"/>
                </a:solidFill>
              </a:rPr>
            </a:br>
            <a:r>
              <a:rPr lang="en" sz="1100">
                <a:solidFill>
                  <a:schemeClr val="dk1"/>
                </a:solidFill>
              </a:rPr>
              <a:t>TealComet, 2024</a:t>
            </a:r>
            <a:br>
              <a:rPr lang="en" sz="1100">
                <a:solidFill>
                  <a:schemeClr val="dk1"/>
                </a:solidFill>
              </a:rPr>
            </a:br>
            <a:r>
              <a:rPr lang="en" sz="1100">
                <a:solidFill>
                  <a:schemeClr val="dk1"/>
                </a:solidFill>
              </a:rPr>
              <a:t>“Hiragana Chart Seion Dakuon Yoon.png”</a:t>
            </a:r>
            <a:br>
              <a:rPr lang="en" sz="1100">
                <a:solidFill>
                  <a:schemeClr val="dk1"/>
                </a:solidFill>
              </a:rPr>
            </a:br>
            <a:r>
              <a:rPr lang="en" sz="1100">
                <a:solidFill>
                  <a:schemeClr val="dk1"/>
                </a:solidFill>
              </a:rPr>
              <a:t>Released under </a:t>
            </a:r>
            <a:r>
              <a:rPr b="1" lang="en" sz="1100">
                <a:solidFill>
                  <a:schemeClr val="dk1"/>
                </a:solidFill>
              </a:rPr>
              <a:t>CC0 1.0 (Public Domain Dedication)</a:t>
            </a:r>
            <a:br>
              <a:rPr lang="en" sz="1100">
                <a:solidFill>
                  <a:schemeClr val="dk1"/>
                </a:solidFill>
              </a:rPr>
            </a:br>
            <a:r>
              <a:rPr lang="en" sz="1100">
                <a:solidFill>
                  <a:schemeClr val="dk1"/>
                </a:solidFill>
              </a:rPr>
              <a:t>Source: Wikimedia Commons</a:t>
            </a:r>
            <a:br>
              <a:rPr lang="en" sz="1100">
                <a:solidFill>
                  <a:schemeClr val="dk1"/>
                </a:solidFill>
              </a:rPr>
            </a:br>
            <a:r>
              <a:rPr lang="en" sz="1100" u="sng">
                <a:solidFill>
                  <a:schemeClr val="hlink"/>
                </a:solidFill>
                <a:hlinkClick r:id="rId3"/>
              </a:rPr>
              <a:t>https://commons.wikimedia.org/wiki/File:Hiragana_Chart_Seion_Dakuon_Yoon.png</a:t>
            </a:r>
            <a:br>
              <a:rPr lang="en" sz="1100">
                <a:solidFill>
                  <a:schemeClr val="dk1"/>
                </a:solidFill>
              </a:rPr>
            </a:br>
            <a:r>
              <a:rPr i="1" lang="en" sz="1100">
                <a:solidFill>
                  <a:schemeClr val="dk1"/>
                </a:solidFill>
              </a:rPr>
              <a:t>Chart sections in this presentation are cropped and resized from this work.</a:t>
            </a:r>
            <a:endParaRPr b="1" sz="1100">
              <a:solidFill>
                <a:schemeClr val="dk1"/>
              </a:solidFill>
            </a:endParaRPr>
          </a:p>
        </p:txBody>
      </p:sp>
      <p:pic>
        <p:nvPicPr>
          <p:cNvPr id="175" name="Google Shape;175;p26"/>
          <p:cNvPicPr preferRelativeResize="0"/>
          <p:nvPr/>
        </p:nvPicPr>
        <p:blipFill>
          <a:blip r:embed="rId4">
            <a:alphaModFix/>
          </a:blip>
          <a:stretch>
            <a:fillRect/>
          </a:stretch>
        </p:blipFill>
        <p:spPr>
          <a:xfrm>
            <a:off x="1822000" y="1950000"/>
            <a:ext cx="5500000" cy="3093750"/>
          </a:xfrm>
          <a:prstGeom prst="rect">
            <a:avLst/>
          </a:prstGeom>
          <a:noFill/>
          <a:ln>
            <a:noFill/>
          </a:ln>
        </p:spPr>
      </p:pic>
    </p:spTree>
  </p:cSld>
  <p:clrMapOvr>
    <a:masterClrMapping/>
  </p:clrMapOvr>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Hiragana: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Hiragana: Vowels</ns0:t>
            </ns0:r>
          </ns0:p>
        </p:txBody>
      </p:sp>
      <p:sp>
        <p:nvSpPr>
          <p:cNvPr id="2" name="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A</ns0:t>
            </ns0:r>
          </ns0:p>
        </p:txBody>
      </p:sp>
      <p:pic xmlns:a="http://schemas.openxmlformats.org/drawingml/2006/main" xmlns:r="http://schemas.openxmlformats.org/officeDocument/2006/relationships">
        <p:nvPicPr>
          <p:cNvPr id="20" name="Google Shape;67;p15"/>
          <p:cNvPicPr preferRelativeResize="0"/>
          <p:nvPr/>
        </p:nvPicPr>
        <p:blipFill>
          <a:blip r:embed="rIdImage0">
            <a:alphaModFix/>
          </a:blip>
          <a:stretch>
            <a:fillRect/>
          </a:stretch>
        </p:blipFill>
        <p:spPr>
          <a:xfrm>
            <a:off x="647700" y="2047875"/>
            <a:ext cx="1381125" cy="2095500"/>
          </a:xfrm>
          <a:prstGeom prst="rect">
            <a:avLst/>
          </a:prstGeom>
          <a:noFill/>
          <a:ln>
            <a:noFill/>
          </a:ln>
        </p:spPr>
      </p:pic>
      <p:sp>
        <p:nvSpPr>
          <p:cNvPr id="3" name="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I</ns0:t>
            </ns0:r>
          </ns0:p>
        </p:txBody>
      </p:sp>
      <p:pic xmlns:a="http://schemas.openxmlformats.org/drawingml/2006/main" xmlns:r="http://schemas.openxmlformats.org/officeDocument/2006/relationships">
        <p:nvPicPr>
          <p:cNvPr id="21" name="Google Shape;80;p16"/>
          <p:cNvPicPr preferRelativeResize="0"/>
          <p:nvPr/>
        </p:nvPicPr>
        <p:blipFill>
          <a:blip r:embed="rIdImage1">
            <a:alphaModFix/>
          </a:blip>
          <a:stretch>
            <a:fillRect/>
          </a:stretch>
        </p:blipFill>
        <p:spPr>
          <a:xfrm>
            <a:off x="2266950" y="2047875"/>
            <a:ext cx="1381125" cy="2095500"/>
          </a:xfrm>
          <a:prstGeom prst="rect">
            <a:avLst/>
          </a:prstGeom>
          <a:noFill/>
          <a:ln>
            <a:noFill/>
          </a:ln>
        </p:spPr>
      </p:pic>
      <p:sp>
        <p:nvSpPr>
          <p:cNvPr id="4" name="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U</ns0:t>
            </ns0:r>
          </ns0:p>
        </p:txBody>
      </p:sp>
      <p:pic xmlns:a="http://schemas.openxmlformats.org/drawingml/2006/main" xmlns:r="http://schemas.openxmlformats.org/officeDocument/2006/relationships">
        <p:nvPicPr>
          <p:cNvPr id="22" name="Google Shape;90;p17"/>
          <p:cNvPicPr preferRelativeResize="0"/>
          <p:nvPr/>
        </p:nvPicPr>
        <p:blipFill>
          <a:blip r:embed="rIdImage2">
            <a:alphaModFix/>
          </a:blip>
          <a:stretch>
            <a:fillRect/>
          </a:stretch>
        </p:blipFill>
        <p:spPr>
          <a:xfrm>
            <a:off x="3886200" y="2047875"/>
            <a:ext cx="1381125" cy="2095500"/>
          </a:xfrm>
          <a:prstGeom prst="rect">
            <a:avLst/>
          </a:prstGeom>
          <a:noFill/>
          <a:ln>
            <a:noFill/>
          </a:ln>
        </p:spPr>
      </p:pic>
      <p:sp>
        <p:nvSpPr>
          <p:cNvPr id="5" name="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E</ns0:t>
            </ns0:r>
          </ns0:p>
        </p:txBody>
      </p:sp>
      <p:pic xmlns:a="http://schemas.openxmlformats.org/drawingml/2006/main" xmlns:r="http://schemas.openxmlformats.org/officeDocument/2006/relationships">
        <p:nvPicPr>
          <p:cNvPr id="23" name="Google Shape;100;p18"/>
          <p:cNvPicPr preferRelativeResize="0"/>
          <p:nvPr/>
        </p:nvPicPr>
        <p:blipFill>
          <a:blip r:embed="rIdImage3">
            <a:alphaModFix/>
          </a:blip>
          <a:stretch>
            <a:fillRect/>
          </a:stretch>
        </p:blipFill>
        <p:spPr>
          <a:xfrm>
            <a:off x="5505450" y="2047875"/>
            <a:ext cx="1381125" cy="2095500"/>
          </a:xfrm>
          <a:prstGeom prst="rect">
            <a:avLst/>
          </a:prstGeom>
          <a:noFill/>
          <a:ln>
            <a:noFill/>
          </a:ln>
        </p:spPr>
      </p:pic>
      <p:sp>
        <p:nvSpPr>
          <p:cNvPr id="6" name="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O</ns0:t>
            </ns0:r>
          </ns0:p>
        </p:txBody>
      </p:sp>
      <p:pic xmlns:a="http://schemas.openxmlformats.org/drawingml/2006/main" xmlns:r="http://schemas.openxmlformats.org/officeDocument/2006/relationships">
        <p:nvPicPr>
          <p:cNvPr id="24" name="Google Shape;110;p19"/>
          <p:cNvPicPr preferRelativeResize="0"/>
          <p:nvPr/>
        </p:nvPicPr>
        <p:blipFill>
          <a:blip r:embed="rIdImage4">
            <a:alphaModFix/>
          </a:blip>
          <a:stretch>
            <a:fillRect/>
          </a:stretch>
        </p:blipFill>
        <p:spPr>
          <a:xfrm>
            <a:off x="7124700" y="2047875"/>
            <a:ext cx="1381125" cy="2095500"/>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Hiragana: K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Hiragana: K row</ns0:t>
            </ns0:r>
          </ns0:p>
        </p:txBody>
      </p:sp>
      <p:sp>
        <p:nvSpPr>
          <p:cNvPr id="2" name="K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Ka</ns0:t>
            </ns0:r>
          </ns0:p>
        </p:txBody>
      </p:sp>
      <p:pic xmlns:a="http://schemas.openxmlformats.org/drawingml/2006/main" xmlns:r="http://schemas.openxmlformats.org/officeDocument/2006/relationships">
        <p:nvPicPr>
          <p:cNvPr id="20" name="Google Shape;120;p20"/>
          <p:cNvPicPr preferRelativeResize="0"/>
          <p:nvPr/>
        </p:nvPicPr>
        <p:blipFill>
          <a:blip r:embed="rIdImage0">
            <a:alphaModFix/>
          </a:blip>
          <a:stretch>
            <a:fillRect/>
          </a:stretch>
        </p:blipFill>
        <p:spPr>
          <a:xfrm>
            <a:off x="647700" y="2047875"/>
            <a:ext cx="1381125" cy="2095500"/>
          </a:xfrm>
          <a:prstGeom prst="rect">
            <a:avLst/>
          </a:prstGeom>
          <a:noFill/>
          <a:ln>
            <a:noFill/>
          </a:ln>
        </p:spPr>
      </p:pic>
      <p:sp>
        <p:nvSpPr>
          <p:cNvPr id="3" name="K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Ki</ns0:t>
            </ns0:r>
          </ns0:p>
        </p:txBody>
      </p:sp>
      <p:pic xmlns:a="http://schemas.openxmlformats.org/drawingml/2006/main" xmlns:r="http://schemas.openxmlformats.org/officeDocument/2006/relationships">
        <p:nvPicPr>
          <p:cNvPr id="21" name="Google Shape;130;p21"/>
          <p:cNvPicPr preferRelativeResize="0"/>
          <p:nvPr/>
        </p:nvPicPr>
        <p:blipFill>
          <a:blip r:embed="rIdImage1">
            <a:alphaModFix/>
          </a:blip>
          <a:stretch>
            <a:fillRect/>
          </a:stretch>
        </p:blipFill>
        <p:spPr>
          <a:xfrm>
            <a:off x="2266950" y="2047875"/>
            <a:ext cx="1381125" cy="2095500"/>
          </a:xfrm>
          <a:prstGeom prst="rect">
            <a:avLst/>
          </a:prstGeom>
          <a:noFill/>
          <a:ln>
            <a:noFill/>
          </a:ln>
        </p:spPr>
      </p:pic>
      <p:sp>
        <p:nvSpPr>
          <p:cNvPr id="4" name="K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Ku</ns0:t>
            </ns0:r>
          </ns0:p>
        </p:txBody>
      </p:sp>
      <p:pic xmlns:a="http://schemas.openxmlformats.org/drawingml/2006/main" xmlns:r="http://schemas.openxmlformats.org/officeDocument/2006/relationships">
        <p:nvPicPr>
          <p:cNvPr id="22" name="Google Shape;140;p22"/>
          <p:cNvPicPr preferRelativeResize="0"/>
          <p:nvPr/>
        </p:nvPicPr>
        <p:blipFill>
          <a:blip r:embed="rIdImage2">
            <a:alphaModFix/>
          </a:blip>
          <a:stretch>
            <a:fillRect/>
          </a:stretch>
        </p:blipFill>
        <p:spPr>
          <a:xfrm>
            <a:off x="3886200" y="2047875"/>
            <a:ext cx="1381125" cy="2095500"/>
          </a:xfrm>
          <a:prstGeom prst="rect">
            <a:avLst/>
          </a:prstGeom>
          <a:noFill/>
          <a:ln>
            <a:noFill/>
          </a:ln>
        </p:spPr>
      </p:pic>
      <p:sp>
        <p:nvSpPr>
          <p:cNvPr id="5" name="K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Ke</ns0:t>
            </ns0:r>
          </ns0:p>
        </p:txBody>
      </p:sp>
      <p:pic xmlns:a="http://schemas.openxmlformats.org/drawingml/2006/main" xmlns:r="http://schemas.openxmlformats.org/officeDocument/2006/relationships">
        <p:nvPicPr>
          <p:cNvPr id="23" name="Google Shape;150;p23"/>
          <p:cNvPicPr preferRelativeResize="0"/>
          <p:nvPr/>
        </p:nvPicPr>
        <p:blipFill>
          <a:blip r:embed="rIdImage3">
            <a:alphaModFix/>
          </a:blip>
          <a:stretch>
            <a:fillRect/>
          </a:stretch>
        </p:blipFill>
        <p:spPr>
          <a:xfrm>
            <a:off x="5505450" y="2047875"/>
            <a:ext cx="1381125" cy="2095500"/>
          </a:xfrm>
          <a:prstGeom prst="rect">
            <a:avLst/>
          </a:prstGeom>
          <a:noFill/>
          <a:ln>
            <a:noFill/>
          </a:ln>
        </p:spPr>
      </p:pic>
      <p:sp>
        <p:nvSpPr>
          <p:cNvPr id="6" name="K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Ko</ns0:t>
            </ns0:r>
          </ns0:p>
        </p:txBody>
      </p:sp>
      <p:pic xmlns:a="http://schemas.openxmlformats.org/drawingml/2006/main" xmlns:r="http://schemas.openxmlformats.org/officeDocument/2006/relationships">
        <p:nvPicPr>
          <p:cNvPr id="24" name="Google Shape;160;p24"/>
          <p:cNvPicPr preferRelativeResize="0"/>
          <p:nvPr/>
        </p:nvPicPr>
        <p:blipFill>
          <a:blip r:embed="rIdImage4">
            <a:alphaModFix/>
          </a:blip>
          <a:stretch>
            <a:fillRect/>
          </a:stretch>
        </p:blipFill>
        <p:spPr>
          <a:xfrm>
            <a:off x="7124700" y="2047875"/>
            <a:ext cx="1381125" cy="2095500"/>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Hiragana: S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Hiragana: S row</ns0:t>
            </ns0:r>
          </ns0:p>
        </p:txBody>
      </p:sp>
      <p:sp>
        <p:nvSpPr>
          <p:cNvPr id="2" name="S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Sa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642938" y="2364733"/>
            <a:ext cx="1381125" cy="1604660"/>
          </a:xfrm>
          <a:prstGeom prst="rect">
            <a:avLst/>
          </a:prstGeom>
          <a:noFill/>
          <a:ln>
            <a:noFill/>
          </a:ln>
        </p:spPr>
      </p:pic>
      <p:sp>
        <p:nvSpPr>
          <p:cNvPr id="3" name="Sh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Shi</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2262188" y="2358001"/>
            <a:ext cx="1381125" cy="1618123"/>
          </a:xfrm>
          <a:prstGeom prst="rect">
            <a:avLst/>
          </a:prstGeom>
          <a:noFill/>
          <a:ln>
            <a:noFill/>
          </a:ln>
        </p:spPr>
      </p:pic>
      <p:sp>
        <p:nvSpPr>
          <p:cNvPr id="4" name="S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Su</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3881438" y="2367464"/>
            <a:ext cx="1381125" cy="1599197"/>
          </a:xfrm>
          <a:prstGeom prst="rect">
            <a:avLst/>
          </a:prstGeom>
          <a:noFill/>
          <a:ln>
            <a:noFill/>
          </a:ln>
        </p:spPr>
      </p:pic>
      <p:sp>
        <p:nvSpPr>
          <p:cNvPr id="5" name="S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Se</ns0:t>
            </ns0:r>
          </ns0:p>
        </p:txBody>
      </p:sp>
      <p:pic xmlns:a="http://schemas.openxmlformats.org/drawingml/2006/main" xmlns:r="http://schemas.openxmlformats.org/officeDocument/2006/relationships">
        <p:nvPicPr>
          <p:cNvPr id="23" name="Google Shape;160;p24"/>
          <p:cNvPicPr preferRelativeResize="0"/>
          <p:nvPr/>
        </p:nvPicPr>
        <p:blipFill>
          <a:blip r:embed="rIdImage3">
            <a:alphaModFix/>
          </a:blip>
          <a:stretch>
            <a:fillRect/>
          </a:stretch>
        </p:blipFill>
        <p:spPr>
          <a:xfrm>
            <a:off x="5500688" y="2368098"/>
            <a:ext cx="1381125" cy="1597930"/>
          </a:xfrm>
          <a:prstGeom prst="rect">
            <a:avLst/>
          </a:prstGeom>
          <a:noFill/>
          <a:ln>
            <a:noFill/>
          </a:ln>
        </p:spPr>
      </p:pic>
      <p:sp>
        <p:nvSpPr>
          <p:cNvPr id="6" name="S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So</ns0:t>
            </ns0:r>
          </ns0:p>
        </p:txBody>
      </p:sp>
      <p:pic xmlns:a="http://schemas.openxmlformats.org/drawingml/2006/main" xmlns:r="http://schemas.openxmlformats.org/officeDocument/2006/relationships">
        <p:nvPicPr>
          <p:cNvPr id="24" name="Google Shape;160;p24"/>
          <p:cNvPicPr preferRelativeResize="0"/>
          <p:nvPr/>
        </p:nvPicPr>
        <p:blipFill>
          <a:blip r:embed="rIdImage4">
            <a:alphaModFix/>
          </a:blip>
          <a:stretch>
            <a:fillRect/>
          </a:stretch>
        </p:blipFill>
        <p:spPr>
          <a:xfrm>
            <a:off x="7119938" y="2368098"/>
            <a:ext cx="1381125" cy="1597930"/>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Hiragana: T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Hiragana: T row</ns0:t>
            </ns0:r>
          </ns0:p>
        </p:txBody>
      </p:sp>
      <p:sp>
        <p:nvSpPr>
          <p:cNvPr id="2" name="T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Ta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642938" y="2320702"/>
            <a:ext cx="1381125" cy="1692720"/>
          </a:xfrm>
          <a:prstGeom prst="rect">
            <a:avLst/>
          </a:prstGeom>
          <a:noFill/>
          <a:ln>
            <a:noFill/>
          </a:ln>
        </p:spPr>
      </p:pic>
      <p:sp>
        <p:nvSpPr>
          <p:cNvPr id="3" name="Ch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Chi</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2262188" y="2333335"/>
            <a:ext cx="1381125" cy="1667456"/>
          </a:xfrm>
          <a:prstGeom prst="rect">
            <a:avLst/>
          </a:prstGeom>
          <a:noFill/>
          <a:ln>
            <a:noFill/>
          </a:ln>
        </p:spPr>
      </p:pic>
      <p:sp>
        <p:nvSpPr>
          <p:cNvPr id="4" name="Ts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Tsu</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3881438" y="2333335"/>
            <a:ext cx="1381125" cy="1667456"/>
          </a:xfrm>
          <a:prstGeom prst="rect">
            <a:avLst/>
          </a:prstGeom>
          <a:noFill/>
          <a:ln>
            <a:noFill/>
          </a:ln>
        </p:spPr>
      </p:pic>
      <p:sp>
        <p:nvSpPr>
          <p:cNvPr id="5" name="T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Te</ns0:t>
            </ns0:r>
          </ns0:p>
        </p:txBody>
      </p:sp>
      <p:pic xmlns:a="http://schemas.openxmlformats.org/drawingml/2006/main" xmlns:r="http://schemas.openxmlformats.org/officeDocument/2006/relationships">
        <p:nvPicPr>
          <p:cNvPr id="23" name="Google Shape;160;p24"/>
          <p:cNvPicPr preferRelativeResize="0"/>
          <p:nvPr/>
        </p:nvPicPr>
        <p:blipFill>
          <a:blip r:embed="rIdImage3">
            <a:alphaModFix/>
          </a:blip>
          <a:stretch>
            <a:fillRect/>
          </a:stretch>
        </p:blipFill>
        <p:spPr>
          <a:xfrm>
            <a:off x="5500688" y="2329124"/>
            <a:ext cx="1381125" cy="1675877"/>
          </a:xfrm>
          <a:prstGeom prst="rect">
            <a:avLst/>
          </a:prstGeom>
          <a:noFill/>
          <a:ln>
            <a:noFill/>
          </a:ln>
        </p:spPr>
      </p:pic>
      <p:sp>
        <p:nvSpPr>
          <p:cNvPr id="6" name="T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To</ns0:t>
            </ns0:r>
          </ns0:p>
        </p:txBody>
      </p:sp>
      <p:pic xmlns:a="http://schemas.openxmlformats.org/drawingml/2006/main" xmlns:r="http://schemas.openxmlformats.org/officeDocument/2006/relationships">
        <p:nvPicPr>
          <p:cNvPr id="24" name="Google Shape;160;p24"/>
          <p:cNvPicPr preferRelativeResize="0"/>
          <p:nvPr/>
        </p:nvPicPr>
        <p:blipFill>
          <a:blip r:embed="rIdImage4">
            <a:alphaModFix/>
          </a:blip>
          <a:stretch>
            <a:fillRect/>
          </a:stretch>
        </p:blipFill>
        <p:spPr>
          <a:xfrm>
            <a:off x="7119938" y="2329124"/>
            <a:ext cx="1381125" cy="1675877"/>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Hiragana: N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Hiragana: N row</ns0:t>
            </ns0:r>
          </ns0:p>
        </p:txBody>
      </p:sp>
      <p:sp>
        <p:nvSpPr>
          <p:cNvPr id="2" name="N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Na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642938" y="2320702"/>
            <a:ext cx="1381125" cy="1692720"/>
          </a:xfrm>
          <a:prstGeom prst="rect">
            <a:avLst/>
          </a:prstGeom>
          <a:noFill/>
          <a:ln>
            <a:noFill/>
          </a:ln>
        </p:spPr>
      </p:pic>
      <p:sp>
        <p:nvSpPr>
          <p:cNvPr id="3" name="N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Ni</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2262188" y="2333335"/>
            <a:ext cx="1381125" cy="1667456"/>
          </a:xfrm>
          <a:prstGeom prst="rect">
            <a:avLst/>
          </a:prstGeom>
          <a:noFill/>
          <a:ln>
            <a:noFill/>
          </a:ln>
        </p:spPr>
      </p:pic>
      <p:sp>
        <p:nvSpPr>
          <p:cNvPr id="4" name="N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Nu</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3881438" y="2333335"/>
            <a:ext cx="1381125" cy="1667456"/>
          </a:xfrm>
          <a:prstGeom prst="rect">
            <a:avLst/>
          </a:prstGeom>
          <a:noFill/>
          <a:ln>
            <a:noFill/>
          </a:ln>
        </p:spPr>
      </p:pic>
      <p:sp>
        <p:nvSpPr>
          <p:cNvPr id="5" name="N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Ne</ns0:t>
            </ns0:r>
          </ns0:p>
        </p:txBody>
      </p:sp>
      <p:pic xmlns:a="http://schemas.openxmlformats.org/drawingml/2006/main" xmlns:r="http://schemas.openxmlformats.org/officeDocument/2006/relationships">
        <p:nvPicPr>
          <p:cNvPr id="23" name="Google Shape;160;p24"/>
          <p:cNvPicPr preferRelativeResize="0"/>
          <p:nvPr/>
        </p:nvPicPr>
        <p:blipFill>
          <a:blip r:embed="rIdImage3">
            <a:alphaModFix/>
          </a:blip>
          <a:stretch>
            <a:fillRect/>
          </a:stretch>
        </p:blipFill>
        <p:spPr>
          <a:xfrm>
            <a:off x="5500688" y="2329124"/>
            <a:ext cx="1381125" cy="1675877"/>
          </a:xfrm>
          <a:prstGeom prst="rect">
            <a:avLst/>
          </a:prstGeom>
          <a:noFill/>
          <a:ln>
            <a:noFill/>
          </a:ln>
        </p:spPr>
      </p:pic>
      <p:sp>
        <p:nvSpPr>
          <p:cNvPr id="6" name="N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No</ns0:t>
            </ns0:r>
          </ns0:p>
        </p:txBody>
      </p:sp>
      <p:pic xmlns:a="http://schemas.openxmlformats.org/drawingml/2006/main" xmlns:r="http://schemas.openxmlformats.org/officeDocument/2006/relationships">
        <p:nvPicPr>
          <p:cNvPr id="24" name="Google Shape;160;p24"/>
          <p:cNvPicPr preferRelativeResize="0"/>
          <p:nvPr/>
        </p:nvPicPr>
        <p:blipFill>
          <a:blip r:embed="rIdImage4">
            <a:alphaModFix/>
          </a:blip>
          <a:stretch>
            <a:fillRect/>
          </a:stretch>
        </p:blipFill>
        <p:spPr>
          <a:xfrm>
            <a:off x="7119938" y="2329124"/>
            <a:ext cx="1381125" cy="1675877"/>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Hiragana: H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Hiragana: H row</ns0:t>
            </ns0:r>
          </ns0:p>
        </p:txBody>
      </p:sp>
      <p:sp>
        <p:nvSpPr>
          <p:cNvPr id="2" name="H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Ha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642938" y="2320702"/>
            <a:ext cx="1381125" cy="1692720"/>
          </a:xfrm>
          <a:prstGeom prst="rect">
            <a:avLst/>
          </a:prstGeom>
          <a:noFill/>
          <a:ln>
            <a:noFill/>
          </a:ln>
        </p:spPr>
      </p:pic>
      <p:sp>
        <p:nvSpPr>
          <p:cNvPr id="3" name="H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Hi</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2262188" y="2333335"/>
            <a:ext cx="1381125" cy="1667456"/>
          </a:xfrm>
          <a:prstGeom prst="rect">
            <a:avLst/>
          </a:prstGeom>
          <a:noFill/>
          <a:ln>
            <a:noFill/>
          </a:ln>
        </p:spPr>
      </p:pic>
      <p:sp>
        <p:nvSpPr>
          <p:cNvPr id="4" name="F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Fu</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3881438" y="2333335"/>
            <a:ext cx="1381125" cy="1667456"/>
          </a:xfrm>
          <a:prstGeom prst="rect">
            <a:avLst/>
          </a:prstGeom>
          <a:noFill/>
          <a:ln>
            <a:noFill/>
          </a:ln>
        </p:spPr>
      </p:pic>
      <p:sp>
        <p:nvSpPr>
          <p:cNvPr id="5" name="H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He</ns0:t>
            </ns0:r>
          </ns0:p>
        </p:txBody>
      </p:sp>
      <p:pic xmlns:a="http://schemas.openxmlformats.org/drawingml/2006/main" xmlns:r="http://schemas.openxmlformats.org/officeDocument/2006/relationships">
        <p:nvPicPr>
          <p:cNvPr id="23" name="Google Shape;160;p24"/>
          <p:cNvPicPr preferRelativeResize="0"/>
          <p:nvPr/>
        </p:nvPicPr>
        <p:blipFill>
          <a:blip r:embed="rIdImage3">
            <a:alphaModFix/>
          </a:blip>
          <a:stretch>
            <a:fillRect/>
          </a:stretch>
        </p:blipFill>
        <p:spPr>
          <a:xfrm>
            <a:off x="5500688" y="2329124"/>
            <a:ext cx="1381125" cy="1675877"/>
          </a:xfrm>
          <a:prstGeom prst="rect">
            <a:avLst/>
          </a:prstGeom>
          <a:noFill/>
          <a:ln>
            <a:noFill/>
          </a:ln>
        </p:spPr>
      </p:pic>
      <p:sp>
        <p:nvSpPr>
          <p:cNvPr id="6" name="H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Ho</ns0:t>
            </ns0:r>
          </ns0:p>
        </p:txBody>
      </p:sp>
      <p:pic xmlns:a="http://schemas.openxmlformats.org/drawingml/2006/main" xmlns:r="http://schemas.openxmlformats.org/officeDocument/2006/relationships">
        <p:nvPicPr>
          <p:cNvPr id="24" name="Google Shape;160;p24"/>
          <p:cNvPicPr preferRelativeResize="0"/>
          <p:nvPr/>
        </p:nvPicPr>
        <p:blipFill>
          <a:blip r:embed="rIdImage4">
            <a:alphaModFix/>
          </a:blip>
          <a:stretch>
            <a:fillRect/>
          </a:stretch>
        </p:blipFill>
        <p:spPr>
          <a:xfrm>
            <a:off x="7119938" y="2329124"/>
            <a:ext cx="1381125" cy="1675877"/>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Hiragana: M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Hiragana: M row</ns0:t>
            </ns0:r>
          </ns0:p>
        </p:txBody>
      </p:sp>
      <p:sp>
        <p:nvSpPr>
          <p:cNvPr id="2" name="M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Ma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642938" y="2320702"/>
            <a:ext cx="1381125" cy="1692720"/>
          </a:xfrm>
          <a:prstGeom prst="rect">
            <a:avLst/>
          </a:prstGeom>
          <a:noFill/>
          <a:ln>
            <a:noFill/>
          </a:ln>
        </p:spPr>
      </p:pic>
      <p:sp>
        <p:nvSpPr>
          <p:cNvPr id="3" name="M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Mi</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2262188" y="2333335"/>
            <a:ext cx="1381125" cy="1667456"/>
          </a:xfrm>
          <a:prstGeom prst="rect">
            <a:avLst/>
          </a:prstGeom>
          <a:noFill/>
          <a:ln>
            <a:noFill/>
          </a:ln>
        </p:spPr>
      </p:pic>
      <p:sp>
        <p:nvSpPr>
          <p:cNvPr id="4" name="M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Mu</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3881438" y="2333335"/>
            <a:ext cx="1381125" cy="1667456"/>
          </a:xfrm>
          <a:prstGeom prst="rect">
            <a:avLst/>
          </a:prstGeom>
          <a:noFill/>
          <a:ln>
            <a:noFill/>
          </a:ln>
        </p:spPr>
      </p:pic>
      <p:sp>
        <p:nvSpPr>
          <p:cNvPr id="5" name="M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Me</ns0:t>
            </ns0:r>
          </ns0:p>
        </p:txBody>
      </p:sp>
      <p:pic xmlns:a="http://schemas.openxmlformats.org/drawingml/2006/main" xmlns:r="http://schemas.openxmlformats.org/officeDocument/2006/relationships">
        <p:nvPicPr>
          <p:cNvPr id="23" name="Google Shape;160;p24"/>
          <p:cNvPicPr preferRelativeResize="0"/>
          <p:nvPr/>
        </p:nvPicPr>
        <p:blipFill>
          <a:blip r:embed="rIdImage3">
            <a:alphaModFix/>
          </a:blip>
          <a:stretch>
            <a:fillRect/>
          </a:stretch>
        </p:blipFill>
        <p:spPr>
          <a:xfrm>
            <a:off x="5500688" y="2329124"/>
            <a:ext cx="1381125" cy="1675877"/>
          </a:xfrm>
          <a:prstGeom prst="rect">
            <a:avLst/>
          </a:prstGeom>
          <a:noFill/>
          <a:ln>
            <a:noFill/>
          </a:ln>
        </p:spPr>
      </p:pic>
      <p:sp>
        <p:nvSpPr>
          <p:cNvPr id="6" name="M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Mo</ns0:t>
            </ns0:r>
          </ns0:p>
        </p:txBody>
      </p:sp>
      <p:pic xmlns:a="http://schemas.openxmlformats.org/drawingml/2006/main" xmlns:r="http://schemas.openxmlformats.org/officeDocument/2006/relationships">
        <p:nvPicPr>
          <p:cNvPr id="24" name="Google Shape;160;p24"/>
          <p:cNvPicPr preferRelativeResize="0"/>
          <p:nvPr/>
        </p:nvPicPr>
        <p:blipFill>
          <a:blip r:embed="rIdImage4">
            <a:alphaModFix/>
          </a:blip>
          <a:stretch>
            <a:fillRect/>
          </a:stretch>
        </p:blipFill>
        <p:spPr>
          <a:xfrm>
            <a:off x="7119938" y="2329124"/>
            <a:ext cx="1381125" cy="1675877"/>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Hiragana: Y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Hiragana: Y row</ns0:t>
            </ns0:r>
          </ns0:p>
        </p:txBody>
      </p:sp>
      <p:sp>
        <p:nvSpPr>
          <p:cNvPr id="2" name="Y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Ya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2262188" y="2320702"/>
            <a:ext cx="1381125" cy="1692720"/>
          </a:xfrm>
          <a:prstGeom prst="rect">
            <a:avLst/>
          </a:prstGeom>
          <a:noFill/>
          <a:ln>
            <a:noFill/>
          </a:ln>
        </p:spPr>
      </p:pic>
      <p:sp>
        <p:nvSpPr>
          <p:cNvPr id="3" name="Y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Yu</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3881438" y="2333335"/>
            <a:ext cx="1381125" cy="1667456"/>
          </a:xfrm>
          <a:prstGeom prst="rect">
            <a:avLst/>
          </a:prstGeom>
          <a:noFill/>
          <a:ln>
            <a:noFill/>
          </a:ln>
        </p:spPr>
      </p:pic>
      <p:sp>
        <p:nvSpPr>
          <p:cNvPr id="4" name="Y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Yo</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5500688" y="2329124"/>
            <a:ext cx="1381125" cy="1675877"/>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Hiragana: R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Hiragana: R row</ns0:t>
            </ns0:r>
          </ns0:p>
        </p:txBody>
      </p:sp>
      <p:sp>
        <p:nvSpPr>
          <p:cNvPr id="2" name="R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Ra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642938" y="2320702"/>
            <a:ext cx="1381125" cy="1692720"/>
          </a:xfrm>
          <a:prstGeom prst="rect">
            <a:avLst/>
          </a:prstGeom>
          <a:noFill/>
          <a:ln>
            <a:noFill/>
          </a:ln>
        </p:spPr>
      </p:pic>
      <p:sp>
        <p:nvSpPr>
          <p:cNvPr id="3" name="R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Ri</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2262188" y="2333335"/>
            <a:ext cx="1381125" cy="1667456"/>
          </a:xfrm>
          <a:prstGeom prst="rect">
            <a:avLst/>
          </a:prstGeom>
          <a:noFill/>
          <a:ln>
            <a:noFill/>
          </a:ln>
        </p:spPr>
      </p:pic>
      <p:sp>
        <p:nvSpPr>
          <p:cNvPr id="4" name="R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Ru</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3881438" y="2333335"/>
            <a:ext cx="1381125" cy="1667456"/>
          </a:xfrm>
          <a:prstGeom prst="rect">
            <a:avLst/>
          </a:prstGeom>
          <a:noFill/>
          <a:ln>
            <a:noFill/>
          </a:ln>
        </p:spPr>
      </p:pic>
      <p:sp>
        <p:nvSpPr>
          <p:cNvPr id="5" name="R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Re</ns0:t>
            </ns0:r>
          </ns0:p>
        </p:txBody>
      </p:sp>
      <p:pic xmlns:a="http://schemas.openxmlformats.org/drawingml/2006/main" xmlns:r="http://schemas.openxmlformats.org/officeDocument/2006/relationships">
        <p:nvPicPr>
          <p:cNvPr id="23" name="Google Shape;160;p24"/>
          <p:cNvPicPr preferRelativeResize="0"/>
          <p:nvPr/>
        </p:nvPicPr>
        <p:blipFill>
          <a:blip r:embed="rIdImage3">
            <a:alphaModFix/>
          </a:blip>
          <a:stretch>
            <a:fillRect/>
          </a:stretch>
        </p:blipFill>
        <p:spPr>
          <a:xfrm>
            <a:off x="5500688" y="2329124"/>
            <a:ext cx="1381125" cy="1675877"/>
          </a:xfrm>
          <a:prstGeom prst="rect">
            <a:avLst/>
          </a:prstGeom>
          <a:noFill/>
          <a:ln>
            <a:noFill/>
          </a:ln>
        </p:spPr>
      </p:pic>
      <p:sp>
        <p:nvSpPr>
          <p:cNvPr id="6" name="R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Ro</ns0:t>
            </ns0:r>
          </ns0:p>
        </p:txBody>
      </p:sp>
      <p:pic xmlns:a="http://schemas.openxmlformats.org/drawingml/2006/main" xmlns:r="http://schemas.openxmlformats.org/officeDocument/2006/relationships">
        <p:nvPicPr>
          <p:cNvPr id="24" name="Google Shape;160;p24"/>
          <p:cNvPicPr preferRelativeResize="0"/>
          <p:nvPr/>
        </p:nvPicPr>
        <p:blipFill>
          <a:blip r:embed="rIdImage4">
            <a:alphaModFix/>
          </a:blip>
          <a:stretch>
            <a:fillRect/>
          </a:stretch>
        </p:blipFill>
        <p:spPr>
          <a:xfrm>
            <a:off x="7119938" y="2329124"/>
            <a:ext cx="1381125" cy="1675877"/>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Hiragana: W row and final 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Hiragana: W row and final N</ns0:t>
            </ns0:r>
          </ns0:p>
        </p:txBody>
      </p:sp>
      <p:sp>
        <p:nvSpPr>
          <p:cNvPr id="2" name="W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Wa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2262188" y="2325832"/>
            <a:ext cx="1381125" cy="1682461"/>
          </a:xfrm>
          <a:prstGeom prst="rect">
            <a:avLst/>
          </a:prstGeom>
          <a:noFill/>
          <a:ln>
            <a:noFill/>
          </a:ln>
        </p:spPr>
      </p:pic>
      <p:sp>
        <p:nvSpPr>
          <p:cNvPr id="3" name="W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Wo</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3881438" y="2334202"/>
            <a:ext cx="1381125" cy="1665720"/>
          </a:xfrm>
          <a:prstGeom prst="rect">
            <a:avLst/>
          </a:prstGeom>
          <a:noFill/>
          <a:ln>
            <a:noFill/>
          </a:ln>
        </p:spPr>
      </p:pic>
      <p:sp>
        <p:nvSpPr>
          <p:cNvPr id="4" name="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N</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5500688" y="2320702"/>
            <a:ext cx="1381125" cy="1692720"/>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Hiragana: Final 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Hiragana: Final N</ns0:t>
            </ns0:r>
          </ns0:p>
        </p:txBody>
      </p:sp>
      <p:sp>
        <p:nvSpPr>
          <p:cNvPr id="2" name="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N</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3881438" y="2320702"/>
            <a:ext cx="1381125" cy="1692720"/>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About This Workbook">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52450" y="333375"/>
            <a:ext cx="8039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About This Workbook</ns0:t>
            </ns0:r>
          </ns0:p>
        </p:txBody>
      </p:sp>
      <p:sp>
        <p:nvSpPr>
          <p:cNvPr id="2" name="Hiragana Together is a free, openly licensed resource for beginning learners, teachers, and study group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000125"/>
            <a:ext cx="7905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0">
                <ns0:solidFill>
                  <ns0:srgbClr val="000000"/>
                </ns0:solidFill>
                <ns0:latin typeface="Arial"/>
              </ns0:rPr>
              <ns0:t>A free, openly licensed resource for individual learners, study groups, and classrooms. You’re welcome to edit, share, and reupload it under the included license terms.
See slide 90, “Sharing and Adapting This Workbook,” for details.</ns0:t>
            </ns0:r>
          </ns0:p>
        </p:txBody>
      </p:sp>
      <p:sp>
        <p:nvSpPr>
          <p:cNvPr id="3" name="Learn one row at a tim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2171700"/>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1">
                <ns0:solidFill>
                  <ns0:srgbClr val="000000"/>
                </ns0:solidFill>
                <ns0:latin typeface="Arial"/>
              </ns0:rPr>
              <ns0:t>Learn one row at a time</ns0:t>
            </ns0:r>
          </ns0:p>
        </p:txBody>
      </p:sp>
      <p:sp>
        <p:nvSpPr>
          <p:cNvPr id="4" name="Start with the row overview. Then practice each character using its pronunciation, stroke order, and mnemonic illustratio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2628900"/>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rPr>
              <ns0:t>Start with the row overview. Then practice each character using its pronunciation, stroke order, and mnemonic illustration.</ns0:t>
            </ns0:r>
          </ns0:p>
        </p:txBody>
      </p:sp>
      <p:sp>
        <p:nvSpPr>
          <p:cNvPr id="5" name="Practice the sound rul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3619500"/>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1">
                <ns0:solidFill>
                  <ns0:srgbClr val="000000"/>
                </ns0:solidFill>
                <ns0:latin typeface="Arial"/>
              </ns0:rPr>
              <ns0:t>Practice the sound rules</ns0:t>
            </ns0:r>
          </ns0:p>
        </p:txBody>
      </p:sp>
      <p:sp>
        <p:nvSpPr>
          <p:cNvPr id="6" name="After the 46 basic characters, explore small kana, sound changes, long vowels, and the final review. Instructor answers are in the review slide’s not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4048125"/>
            <a:ext cx="790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rPr>
              <ns0:t>After the 46 basic characters, explore combined sounds, particles, long vowels, and small っ.</ns0:t>
            </ns0:r>
          </ns0:p>
        </p:txBody>
      </p:sp>
    </p:spTree>
    <p:extLst>
      <p:ext uri="{BB962C8B-B14F-4D97-AF65-F5344CB8AC3E}">
        <p14:creationId xmlns:p14="http://schemas.microsoft.com/office/powerpoint/2010/main" val="1935321925"/>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haring and Adapting This Workbook">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52450" y="333375"/>
            <a:ext cx="8039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Sharing and Adapting This Workbook</ns0:t>
            </ns0:r>
          </ns0:p>
        </p:txBody>
      </p:sp>
      <p:sp>
        <p:nvSpPr>
          <p:cNvPr id="2" name="Original contributions by Soreasan / ソレアサン are licensed under Creative Commons Attribution-ShareAlike 4.0 International (CC BY-SA 4.0).">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095375"/>
            <a:ext cx="790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ea typeface="Noto Sans CJK JP"/>
              </ns0:rPr>
              <ns0:t>Original contributions by Soreasan / ソレアサン are licensed under Creative Commons Attribution-ShareAlike 4.0 International (CC BY-SA 4.0).</ns0:t>
            </ns0:r>
          </ns0:p>
        </p:txBody>
      </p:sp>
      <p:sp>
        <p:nvSpPr>
          <p:cNvPr id="3" name="You may copy, share, teach from, and adapt those contributions, including for commercial use, under the license term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2019300"/>
            <a:ext cx="7905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rPr>
              <ns0:t>You may copy, share, teach from, and adapt those contributions, including for commercial use, under the license terms.</ns0:t>
            </ns0:r>
          </ns0:p>
        </p:txBody>
      </p:sp>
      <p:sp>
        <p:nvSpPr>
          <p:cNvPr id="4" name="Keep the credits and license links. Identify your changes. Share adaptations under CC BY-SA 4.0 or a permitted compatible license. Do not add restrictions that conflict with the licens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2819400"/>
            <a:ext cx="790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rPr>
              <ns0:t>Keep the credits and license links. Identify your changes. Share adaptations under CC BY-SA 4.0 or a permitted compatible license. Do not add restrictions that conflict with the license.</ns0:t>
            </ns0:r>
          </ns0:p>
        </p:txBody>
      </p:sp>
      <p:sp>
        <p:nvSpPr>
          <p:cNvPr id="5" name="Third-party artwork retains its credited license. Preserve the source, creator, license, and cropping/resizing notices when reusing it. See the Sources &amp; Attribution slid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3914775"/>
            <a:ext cx="7905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0">
                <ns0:solidFill>
                  <ns0:srgbClr val="000000"/>
                </ns0:solidFill>
                <ns0:latin typeface="Arial"/>
              </ns0:rPr>
              <ns0:t>Third-party artwork retains its credited license. Preserve the source, creator, license, and cropping/resizing notices when reusing it. See the Sources &amp; Attribution slides.</ns0:t>
            </ns0:r>
          </ns0:p>
        </p:txBody>
      </p:sp>
      <p:sp>
        <p:nvSpPr>
          <p:cNvPr id="6" name="creativecommons.org/licenses/by-sa/4.0/">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4743450"/>
            <a:ext cx="790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300" b="0" u="sng">
                <ns0:solidFill>
                  <ns0:srgbClr val="0097A7"/>
                </ns0:solidFill>
                <ns0:latin typeface="Arial"/>
                <ns0:hlinkClick xmlns:ns1="http://schemas.openxmlformats.org/officeDocument/2006/relationships" ns1:id="rIdLicense"/>
              </ns0:rPr>
              <ns0:t>creativecommons.org/licenses/by-sa/4.0/</ns0:t>
            </ns0:r>
          </ns0:p>
        </p:txBody>
      </p:sp>
    </p:spTree>
    <p:extLst>
      <p:ext uri="{BB962C8B-B14F-4D97-AF65-F5344CB8AC3E}">
        <p14:creationId xmlns:p14="http://schemas.microsoft.com/office/powerpoint/2010/main" val="1935321925"/>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Project Not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52450" y="333375"/>
            <a:ext cx="8039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Project Notes</ns0:t>
            </ns0:r>
          </ns0:p>
        </p:txBody>
      </p:sp>
      <p:sp>
        <p:nvSpPr>
          <p:cNvPr id="2" name="Independent project">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143000"/>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1">
                <ns0:solidFill>
                  <ns0:srgbClr val="000000"/>
                </ns0:solidFill>
                <ns0:latin typeface="Arial"/>
              </ns0:rPr>
              <ns0:t>Independent project</ns0:t>
            </ns0:r>
          </ns0:p>
        </p:txBody>
      </p:sp>
      <p:sp>
        <p:nvSpPr>
          <p:cNvPr id="3" name="Independent project notic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581150"/>
            <a:ext cx="7905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ea typeface="Noto Sans CJK JP"/>
              </ns0:rPr>
              <ns0:t>This workbook is an independent personal project created by
Soreasan / ソレアサン.</ns0:t>
            </ns0:r>
          </ns0:p>
        </p:txBody>
      </p:sp>
      <p:sp>
        <p:nvSpPr>
          <p:cNvPr id="4" name="Please direct questions, corrections, and concerns about this workbook to the creato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2571750"/>
            <a:ext cx="790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rPr>
              <ns0:t>Please direct questions, corrections, and concerns about this workbook to the creator.</ns0:t>
            </ns0:r>
          </ns0:p>
        </p:txBody>
      </p:sp>
      <p:sp>
        <p:nvSpPr>
          <p:cNvPr id="5" name="AI assistanc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3314700"/>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1">
                <ns0:solidFill>
                  <ns0:srgbClr val="000000"/>
                </ns0:solidFill>
                <ns0:latin typeface="Arial"/>
              </ns0:rPr>
              <ns0:t>AI assistance</ns0:t>
            </ns0:r>
          </ns0:p>
        </p:txBody>
      </p:sp>
      <p:sp>
        <p:nvSpPr>
          <p:cNvPr id="6" name="AI tools assisted with slide organization, layout, and drafting. Artwork sources are credited separately.">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3752850"/>
            <a:ext cx="790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rPr>
              <ns0:t>AI tools assisted with slide organization, layout, and drafting. Artwork sources are credited separately.</ns0:t>
            </ns0:r>
          </ns0:p>
        </p:txBody>
      </p:sp>
      <p:sp>
        <p:nvSpPr>
          <p:cNvPr id="7" name="Provided as-is, without warranties. Please review the material before teaching or adapting it.">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4552950"/>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300" b="0">
                <ns0:solidFill>
                  <ns0:srgbClr val="000000"/>
                </ns0:solidFill>
                <ns0:latin typeface="Arial"/>
              </ns0:rPr>
              <ns0:t>Provided as-is, without warranties. Please review the material before teaching or adapting it.</ns0:t>
            </ns0:r>
          </ns0:p>
        </p:txBody>
      </p:sp>
    </p:spTree>
    <p:extLst>
      <p:ext uri="{BB962C8B-B14F-4D97-AF65-F5344CB8AC3E}">
        <p14:creationId xmlns:p14="http://schemas.microsoft.com/office/powerpoint/2010/main" val="1935321925"/>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Hiragana at a Glanc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52450" y="285750"/>
            <a:ext cx="8039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ea typeface="Noto Sans CJK JP"/>
              </ns0:rPr>
              <ns0:t>Hiragana at a Glance</ns0:t>
            </ns0:r>
          </ns0:p>
        </p:txBody>
      </p:sp>
      <p:sp>
        <p:nvSpPr>
          <p:cNvPr id="3" name="Basic hiragan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9525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900" b="1">
                <ns0:solidFill>
                  <ns0:srgbClr val="595959"/>
                </ns0:solidFill>
                <ns0:latin typeface="Arial"/>
                <ns0:ea typeface="Noto Sans CJK JP"/>
              </ns0:rPr>
              <ns0:t>Basic hiragana</ns0:t>
            </ns0:r>
          </ns0:p>
        </p:txBody>
      </p:sp>
      <p:sp>
        <p:nvSpPr>
          <p:cNvPr id="10" nam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
            </ns0:r>
          </ns0:p>
        </p:txBody>
      </p:sp>
      <p:sp>
        <p:nvSpPr>
          <p:cNvPr id="11" name="k">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6680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k</ns0:t>
            </ns0:r>
          </ns0:p>
        </p:txBody>
      </p:sp>
      <p:sp>
        <p:nvSpPr>
          <p:cNvPr id="12" nam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46685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s</ns0:t>
            </ns0:r>
          </ns0:p>
        </p:txBody>
      </p:sp>
      <p:sp>
        <p:nvSpPr>
          <p:cNvPr id="13" name="t">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86690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t</ns0:t>
            </ns0:r>
          </ns0:p>
        </p:txBody>
      </p:sp>
      <p:sp>
        <p:nvSpPr>
          <p:cNvPr id="14" name="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6695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n</ns0:t>
            </ns0:r>
          </ns0:p>
        </p:txBody>
      </p:sp>
      <p:sp>
        <p:nvSpPr>
          <p:cNvPr id="15" name="h">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66700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h</ns0:t>
            </ns0:r>
          </ns0:p>
        </p:txBody>
      </p:sp>
      <p:sp>
        <p:nvSpPr>
          <p:cNvPr id="16" name="m">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6705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m</ns0:t>
            </ns0:r>
          </ns0:p>
        </p:txBody>
      </p:sp>
      <p:sp>
        <p:nvSpPr>
          <p:cNvPr id="17" name="y">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46710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y</ns0:t>
            </ns0:r>
          </ns0:p>
        </p:txBody>
      </p:sp>
      <p:sp>
        <p:nvSpPr>
          <p:cNvPr id="18" name="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6715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r</ns0:t>
            </ns0:r>
          </ns0:p>
        </p:txBody>
      </p:sp>
      <p:sp>
        <p:nvSpPr>
          <p:cNvPr id="19" name="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6720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w</ns0:t>
            </ns0:r>
          </ns0:p>
        </p:txBody>
      </p:sp>
      <p:sp>
        <p:nvSpPr>
          <p:cNvPr id="30" name="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1676400"/>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300" b="0">
                <ns0:solidFill>
                  <ns0:srgbClr val="000000"/>
                </ns0:solidFill>
                <ns0:latin typeface="Arial"/>
                <ns0:ea typeface="Noto Sans CJK JP"/>
              </ns0:rPr>
              <ns0:t>a</ns0:t>
            </ns0:r>
          </ns0:p>
        </p:txBody>
      </p:sp>
      <p:sp>
        <p:nvSpPr>
          <p:cNvPr id="40" name="あ">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あ</ns0:t>
            </ns0:r>
          </ns0:p>
        </p:txBody>
      </p:sp>
      <p:sp>
        <p:nvSpPr>
          <p:cNvPr id="41" name="か">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6680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か</ns0:t>
            </ns0:r>
          </ns0:p>
        </p:txBody>
      </p:sp>
      <p:sp>
        <p:nvSpPr>
          <p:cNvPr id="42" name="さ">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46685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さ</ns0:t>
            </ns0:r>
          </ns0:p>
        </p:txBody>
      </p:sp>
      <p:sp>
        <p:nvSpPr>
          <p:cNvPr id="43" name="た">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86690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た</ns0:t>
            </ns0:r>
          </ns0:p>
        </p:txBody>
      </p:sp>
      <p:sp>
        <p:nvSpPr>
          <p:cNvPr id="44" name="な">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6695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な</ns0:t>
            </ns0:r>
          </ns0:p>
        </p:txBody>
      </p:sp>
      <p:sp>
        <p:nvSpPr>
          <p:cNvPr id="45" name="は">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66700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は</ns0:t>
            </ns0:r>
          </ns0:p>
        </p:txBody>
      </p:sp>
      <p:sp>
        <p:nvSpPr>
          <p:cNvPr id="46" name="ま">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6705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ま</ns0:t>
            </ns0:r>
          </ns0:p>
        </p:txBody>
      </p:sp>
      <p:sp>
        <p:nvSpPr>
          <p:cNvPr id="47" name="や">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46710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や</ns0:t>
            </ns0:r>
          </ns0:p>
        </p:txBody>
      </p:sp>
      <p:sp>
        <p:nvSpPr>
          <p:cNvPr id="48" name="ら">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6715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ら</ns0:t>
            </ns0:r>
          </ns0:p>
        </p:txBody>
      </p:sp>
      <p:sp>
        <p:nvSpPr>
          <p:cNvPr id="49" name="わ">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6720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わ</ns0:t>
            </ns0:r>
          </ns0:p>
        </p:txBody>
      </p:sp>
      <p:sp>
        <p:nvSpPr>
          <p:cNvPr id="31" name="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2038350"/>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300" b="0">
                <ns0:solidFill>
                  <ns0:srgbClr val="000000"/>
                </ns0:solidFill>
                <ns0:latin typeface="Arial"/>
                <ns0:ea typeface="Noto Sans CJK JP"/>
              </ns0:rPr>
              <ns0:t>i</ns0:t>
            </ns0:r>
          </ns0:p>
        </p:txBody>
      </p:sp>
      <p:sp>
        <p:nvSpPr>
          <p:cNvPr id="50" name="い">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い</ns0:t>
            </ns0:r>
          </ns0:p>
        </p:txBody>
      </p:sp>
      <p:sp>
        <p:nvSpPr>
          <p:cNvPr id="51" name="き">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6680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き</ns0:t>
            </ns0:r>
          </ns0:p>
        </p:txBody>
      </p:sp>
      <p:sp>
        <p:nvSpPr>
          <p:cNvPr id="52" name="し">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46685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し</ns0:t>
            </ns0:r>
          </ns0:p>
        </p:txBody>
      </p:sp>
      <p:sp>
        <p:nvSpPr>
          <p:cNvPr id="53" name="ち">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86690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ち</ns0:t>
            </ns0:r>
          </ns0:p>
        </p:txBody>
      </p:sp>
      <p:sp>
        <p:nvSpPr>
          <p:cNvPr id="54" name="に">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6695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に</ns0:t>
            </ns0:r>
          </ns0:p>
        </p:txBody>
      </p:sp>
      <p:sp>
        <p:nvSpPr>
          <p:cNvPr id="55" name="ひ">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66700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ひ</ns0:t>
            </ns0:r>
          </ns0:p>
        </p:txBody>
      </p:sp>
      <p:sp>
        <p:nvSpPr>
          <p:cNvPr id="56" name="み">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6705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み</ns0:t>
            </ns0:r>
          </ns0:p>
        </p:txBody>
      </p:sp>
      <p:sp>
        <p:nvSpPr>
          <p:cNvPr id="58" name="り">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6715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り</ns0:t>
            </ns0:r>
          </ns0:p>
        </p:txBody>
      </p:sp>
      <p:sp>
        <p:nvSpPr>
          <p:cNvPr id="32" name="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2400300"/>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300" b="0">
                <ns0:solidFill>
                  <ns0:srgbClr val="000000"/>
                </ns0:solidFill>
                <ns0:latin typeface="Arial"/>
                <ns0:ea typeface="Noto Sans CJK JP"/>
              </ns0:rPr>
              <ns0:t>u</ns0:t>
            </ns0:r>
          </ns0:p>
        </p:txBody>
      </p:sp>
      <p:sp>
        <p:nvSpPr>
          <p:cNvPr id="60" name="う">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う</ns0:t>
            </ns0:r>
          </ns0:p>
        </p:txBody>
      </p:sp>
      <p:sp>
        <p:nvSpPr>
          <p:cNvPr id="61" name="く">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6680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く</ns0:t>
            </ns0:r>
          </ns0:p>
        </p:txBody>
      </p:sp>
      <p:sp>
        <p:nvSpPr>
          <p:cNvPr id="62" name="す">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46685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す</ns0:t>
            </ns0:r>
          </ns0:p>
        </p:txBody>
      </p:sp>
      <p:sp>
        <p:nvSpPr>
          <p:cNvPr id="63" name="つ">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86690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つ</ns0:t>
            </ns0:r>
          </ns0:p>
        </p:txBody>
      </p:sp>
      <p:sp>
        <p:nvSpPr>
          <p:cNvPr id="64" name="ぬ">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6695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ぬ</ns0:t>
            </ns0:r>
          </ns0:p>
        </p:txBody>
      </p:sp>
      <p:sp>
        <p:nvSpPr>
          <p:cNvPr id="65" name="ふ">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66700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ふ</ns0:t>
            </ns0:r>
          </ns0:p>
        </p:txBody>
      </p:sp>
      <p:sp>
        <p:nvSpPr>
          <p:cNvPr id="66" name="む">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6705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む</ns0:t>
            </ns0:r>
          </ns0:p>
        </p:txBody>
      </p:sp>
      <p:sp>
        <p:nvSpPr>
          <p:cNvPr id="67" name="ゆ">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46710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ゆ</ns0:t>
            </ns0:r>
          </ns0:p>
        </p:txBody>
      </p:sp>
      <p:sp>
        <p:nvSpPr>
          <p:cNvPr id="68" name="る">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6715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る</ns0:t>
            </ns0:r>
          </ns0:p>
        </p:txBody>
      </p:sp>
      <p:sp>
        <p:nvSpPr>
          <p:cNvPr id="33" name="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2762250"/>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300" b="0">
                <ns0:solidFill>
                  <ns0:srgbClr val="000000"/>
                </ns0:solidFill>
                <ns0:latin typeface="Arial"/>
                <ns0:ea typeface="Noto Sans CJK JP"/>
              </ns0:rPr>
              <ns0:t>e</ns0:t>
            </ns0:r>
          </ns0:p>
        </p:txBody>
      </p:sp>
      <p:sp>
        <p:nvSpPr>
          <p:cNvPr id="70"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え</ns0:t>
            </ns0:r>
          </ns0:p>
        </p:txBody>
      </p:sp>
      <p:sp>
        <p:nvSpPr>
          <p:cNvPr id="71" name="け">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6680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け</ns0:t>
            </ns0:r>
          </ns0:p>
        </p:txBody>
      </p:sp>
      <p:sp>
        <p:nvSpPr>
          <p:cNvPr id="72" name="せ">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46685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せ</ns0:t>
            </ns0:r>
          </ns0:p>
        </p:txBody>
      </p:sp>
      <p:sp>
        <p:nvSpPr>
          <p:cNvPr id="73" name="て">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86690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て</ns0:t>
            </ns0:r>
          </ns0:p>
        </p:txBody>
      </p:sp>
      <p:sp>
        <p:nvSpPr>
          <p:cNvPr id="74" name="ね">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6695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ね</ns0:t>
            </ns0:r>
          </ns0:p>
        </p:txBody>
      </p:sp>
      <p:sp>
        <p:nvSpPr>
          <p:cNvPr id="75" name="へ">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66700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へ</ns0:t>
            </ns0:r>
          </ns0:p>
        </p:txBody>
      </p:sp>
      <p:sp>
        <p:nvSpPr>
          <p:cNvPr id="76" name="め">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6705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め</ns0:t>
            </ns0:r>
          </ns0:p>
        </p:txBody>
      </p:sp>
      <p:sp>
        <p:nvSpPr>
          <p:cNvPr id="78" name="れ">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6715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れ</ns0:t>
            </ns0:r>
          </ns0:p>
        </p:txBody>
      </p:sp>
      <p:sp>
        <p:nvSpPr>
          <p:cNvPr id="34" name="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3124200"/>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300" b="0">
                <ns0:solidFill>
                  <ns0:srgbClr val="000000"/>
                </ns0:solidFill>
                <ns0:latin typeface="Arial"/>
                <ns0:ea typeface="Noto Sans CJK JP"/>
              </ns0:rPr>
              <ns0:t>o</ns0:t>
            </ns0:r>
          </ns0:p>
        </p:txBody>
      </p:sp>
      <p:sp>
        <p:nvSpPr>
          <p:cNvPr id="80" name="お">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お</ns0:t>
            </ns0:r>
          </ns0:p>
        </p:txBody>
      </p:sp>
      <p:sp>
        <p:nvSpPr>
          <p:cNvPr id="81" name="こ">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6680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こ</ns0:t>
            </ns0:r>
          </ns0:p>
        </p:txBody>
      </p:sp>
      <p:sp>
        <p:nvSpPr>
          <p:cNvPr id="82" name="そ">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46685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そ</ns0:t>
            </ns0:r>
          </ns0:p>
        </p:txBody>
      </p:sp>
      <p:sp>
        <p:nvSpPr>
          <p:cNvPr id="83" name="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86690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と</ns0:t>
            </ns0:r>
          </ns0:p>
        </p:txBody>
      </p:sp>
      <p:sp>
        <p:nvSpPr>
          <p:cNvPr id="84" name="の">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6695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の</ns0:t>
            </ns0:r>
          </ns0:p>
        </p:txBody>
      </p:sp>
      <p:sp>
        <p:nvSpPr>
          <p:cNvPr id="85" name="ほ">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66700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ほ</ns0:t>
            </ns0:r>
          </ns0:p>
        </p:txBody>
      </p:sp>
      <p:sp>
        <p:nvSpPr>
          <p:cNvPr id="86" name="も">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6705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も</ns0:t>
            </ns0:r>
          </ns0:p>
        </p:txBody>
      </p:sp>
      <p:sp>
        <p:nvSpPr>
          <p:cNvPr id="87" name="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46710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よ</ns0:t>
            </ns0:r>
          </ns0:p>
        </p:txBody>
      </p:sp>
      <p:sp>
        <p:nvSpPr>
          <p:cNvPr id="88" name="ろ">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6715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ろ</ns0:t>
            </ns0:r>
          </ns0:p>
        </p:txBody>
      </p:sp>
      <p:sp>
        <p:nvSpPr>
          <p:cNvPr id="89" name="を">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6720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を</ns0:t>
            </ns0:r>
          </ns0:p>
        </p:txBody>
      </p:sp>
      <p:sp>
        <p:nvSpPr>
          <p:cNvPr id="100" name="ん  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42950" y="3543300"/>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900" b="0">
                <ns0:solidFill>
                  <ns0:srgbClr val="000000"/>
                </ns0:solidFill>
                <ns0:latin typeface="Arial"/>
                <ns0:ea typeface="Noto Sans CJK JP"/>
              </ns0:rPr>
              <ns0:t>ん  n</ns0:t>
            </ns0:r>
          </ns0:p>
        </p:txBody>
      </p:sp>
      <p:sp>
        <p:nvSpPr>
          <p:cNvPr id="101" name="Dakuten ゛ and handakuten ゜">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048250" y="9525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900" b="1">
                <ns0:solidFill>
                  <ns0:srgbClr val="595959"/>
                </ns0:solidFill>
                <ns0:latin typeface="Arial"/>
                <ns0:ea typeface="Noto Sans CJK JP"/>
              </ns0:rPr>
              <ns0:t>Dakuten ゛ and handakuten ゜</ns0:t>
            </ns0:r>
          </ns0:p>
        </p:txBody>
      </p:sp>
      <p:sp>
        <p:nvSpPr>
          <p:cNvPr id="110" name="が ぎ ぐ げ ご   (g)">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1352550"/>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750" b="0">
                <ns0:solidFill>
                  <ns0:srgbClr val="000000"/>
                </ns0:solidFill>
                <ns0:latin typeface="Arial"/>
                <ns0:ea typeface="Noto Sans CJK JP"/>
              </ns0:rPr>
              <ns0:t>が ぎ ぐ げ ご   (g)</ns0:t>
            </ns0:r>
          </ns0:p>
        </p:txBody>
      </p:sp>
      <p:sp>
        <p:nvSpPr>
          <p:cNvPr id="111" name="ざ じ ず ぜ ぞ   (z / j)">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1666875"/>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750" b="0">
                <ns0:solidFill>
                  <ns0:srgbClr val="000000"/>
                </ns0:solidFill>
                <ns0:latin typeface="Arial"/>
                <ns0:ea typeface="Noto Sans CJK JP"/>
              </ns0:rPr>
              <ns0:t>ざ じ ず ぜ ぞ   (z / j)</ns0:t>
            </ns0:r>
          </ns0:p>
        </p:txBody>
      </p:sp>
      <p:sp>
        <p:nvSpPr>
          <p:cNvPr id="112" name="だ ぢ づ で ど   (d / j / z)">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1981200"/>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750" b="0">
                <ns0:solidFill>
                  <ns0:srgbClr val="000000"/>
                </ns0:solidFill>
                <ns0:latin typeface="Arial"/>
                <ns0:ea typeface="Noto Sans CJK JP"/>
              </ns0:rPr>
              <ns0:t>だ ぢ づ で ど   (d / j / z)</ns0:t>
            </ns0:r>
          </ns0:p>
        </p:txBody>
      </p:sp>
      <p:sp>
        <p:nvSpPr>
          <p:cNvPr id="113" name="ば び ぶ べ ぼ   (b)">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2295525"/>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750" b="0">
                <ns0:solidFill>
                  <ns0:srgbClr val="000000"/>
                </ns0:solidFill>
                <ns0:latin typeface="Arial"/>
                <ns0:ea typeface="Noto Sans CJK JP"/>
              </ns0:rPr>
              <ns0:t>ば び ぶ べ ぼ   (b)</ns0:t>
            </ns0:r>
          </ns0:p>
        </p:txBody>
      </p:sp>
      <p:sp>
        <p:nvSpPr>
          <p:cNvPr id="114" name="ぱ ぴ ぷ ぺ ぽ   (p)">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2609850"/>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750" b="0">
                <ns0:solidFill>
                  <ns0:srgbClr val="000000"/>
                </ns0:solidFill>
                <ns0:latin typeface="Arial"/>
                <ns0:ea typeface="Noto Sans CJK JP"/>
              </ns0:rPr>
              <ns0:t>ぱ ぴ ぷ ぺ ぽ   (p)</ns0:t>
            </ns0:r>
          </ns0:p>
        </p:txBody>
      </p:sp>
      <p:sp>
        <p:nvSpPr>
          <p:cNvPr id="120" name="Small ゃ・ゅ・ょ combination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048250" y="3019425"/>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750" b="1">
                <ns0:solidFill>
                  <ns0:srgbClr val="595959"/>
                </ns0:solidFill>
                <ns0:latin typeface="Arial"/>
                <ns0:ea typeface="Noto Sans CJK JP"/>
              </ns0:rPr>
              <ns0:t>Small ゃ・ゅ・ょ combinations</ns0:t>
            </ns0:r>
          </ns0:p>
        </p:txBody>
      </p:sp>
      <p:sp>
        <p:nvSpPr>
          <p:cNvPr id="130" name="きゃ きゅ きょ     しゃ しゅ しょ">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33623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300" b="0">
                <ns0:solidFill>
                  <ns0:srgbClr val="000000"/>
                </ns0:solidFill>
                <ns0:latin typeface="Arial"/>
                <ns0:ea typeface="Noto Sans CJK JP"/>
              </ns0:rPr>
              <ns0:t>きゃ きゅ きょ     しゃ しゅ しょ</ns0:t>
            </ns0:r>
          </ns0:p>
        </p:txBody>
      </p:sp>
      <p:sp>
        <p:nvSpPr>
          <p:cNvPr id="131" name="ちゃ ちゅ ちょ     にゃ にゅ にょ">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35528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300" b="0">
                <ns0:solidFill>
                  <ns0:srgbClr val="000000"/>
                </ns0:solidFill>
                <ns0:latin typeface="Arial"/>
                <ns0:ea typeface="Noto Sans CJK JP"/>
              </ns0:rPr>
              <ns0:t>ちゃ ちゅ ちょ     にゃ にゅ にょ</ns0:t>
            </ns0:r>
          </ns0:p>
        </p:txBody>
      </p:sp>
      <p:sp>
        <p:nvSpPr>
          <p:cNvPr id="132" name="ひゃ ひゅ ひょ     みゃ みゅ みょ">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37433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300" b="0">
                <ns0:solidFill>
                  <ns0:srgbClr val="000000"/>
                </ns0:solidFill>
                <ns0:latin typeface="Arial"/>
                <ns0:ea typeface="Noto Sans CJK JP"/>
              </ns0:rPr>
              <ns0:t>ひゃ ひゅ ひょ     みゃ みゅ みょ</ns0:t>
            </ns0:r>
          </ns0:p>
        </p:txBody>
      </p:sp>
      <p:sp>
        <p:nvSpPr>
          <p:cNvPr id="133" name="りゃ りゅ りょ     ぎゃ ぎゅ ぎょ">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39338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300" b="0">
                <ns0:solidFill>
                  <ns0:srgbClr val="000000"/>
                </ns0:solidFill>
                <ns0:latin typeface="Arial"/>
                <ns0:ea typeface="Noto Sans CJK JP"/>
              </ns0:rPr>
              <ns0:t>りゃ りゅ りょ     ぎゃ ぎゅ ぎょ</ns0:t>
            </ns0:r>
          </ns0:p>
        </p:txBody>
      </p:sp>
      <p:sp>
        <p:nvSpPr>
          <p:cNvPr id="134" name="じゃ じゅ じょ     びゃ びゅ びょ">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41243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300" b="0">
                <ns0:solidFill>
                  <ns0:srgbClr val="000000"/>
                </ns0:solidFill>
                <ns0:latin typeface="Arial"/>
                <ns0:ea typeface="Noto Sans CJK JP"/>
              </ns0:rPr>
              <ns0:t>じゃ じゅ じょ     びゃ びゅ びょ</ns0:t>
            </ns0:r>
          </ns0:p>
        </p:txBody>
      </p:sp>
      <p:sp>
        <p:nvSpPr>
          <p:cNvPr id="135" name="ぴゃ ぴゅ ぴょ">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43148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300" b="0">
                <ns0:solidFill>
                  <ns0:srgbClr val="000000"/>
                </ns0:solidFill>
                <ns0:latin typeface="Arial"/>
                <ns0:ea typeface="Noto Sans CJK JP"/>
              </ns0:rPr>
              <ns0:t>ぴゃ ぴゅ ぴょ</ns0:t>
            </ns0:r>
          </ns0:p>
        </p:txBody>
      </p:sp>
      <p:sp xmlns:a="http://schemas.openxmlformats.org/drawingml/2006/main" xmlns:r="http://schemas.openxmlformats.org/officeDocument/2006/relationships">
        <p:nvSpPr>
          <p:cNvPr id="150" name="Chart attribution"/>
          <p:cNvSpPr txBox="1"/>
          <p:nvPr/>
        </p:nvSpPr>
        <p:spPr>
          <a:xfrm>
            <a:off x="619125" y="4667250"/>
            <a:ext cx="7905750" cy="342900"/>
          </a:xfrm>
          <a:prstGeom prst="rect">
            <a:avLst/>
          </a:prstGeom>
          <a:noFill/>
          <a:ln>
            <a:noFill/>
          </a:ln>
        </p:spPr>
        <p:txBody>
          <a:bodyPr anchorCtr="0" anchor="t" bIns="0" lIns="91425" spcFirstLastPara="1" rIns="91425" wrap="square" tIns="0">
            <a:spAutoFit/>
          </a:bodyPr>
          <a:lstStyle/>
          <a:p>
            <a:pPr algn="ctr">
              <a:buNone/>
            </a:pPr>
            <a:r>
              <a:rPr sz="1050" lang="en" b="1">
                <a:solidFill>
                  <a:schemeClr val="dk1"/>
                </a:solidFill>
              </a:rPr>
              <a:t>Chart:</a:t>
            </a:r>
            <a:r>
              <a:rPr sz="1050" lang="en">
                <a:solidFill>
                  <a:schemeClr val="dk1"/>
                </a:solidFill>
              </a:rPr>
              <a:t> TealComet, </a:t>
            </a:r>
            <a:r>
              <a:rPr sz="1050" lang="en" i="1" u="sng">
                <a:solidFill>
                  <a:schemeClr val="hlink"/>
                </a:solidFill>
                <a:hlinkClick r:id="rIdChartSource"/>
              </a:rPr>
              <a:t>Hiragana Chart Seion Dakuon Yoon</a:t>
            </a:r>
            <a:r>
              <a:rPr sz="1050" lang="en">
                <a:solidFill>
                  <a:schemeClr val="dk1"/>
                </a:solidFill>
              </a:rPr>
              <a:t> — </a:t>
            </a:r>
            <a:r>
              <a:rPr sz="1050" lang="en" u="sng">
                <a:solidFill>
                  <a:schemeClr val="hlink"/>
                </a:solidFill>
                <a:hlinkClick r:id="rIdChartLicense"/>
              </a:rPr>
              <a:t>CC0 1.0</a:t>
            </a:r>
          </a:p>
          <a:p>
            <a:pPr algn="ctr">
              <a:buNone/>
            </a:pPr>
            <a:r>
              <a:rPr sz="1050" lang="en">
                <a:solidFill>
                  <a:schemeClr val="dk1"/>
                </a:solidFill>
              </a:rPr>
              <a:t>Wikimedia Commons · Adapted layout; basic-row positions corrected; common combinations shown</a:t>
            </a:r>
          </a:p>
        </p:txBody>
      </p:sp>
    </p:spTree>
    <p:extLst>
      <p:ext uri="{BB962C8B-B14F-4D97-AF65-F5344CB8AC3E}">
        <p14:creationId xmlns:p14="http://schemas.microsoft.com/office/powerpoint/2010/main" val="1935321925"/>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Hiragana Sound Rul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29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ea typeface="Noto Sans CJK JP"/>
              </ns0:rPr>
              <ns0:t>Hiragana Sound Rules</ns0:t>
            </ns0:r>
          </ns0:p>
        </p:txBody>
      </p:sp>
      <p:sp>
        <p:nvSpPr>
          <p:cNvPr id="10" name="は + ゛">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2925" y="161925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は + ゛</ns0:t>
            </ns0:r>
          </ns0:p>
        </p:txBody>
      </p:sp>
      <p:sp>
        <p:nvSpPr>
          <p:cNvPr id="20" name="ば">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2190750"/>
            <a:ext cx="2000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5100" b="0">
                <ns0:solidFill>
                  <ns0:srgbClr val="000000"/>
                </ns0:solidFill>
                <ns0:latin typeface="Arial"/>
                <ns0:ea typeface="Noto Sans CJK JP"/>
              </ns0:rPr>
              <ns0:t>ば</ns0:t>
            </ns0:r>
          </ns0:p>
        </p:txBody>
      </p:sp>
      <p:sp>
        <p:nvSpPr>
          <p:cNvPr id="30" name="b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31908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ba</ns0:t>
            </ns0:r>
          </ns0:p>
        </p:txBody>
      </p:sp>
      <p:sp>
        <p:nvSpPr>
          <p:cNvPr id="40" name="Dakute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371475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1">
                <ns0:solidFill>
                  <ns0:srgbClr val="595959"/>
                </ns0:solidFill>
                <ns0:latin typeface="Arial"/>
                <ns0:ea typeface="Noto Sans CJK JP"/>
              </ns0:rPr>
              <ns0:t>Dakuten</ns0:t>
            </ns0:r>
          </ns0:p>
        </p:txBody>
      </p:sp>
      <p:sp>
        <p:nvSpPr>
          <p:cNvPr id="11" name="は + ゜">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638425" y="161925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は + ゜</ns0:t>
            </ns0:r>
          </ns0:p>
        </p:txBody>
      </p:sp>
      <p:sp>
        <p:nvSpPr>
          <p:cNvPr id="21" name="ぱ">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24125" y="2190750"/>
            <a:ext cx="2000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5100" b="0">
                <ns0:solidFill>
                  <ns0:srgbClr val="000000"/>
                </ns0:solidFill>
                <ns0:latin typeface="Arial"/>
                <ns0:ea typeface="Noto Sans CJK JP"/>
              </ns0:rPr>
              <ns0:t>ぱ</ns0:t>
            </ns0:r>
          </ns0:p>
        </p:txBody>
      </p:sp>
      <p:sp>
        <p:nvSpPr>
          <p:cNvPr id="31" name="p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24125" y="31908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pa</ns0:t>
            </ns0:r>
          </ns0:p>
        </p:txBody>
      </p:sp>
      <p:sp>
        <p:nvSpPr>
          <p:cNvPr id="41" name="Handakute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24125" y="371475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1">
                <ns0:solidFill>
                  <ns0:srgbClr val="595959"/>
                </ns0:solidFill>
                <ns0:latin typeface="Arial"/>
                <ns0:ea typeface="Noto Sans CJK JP"/>
              </ns0:rPr>
              <ns0:t>Handakuten</ns0:t>
            </ns0:r>
          </ns0:p>
        </p:txBody>
      </p:sp>
      <p:sp>
        <p:nvSpPr>
          <p:cNvPr id="12" name="き + small ゃ">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619625" y="161925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き + small ゃ</ns0:t>
            </ns0:r>
          </ns0:p>
        </p:txBody>
      </p:sp>
      <p:sp>
        <p:nvSpPr>
          <p:cNvPr id="22" name="きゃ">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619625" y="2190750"/>
            <a:ext cx="2000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5100" b="0">
                <ns0:solidFill>
                  <ns0:srgbClr val="000000"/>
                </ns0:solidFill>
                <ns0:latin typeface="Arial"/>
                <ns0:ea typeface="Noto Sans CJK JP"/>
              </ns0:rPr>
              <ns0:t>きゃ</ns0:t>
            </ns0:r>
          </ns0:p>
        </p:txBody>
      </p:sp>
      <p:sp>
        <p:nvSpPr>
          <p:cNvPr id="32" name="ky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619625" y="31908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kya</ns0:t>
            </ns0:r>
          </ns0:p>
        </p:txBody>
      </p:sp>
      <p:sp>
        <p:nvSpPr>
          <p:cNvPr id="42" name="Combined soun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619625" y="371475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1">
                <ns0:solidFill>
                  <ns0:srgbClr val="595959"/>
                </ns0:solidFill>
                <ns0:latin typeface="Arial"/>
                <ns0:ea typeface="Noto Sans CJK JP"/>
              </ns0:rPr>
              <ns0:t>Combined sounds</ns0:t>
            </ns0:r>
          </ns0:p>
        </p:txBody>
      </p:sp>
      <p:sp>
        <p:nvSpPr>
          <p:cNvPr id="13" name="て + small ぃ">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15125" y="161925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は (particle)</ns0:t>
            </ns0:r>
          </ns0:p>
        </p:txBody>
      </p:sp>
      <p:sp>
        <p:nvSpPr>
          <p:cNvPr id="23" name="てぃ">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15125" y="2190750"/>
            <a:ext cx="2000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5100" b="0">
                <ns0:solidFill>
                  <ns0:srgbClr val="000000"/>
                </ns0:solidFill>
                <ns0:latin typeface="Arial"/>
                <ns0:ea typeface="Noto Sans CJK JP"/>
              </ns0:rPr>
              <ns0:t>は</ns0:t>
            </ns0:r>
          </ns0:p>
        </p:txBody>
      </p:sp>
      <p:sp>
        <p:nvSpPr>
          <p:cNvPr id="33" name="t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15125" y="31908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wa</ns0:t>
            </ns0:r>
          </ns0:p>
        </p:txBody>
      </p:sp>
      <p:sp>
        <p:nvSpPr>
          <p:cNvPr id="43" name="Loanword soun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15125" y="371475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1">
                <ns0:solidFill>
                  <ns0:srgbClr val="595959"/>
                </ns0:solidFill>
                <ns0:latin typeface="Arial"/>
                <ns0:ea typeface="Noto Sans CJK JP"/>
              </ns0:rPr>
              <ns0:t>Particle reading</ns0:t>
            </ns0:r>
          </ns0:p>
        </p:txBody>
      </p:sp>
      <p:sp>
        <p:nvSpPr>
          <p:cNvPr id="50" name="Also in this section: long vowels ー and small っ">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4619625"/>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Also in this section: writing forms, long vowels, and small っ</ns0:t>
            </ns0:r>
          </ns0:p>
        </p:txBody>
      </p:sp>
    </p:spTree>
    <p:extLst>
      <p:ext uri="{BB962C8B-B14F-4D97-AF65-F5344CB8AC3E}">
        <p14:creationId xmlns:p14="http://schemas.microsoft.com/office/powerpoint/2010/main" val="1935321925"/>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About &amp; Credit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29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About &amp; Credits</ns0:t>
            </ns0:r>
          </ns0:p>
        </p:txBody>
      </p:sp>
      <p:sp>
        <p:nvSpPr>
          <p:cNvPr id="10" name="Project Not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23875" y="19050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1">
                <ns0:solidFill>
                  <ns0:srgbClr val="595959"/>
                </ns0:solidFill>
                <ns0:latin typeface="Arial"/>
              </ns0:rPr>
              <ns0:t>Project Notes</ns0:t>
            </ns0:r>
          </ns0:p>
        </p:txBody>
      </p:sp>
      <p:sp>
        <p:nvSpPr>
          <p:cNvPr id="20" name="About the creator&#10;and AI assistanc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23875" y="3048000"/>
            <a:ext cx="257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0">
                <ns0:solidFill>
                  <ns0:srgbClr val="000000"/>
                </ns0:solidFill>
                <ns0:latin typeface="Arial"/>
              </ns0:rPr>
              <ns0:t>About the creator
and AI assistance</ns0:t>
            </ns0:r>
          </ns0:p>
        </p:txBody>
      </p:sp>
      <p:sp>
        <p:nvSpPr>
          <p:cNvPr id="11" name="Sharing &amp;&#10;Licensing">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286125" y="19050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1">
                <ns0:solidFill>
                  <ns0:srgbClr val="595959"/>
                </ns0:solidFill>
                <ns0:latin typeface="Arial"/>
              </ns0:rPr>
              <ns0:t>Sharing &amp;
Licensing</ns0:t>
            </ns0:r>
          </ns0:p>
        </p:txBody>
      </p:sp>
      <p:sp>
        <p:nvSpPr>
          <p:cNvPr id="21" name="How to reuse and&#10;adapt the workbook">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286125" y="3048000"/>
            <a:ext cx="257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0">
                <ns0:solidFill>
                  <ns0:srgbClr val="000000"/>
                </ns0:solidFill>
                <ns0:latin typeface="Arial"/>
              </ns0:rPr>
              <ns0:t>How to reuse and
adapt the workbook</ns0:t>
            </ns0:r>
          </ns0:p>
        </p:txBody>
      </p:sp>
      <p:sp>
        <p:nvSpPr>
          <p:cNvPr id="12" name="Sources &amp;&#10;Attributio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048375" y="19050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1">
                <ns0:solidFill>
                  <ns0:srgbClr val="595959"/>
                </ns0:solidFill>
                <ns0:latin typeface="Arial"/>
              </ns0:rPr>
              <ns0:t>Sources &amp;
Attribution</ns0:t>
            </ns0:r>
          </ns0:p>
        </p:txBody>
      </p:sp>
      <p:sp>
        <p:nvSpPr>
          <p:cNvPr id="22" name="Artwork creators&#10;and original sourc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048375" y="3048000"/>
            <a:ext cx="257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0">
                <ns0:solidFill>
                  <ns0:srgbClr val="000000"/>
                </ns0:solidFill>
                <ns0:latin typeface="Arial"/>
              </ns0:rPr>
              <ns0:t>Artwork creators
and original sources</ns0:t>
            </ns0:r>
          </ns0:p>
        </p:txBody>
      </p:sp>
    </p:spTree>
    <p:extLst>
      <p:ext uri="{BB962C8B-B14F-4D97-AF65-F5344CB8AC3E}">
        <p14:creationId xmlns:p14="http://schemas.microsoft.com/office/powerpoint/2010/main" val="1935321925"/>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Vowels</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pic xmlns:a="http://schemas.openxmlformats.org/drawingml/2006/main" xmlns:r="http://schemas.openxmlformats.org/officeDocument/2006/relationships">
        <p:nvPicPr>
          <p:cNvPr id="150" name="Stroke order あ"/>
          <p:cNvPicPr preferRelativeResize="0"/>
          <p:nvPr/>
        </p:nvPicPr>
        <p:blipFill>
          <a:blip r:embed="rIdStroke0">
            <a:alphaModFix/>
          </a:blip>
          <a:stretch>
            <a:fillRect/>
          </a:stretch>
        </p:blipFill>
        <p:spPr>
          <a:xfrm>
            <a:off x="933704" y="952500"/>
            <a:ext cx="704342" cy="944118"/>
          </a:xfrm>
          <a:prstGeom prst="rect">
            <a:avLst/>
          </a:prstGeom>
          <a:noFill/>
          <a:ln>
            <a:noFill/>
          </a:ln>
        </p:spPr>
      </p:pic>
      <p:pic xmlns:a="http://schemas.openxmlformats.org/drawingml/2006/main" xmlns:r="http://schemas.openxmlformats.org/officeDocument/2006/relationships">
        <p:nvPicPr>
          <p:cNvPr id="151" name="Stroke order い"/>
          <p:cNvPicPr preferRelativeResize="0"/>
          <p:nvPr/>
        </p:nvPicPr>
        <p:blipFill>
          <a:blip r:embed="rIdStroke1">
            <a:alphaModFix/>
          </a:blip>
          <a:stretch>
            <a:fillRect/>
          </a:stretch>
        </p:blipFill>
        <p:spPr>
          <a:xfrm>
            <a:off x="2641503" y="952500"/>
            <a:ext cx="622495" cy="944118"/>
          </a:xfrm>
          <a:prstGeom prst="rect">
            <a:avLst/>
          </a:prstGeom>
          <a:noFill/>
          <a:ln>
            <a:noFill/>
          </a:ln>
        </p:spPr>
      </p:pic>
      <p:pic xmlns:a="http://schemas.openxmlformats.org/drawingml/2006/main" xmlns:r="http://schemas.openxmlformats.org/officeDocument/2006/relationships">
        <p:nvPicPr>
          <p:cNvPr id="152" name="Stroke order う"/>
          <p:cNvPicPr preferRelativeResize="0"/>
          <p:nvPr/>
        </p:nvPicPr>
        <p:blipFill>
          <a:blip r:embed="rIdStroke2">
            <a:alphaModFix/>
          </a:blip>
          <a:stretch>
            <a:fillRect/>
          </a:stretch>
        </p:blipFill>
        <p:spPr>
          <a:xfrm>
            <a:off x="4295857" y="952500"/>
            <a:ext cx="647537" cy="944118"/>
          </a:xfrm>
          <a:prstGeom prst="rect">
            <a:avLst/>
          </a:prstGeom>
          <a:noFill/>
          <a:ln>
            <a:noFill/>
          </a:ln>
        </p:spPr>
      </p:pic>
      <p:pic xmlns:a="http://schemas.openxmlformats.org/drawingml/2006/main" xmlns:r="http://schemas.openxmlformats.org/officeDocument/2006/relationships">
        <p:nvPicPr>
          <p:cNvPr id="153" name="Stroke order え"/>
          <p:cNvPicPr preferRelativeResize="0"/>
          <p:nvPr/>
        </p:nvPicPr>
        <p:blipFill>
          <a:blip r:embed="rIdStroke3">
            <a:alphaModFix/>
          </a:blip>
          <a:stretch>
            <a:fillRect/>
          </a:stretch>
        </p:blipFill>
        <p:spPr>
          <a:xfrm>
            <a:off x="5947452" y="952500"/>
            <a:ext cx="678095" cy="944118"/>
          </a:xfrm>
          <a:prstGeom prst="rect">
            <a:avLst/>
          </a:prstGeom>
          <a:noFill/>
          <a:ln>
            <a:noFill/>
          </a:ln>
        </p:spPr>
      </p:pic>
      <p:pic xmlns:a="http://schemas.openxmlformats.org/drawingml/2006/main" xmlns:r="http://schemas.openxmlformats.org/officeDocument/2006/relationships">
        <p:nvPicPr>
          <p:cNvPr id="154" name="Stroke order お"/>
          <p:cNvPicPr preferRelativeResize="0"/>
          <p:nvPr/>
        </p:nvPicPr>
        <p:blipFill>
          <a:blip r:embed="rIdStroke4">
            <a:alphaModFix/>
          </a:blip>
          <a:stretch>
            <a:fillRect/>
          </a:stretch>
        </p:blipFill>
        <p:spPr>
          <a:xfrm>
            <a:off x="7623441" y="952500"/>
            <a:ext cx="659868" cy="944118"/>
          </a:xfrm>
          <a:prstGeom prst="rect">
            <a:avLst/>
          </a:prstGeom>
          <a:noFill/>
          <a:ln>
            <a:noFill/>
          </a:ln>
        </p:spPr>
      </p:pic>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562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あ</ns0:t>
            </ns0:r>
          </ns0:p>
        </p:txBody>
      </p:sp>
      <p:sp>
        <p:nvSpPr>
          <p:cNvPr id="11" name="Romaji answer box"/>
          <p:cNvSpPr/>
          <p:nvPr/>
        </p:nvSpPr>
        <p:spPr>
          <ns0:xfrm xmlns:ns0="http://schemas.openxmlformats.org/drawingml/2006/main">
            <ns0:off x="1562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33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い</ns0:t>
            </ns0:r>
          </ns0:p>
        </p:txBody>
      </p:sp>
      <p:sp>
        <p:nvSpPr>
          <p:cNvPr id="13" name="Romaji answer box"/>
          <p:cNvSpPr/>
          <p:nvPr/>
        </p:nvSpPr>
        <p:spPr>
          <ns0:xfrm xmlns:ns0="http://schemas.openxmlformats.org/drawingml/2006/main">
            <ns0:off x="2533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lov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love</ns0:t>
            </ns0:r>
          </ns0:p>
        </p:txBody>
      </p:sp>
      <p:sp>
        <p:nvSpPr>
          <p:cNvPr id="15"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53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う</ns0:t>
            </ns0:r>
          </ns0:p>
        </p:txBody>
      </p:sp>
      <p:sp>
        <p:nvSpPr>
          <p:cNvPr id="16" name="Romaji answer box"/>
          <p:cNvSpPr/>
          <p:nvPr/>
        </p:nvSpPr>
        <p:spPr>
          <ns0:xfrm xmlns:ns0="http://schemas.openxmlformats.org/drawingml/2006/main">
            <ns0:off x="5753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7"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え</ns0:t>
            </ns0:r>
          </ns0:p>
        </p:txBody>
      </p:sp>
      <p:sp>
        <p:nvSpPr>
          <p:cNvPr id="18" name="Romaji answer box"/>
          <p:cNvSpPr/>
          <p:nvPr/>
        </p:nvSpPr>
        <p:spPr>
          <ns0:xfrm xmlns:ns0="http://schemas.openxmlformats.org/drawingml/2006/main">
            <ns0:off x="6724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abov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above</ns0:t>
            </ns0:r>
          </ns0:p>
        </p:txBody>
      </p:sp>
    </p:spTree>
    <p:extLst>
      <p:ext uri="{BB962C8B-B14F-4D97-AF65-F5344CB8AC3E}">
        <p14:creationId xmlns:p14="http://schemas.microsoft.com/office/powerpoint/2010/main" val="1935321925"/>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K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20;p20"/>
          <p:cNvPicPr preferRelativeResize="0"/>
          <p:nvPr/>
        </p:nvPicPr>
        <p:blipFill>
          <a:blip r:embed="rIdStroke0">
            <a:alphaModFix/>
          </a:blip>
          <a:stretch>
            <a:fillRect/>
          </a:stretch>
        </p:blipFill>
        <p:spPr>
          <a:xfrm>
            <a:off x="923574" y="952500"/>
            <a:ext cx="724602" cy="942975"/>
          </a:xfrm>
          <a:prstGeom prst="rect">
            <a:avLst/>
          </a:prstGeom>
          <a:noFill/>
          <a:ln>
            <a:noFill/>
          </a:ln>
        </p:spPr>
      </p:pic>
      <p:pic xmlns:a="http://schemas.openxmlformats.org/drawingml/2006/main" xmlns:r="http://schemas.openxmlformats.org/officeDocument/2006/relationships">
        <p:nvPicPr>
          <p:cNvPr id="151" name="Google Shape;130;p21"/>
          <p:cNvPicPr preferRelativeResize="0"/>
          <p:nvPr/>
        </p:nvPicPr>
        <p:blipFill>
          <a:blip r:embed="rIdStroke1">
            <a:alphaModFix/>
          </a:blip>
          <a:stretch>
            <a:fillRect/>
          </a:stretch>
        </p:blipFill>
        <p:spPr>
          <a:xfrm>
            <a:off x="2610922" y="952500"/>
            <a:ext cx="683657" cy="942975"/>
          </a:xfrm>
          <a:prstGeom prst="rect">
            <a:avLst/>
          </a:prstGeom>
          <a:noFill/>
          <a:ln>
            <a:noFill/>
          </a:ln>
        </p:spPr>
      </p:pic>
      <p:pic xmlns:a="http://schemas.openxmlformats.org/drawingml/2006/main" xmlns:r="http://schemas.openxmlformats.org/officeDocument/2006/relationships">
        <p:nvPicPr>
          <p:cNvPr id="152" name="Google Shape;140;p22"/>
          <p:cNvPicPr preferRelativeResize="0"/>
          <p:nvPr/>
        </p:nvPicPr>
        <p:blipFill>
          <a:blip r:embed="rIdStroke2">
            <a:alphaModFix/>
          </a:blip>
          <a:stretch>
            <a:fillRect/>
          </a:stretch>
        </p:blipFill>
        <p:spPr>
          <a:xfrm>
            <a:off x="4290091" y="952500"/>
            <a:ext cx="659069" cy="942975"/>
          </a:xfrm>
          <a:prstGeom prst="rect">
            <a:avLst/>
          </a:prstGeom>
          <a:noFill/>
          <a:ln>
            <a:noFill/>
          </a:ln>
        </p:spPr>
      </p:pic>
      <p:pic xmlns:a="http://schemas.openxmlformats.org/drawingml/2006/main" xmlns:r="http://schemas.openxmlformats.org/officeDocument/2006/relationships">
        <p:nvPicPr>
          <p:cNvPr id="153" name="Google Shape;150;p23"/>
          <p:cNvPicPr preferRelativeResize="0"/>
          <p:nvPr/>
        </p:nvPicPr>
        <p:blipFill>
          <a:blip r:embed="rIdStroke3">
            <a:alphaModFix/>
          </a:blip>
          <a:stretch>
            <a:fillRect/>
          </a:stretch>
        </p:blipFill>
        <p:spPr>
          <a:xfrm>
            <a:off x="5951564" y="952500"/>
            <a:ext cx="669873" cy="942975"/>
          </a:xfrm>
          <a:prstGeom prst="rect">
            <a:avLst/>
          </a:prstGeom>
          <a:noFill/>
          <a:ln>
            <a:noFill/>
          </a:ln>
        </p:spPr>
      </p:pic>
      <p:pic xmlns:a="http://schemas.openxmlformats.org/drawingml/2006/main" xmlns:r="http://schemas.openxmlformats.org/officeDocument/2006/relationships">
        <p:nvPicPr>
          <p:cNvPr id="154" name="Google Shape;160;p24"/>
          <p:cNvPicPr preferRelativeResize="0"/>
          <p:nvPr/>
        </p:nvPicPr>
        <p:blipFill>
          <a:blip r:embed="rIdStroke4">
            <a:alphaModFix/>
          </a:blip>
          <a:stretch>
            <a:fillRect/>
          </a:stretch>
        </p:blipFill>
        <p:spPr>
          <a:xfrm>
            <a:off x="7579260" y="952500"/>
            <a:ext cx="748230"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S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880067" y="952500"/>
            <a:ext cx="811615"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2550319" y="952500"/>
            <a:ext cx="804862"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4212431" y="952500"/>
            <a:ext cx="814388" cy="942975"/>
          </a:xfrm>
          <a:prstGeom prst="rect">
            <a:avLst/>
          </a:prstGeom>
          <a:noFill/>
          <a:ln>
            <a:noFill/>
          </a:ln>
        </p:spPr>
      </p:pic>
      <p:pic xmlns:a="http://schemas.openxmlformats.org/drawingml/2006/main" xmlns:r="http://schemas.openxmlformats.org/officeDocument/2006/relationships">
        <p:nvPicPr>
          <p:cNvPr id="153" name="Google Shape;160;p24"/>
          <p:cNvPicPr preferRelativeResize="0"/>
          <p:nvPr/>
        </p:nvPicPr>
        <p:blipFill>
          <a:blip r:embed="rIdStroke3">
            <a:alphaModFix/>
          </a:blip>
          <a:stretch>
            <a:fillRect/>
          </a:stretch>
        </p:blipFill>
        <p:spPr>
          <a:xfrm>
            <a:off x="5878983" y="952500"/>
            <a:ext cx="815034" cy="942975"/>
          </a:xfrm>
          <a:prstGeom prst="rect">
            <a:avLst/>
          </a:prstGeom>
          <a:noFill/>
          <a:ln>
            <a:noFill/>
          </a:ln>
        </p:spPr>
      </p:pic>
      <p:pic xmlns:a="http://schemas.openxmlformats.org/drawingml/2006/main" xmlns:r="http://schemas.openxmlformats.org/officeDocument/2006/relationships">
        <p:nvPicPr>
          <p:cNvPr id="154" name="Google Shape;160;p24"/>
          <p:cNvPicPr preferRelativeResize="0"/>
          <p:nvPr/>
        </p:nvPicPr>
        <p:blipFill>
          <a:blip r:embed="rIdStroke4">
            <a:alphaModFix/>
          </a:blip>
          <a:stretch>
            <a:fillRect/>
          </a:stretch>
        </p:blipFill>
        <p:spPr>
          <a:xfrm>
            <a:off x="7545858" y="952500"/>
            <a:ext cx="815034"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T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901179" y="952500"/>
            <a:ext cx="769393"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2562225" y="952500"/>
            <a:ext cx="781050"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4229100" y="952500"/>
            <a:ext cx="781050" cy="942975"/>
          </a:xfrm>
          <a:prstGeom prst="rect">
            <a:avLst/>
          </a:prstGeom>
          <a:noFill/>
          <a:ln>
            <a:noFill/>
          </a:ln>
        </p:spPr>
      </p:pic>
      <p:pic xmlns:a="http://schemas.openxmlformats.org/drawingml/2006/main" xmlns:r="http://schemas.openxmlformats.org/officeDocument/2006/relationships">
        <p:nvPicPr>
          <p:cNvPr id="153" name="Google Shape;160;p24"/>
          <p:cNvPicPr preferRelativeResize="0"/>
          <p:nvPr/>
        </p:nvPicPr>
        <p:blipFill>
          <a:blip r:embed="rIdStroke3">
            <a:alphaModFix/>
          </a:blip>
          <a:stretch>
            <a:fillRect/>
          </a:stretch>
        </p:blipFill>
        <p:spPr>
          <a:xfrm>
            <a:off x="5897937" y="952500"/>
            <a:ext cx="777125" cy="942975"/>
          </a:xfrm>
          <a:prstGeom prst="rect">
            <a:avLst/>
          </a:prstGeom>
          <a:noFill/>
          <a:ln>
            <a:noFill/>
          </a:ln>
        </p:spPr>
      </p:pic>
      <p:pic xmlns:a="http://schemas.openxmlformats.org/drawingml/2006/main" xmlns:r="http://schemas.openxmlformats.org/officeDocument/2006/relationships">
        <p:nvPicPr>
          <p:cNvPr id="154" name="Google Shape;160;p24"/>
          <p:cNvPicPr preferRelativeResize="0"/>
          <p:nvPr/>
        </p:nvPicPr>
        <p:blipFill>
          <a:blip r:embed="rIdStroke4">
            <a:alphaModFix/>
          </a:blip>
          <a:stretch>
            <a:fillRect/>
          </a:stretch>
        </p:blipFill>
        <p:spPr>
          <a:xfrm>
            <a:off x="7564812" y="952500"/>
            <a:ext cx="777125"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N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901179" y="952500"/>
            <a:ext cx="769393"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2562225" y="952500"/>
            <a:ext cx="781050"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4229100" y="952500"/>
            <a:ext cx="781050" cy="942975"/>
          </a:xfrm>
          <a:prstGeom prst="rect">
            <a:avLst/>
          </a:prstGeom>
          <a:noFill/>
          <a:ln>
            <a:noFill/>
          </a:ln>
        </p:spPr>
      </p:pic>
      <p:pic xmlns:a="http://schemas.openxmlformats.org/drawingml/2006/main" xmlns:r="http://schemas.openxmlformats.org/officeDocument/2006/relationships">
        <p:nvPicPr>
          <p:cNvPr id="153" name="Google Shape;160;p24"/>
          <p:cNvPicPr preferRelativeResize="0"/>
          <p:nvPr/>
        </p:nvPicPr>
        <p:blipFill>
          <a:blip r:embed="rIdStroke3">
            <a:alphaModFix/>
          </a:blip>
          <a:stretch>
            <a:fillRect/>
          </a:stretch>
        </p:blipFill>
        <p:spPr>
          <a:xfrm>
            <a:off x="5897937" y="952500"/>
            <a:ext cx="777125" cy="942975"/>
          </a:xfrm>
          <a:prstGeom prst="rect">
            <a:avLst/>
          </a:prstGeom>
          <a:noFill/>
          <a:ln>
            <a:noFill/>
          </a:ln>
        </p:spPr>
      </p:pic>
      <p:pic xmlns:a="http://schemas.openxmlformats.org/drawingml/2006/main" xmlns:r="http://schemas.openxmlformats.org/officeDocument/2006/relationships">
        <p:nvPicPr>
          <p:cNvPr id="154" name="Google Shape;160;p24"/>
          <p:cNvPicPr preferRelativeResize="0"/>
          <p:nvPr/>
        </p:nvPicPr>
        <p:blipFill>
          <a:blip r:embed="rIdStroke4">
            <a:alphaModFix/>
          </a:blip>
          <a:stretch>
            <a:fillRect/>
          </a:stretch>
        </p:blipFill>
        <p:spPr>
          <a:xfrm>
            <a:off x="7564812" y="952500"/>
            <a:ext cx="777125"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H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901179" y="952500"/>
            <a:ext cx="769393"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2562225" y="952500"/>
            <a:ext cx="781050"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4229100" y="952500"/>
            <a:ext cx="781050" cy="942975"/>
          </a:xfrm>
          <a:prstGeom prst="rect">
            <a:avLst/>
          </a:prstGeom>
          <a:noFill/>
          <a:ln>
            <a:noFill/>
          </a:ln>
        </p:spPr>
      </p:pic>
      <p:pic xmlns:a="http://schemas.openxmlformats.org/drawingml/2006/main" xmlns:r="http://schemas.openxmlformats.org/officeDocument/2006/relationships">
        <p:nvPicPr>
          <p:cNvPr id="153" name="Google Shape;160;p24"/>
          <p:cNvPicPr preferRelativeResize="0"/>
          <p:nvPr/>
        </p:nvPicPr>
        <p:blipFill>
          <a:blip r:embed="rIdStroke3">
            <a:alphaModFix/>
          </a:blip>
          <a:stretch>
            <a:fillRect/>
          </a:stretch>
        </p:blipFill>
        <p:spPr>
          <a:xfrm>
            <a:off x="5897937" y="952500"/>
            <a:ext cx="777125" cy="942975"/>
          </a:xfrm>
          <a:prstGeom prst="rect">
            <a:avLst/>
          </a:prstGeom>
          <a:noFill/>
          <a:ln>
            <a:noFill/>
          </a:ln>
        </p:spPr>
      </p:pic>
      <p:pic xmlns:a="http://schemas.openxmlformats.org/drawingml/2006/main" xmlns:r="http://schemas.openxmlformats.org/officeDocument/2006/relationships">
        <p:nvPicPr>
          <p:cNvPr id="154" name="Google Shape;160;p24"/>
          <p:cNvPicPr preferRelativeResize="0"/>
          <p:nvPr/>
        </p:nvPicPr>
        <p:blipFill>
          <a:blip r:embed="rIdStroke4">
            <a:alphaModFix/>
          </a:blip>
          <a:stretch>
            <a:fillRect/>
          </a:stretch>
        </p:blipFill>
        <p:spPr>
          <a:xfrm>
            <a:off x="7564812" y="952500"/>
            <a:ext cx="777125"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M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901179" y="952500"/>
            <a:ext cx="769393"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2562225" y="952500"/>
            <a:ext cx="781050"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4229100" y="952500"/>
            <a:ext cx="781050" cy="942975"/>
          </a:xfrm>
          <a:prstGeom prst="rect">
            <a:avLst/>
          </a:prstGeom>
          <a:noFill/>
          <a:ln>
            <a:noFill/>
          </a:ln>
        </p:spPr>
      </p:pic>
      <p:pic xmlns:a="http://schemas.openxmlformats.org/drawingml/2006/main" xmlns:r="http://schemas.openxmlformats.org/officeDocument/2006/relationships">
        <p:nvPicPr>
          <p:cNvPr id="153" name="Google Shape;160;p24"/>
          <p:cNvPicPr preferRelativeResize="0"/>
          <p:nvPr/>
        </p:nvPicPr>
        <p:blipFill>
          <a:blip r:embed="rIdStroke3">
            <a:alphaModFix/>
          </a:blip>
          <a:stretch>
            <a:fillRect/>
          </a:stretch>
        </p:blipFill>
        <p:spPr>
          <a:xfrm>
            <a:off x="5897937" y="952500"/>
            <a:ext cx="777125" cy="942975"/>
          </a:xfrm>
          <a:prstGeom prst="rect">
            <a:avLst/>
          </a:prstGeom>
          <a:noFill/>
          <a:ln>
            <a:noFill/>
          </a:ln>
        </p:spPr>
      </p:pic>
      <p:pic xmlns:a="http://schemas.openxmlformats.org/drawingml/2006/main" xmlns:r="http://schemas.openxmlformats.org/officeDocument/2006/relationships">
        <p:nvPicPr>
          <p:cNvPr id="154" name="Google Shape;160;p24"/>
          <p:cNvPicPr preferRelativeResize="0"/>
          <p:nvPr/>
        </p:nvPicPr>
        <p:blipFill>
          <a:blip r:embed="rIdStroke4">
            <a:alphaModFix/>
          </a:blip>
          <a:stretch>
            <a:fillRect/>
          </a:stretch>
        </p:blipFill>
        <p:spPr>
          <a:xfrm>
            <a:off x="7564812" y="952500"/>
            <a:ext cx="777125"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Y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2590800"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2590800"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2590800"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3314700"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2952750"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2590800"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2590800"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2590800"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2590800"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3314700"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2952750"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2590800"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4257675"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4257675"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4257675"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4981575"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4619625"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4257675"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4257675"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4257675"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4257675"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4981575"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4619625"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4257675"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5924550"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5924550"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5924550"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6648450"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6286500"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5924550"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5924550"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5924550"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5924550"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6648450"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6286500"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5924550"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2568054" y="952500"/>
            <a:ext cx="769393"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4229100" y="952500"/>
            <a:ext cx="781050"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5897937" y="952500"/>
            <a:ext cx="777125"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R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901179" y="952500"/>
            <a:ext cx="769393"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2562225" y="952500"/>
            <a:ext cx="781050"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4229100" y="952500"/>
            <a:ext cx="781050" cy="942975"/>
          </a:xfrm>
          <a:prstGeom prst="rect">
            <a:avLst/>
          </a:prstGeom>
          <a:noFill/>
          <a:ln>
            <a:noFill/>
          </a:ln>
        </p:spPr>
      </p:pic>
      <p:pic xmlns:a="http://schemas.openxmlformats.org/drawingml/2006/main" xmlns:r="http://schemas.openxmlformats.org/officeDocument/2006/relationships">
        <p:nvPicPr>
          <p:cNvPr id="153" name="Google Shape;160;p24"/>
          <p:cNvPicPr preferRelativeResize="0"/>
          <p:nvPr/>
        </p:nvPicPr>
        <p:blipFill>
          <a:blip r:embed="rIdStroke3">
            <a:alphaModFix/>
          </a:blip>
          <a:stretch>
            <a:fillRect/>
          </a:stretch>
        </p:blipFill>
        <p:spPr>
          <a:xfrm>
            <a:off x="5897937" y="952500"/>
            <a:ext cx="777125" cy="942975"/>
          </a:xfrm>
          <a:prstGeom prst="rect">
            <a:avLst/>
          </a:prstGeom>
          <a:noFill/>
          <a:ln>
            <a:noFill/>
          </a:ln>
        </p:spPr>
      </p:pic>
      <p:pic xmlns:a="http://schemas.openxmlformats.org/drawingml/2006/main" xmlns:r="http://schemas.openxmlformats.org/officeDocument/2006/relationships">
        <p:nvPicPr>
          <p:cNvPr id="154" name="Google Shape;160;p24"/>
          <p:cNvPicPr preferRelativeResize="0"/>
          <p:nvPr/>
        </p:nvPicPr>
        <p:blipFill>
          <a:blip r:embed="rIdStroke4">
            <a:alphaModFix/>
          </a:blip>
          <a:stretch>
            <a:fillRect/>
          </a:stretch>
        </p:blipFill>
        <p:spPr>
          <a:xfrm>
            <a:off x="7564812" y="952500"/>
            <a:ext cx="777125"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W row and final N</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2590800"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2590800"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2590800"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3314700"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2952750"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2590800"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2590800"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2590800"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2590800"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3314700"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2952750"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2590800"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4257675"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4257675"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4257675"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4981575"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4619625"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4257675"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4257675"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4257675"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4257675"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4981575"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4619625"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4257675"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5924550"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5924550"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5924550"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6648450"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6286500"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5924550"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5924550"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5924550"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5924550"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6648450"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6286500"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5924550"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(after Karine Widmer), </a:t>
            </a:r>
            <a:r>
              <a:rPr i="1" lang="en" sz="1200" u="sng">
                <a:solidFill>
                  <a:schemeClr val="hlink"/>
                </a:solidFill>
                <a:hlinkClick r:id="rId5"/>
              </a:rPr>
              <a:t>Table hiragana.svg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2565708" y="952500"/>
            <a:ext cx="774084"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4228693" y="952500"/>
            <a:ext cx="781864"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5901804" y="952500"/>
            <a:ext cx="769393"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562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か</ns0:t>
            </ns0:r>
          </ns0:p>
        </p:txBody>
      </p:sp>
      <p:sp>
        <p:nvSpPr>
          <p:cNvPr id="11" name="Romaji answer box"/>
          <p:cNvSpPr/>
          <p:nvPr/>
        </p:nvSpPr>
        <p:spPr>
          <ns0:xfrm xmlns:ns0="http://schemas.openxmlformats.org/drawingml/2006/main">
            <ns0:off x="1562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33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お</ns0:t>
            </ns0:r>
          </ns0:p>
        </p:txBody>
      </p:sp>
      <p:sp>
        <p:nvSpPr>
          <p:cNvPr id="13" name="Romaji answer box"/>
          <p:cNvSpPr/>
          <p:nvPr/>
        </p:nvSpPr>
        <p:spPr>
          <ns0:xfrm xmlns:ns0="http://schemas.openxmlformats.org/drawingml/2006/main">
            <ns0:off x="2533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fac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face</ns0:t>
            </ns0:r>
          </ns0:p>
        </p:txBody>
      </p:sp>
      <p:sp>
        <p:nvSpPr>
          <p:cNvPr id="15"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53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え</ns0:t>
            </ns0:r>
          </ns0:p>
        </p:txBody>
      </p:sp>
      <p:sp>
        <p:nvSpPr>
          <p:cNvPr id="16" name="Romaji answer box"/>
          <p:cNvSpPr/>
          <p:nvPr/>
        </p:nvSpPr>
        <p:spPr>
          <ns0:xfrm xmlns:ns0="http://schemas.openxmlformats.org/drawingml/2006/main">
            <ns0:off x="5753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7"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き</ns0:t>
            </ns0:r>
          </ns0:p>
        </p:txBody>
      </p:sp>
      <p:sp>
        <p:nvSpPr>
          <p:cNvPr id="18" name="Romaji answer box"/>
          <p:cNvSpPr/>
          <p:nvPr/>
        </p:nvSpPr>
        <p:spPr>
          <ns0:xfrm xmlns:ns0="http://schemas.openxmlformats.org/drawingml/2006/main">
            <ns0:off x="6724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train statio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train station</ns0:t>
            </ns0:r>
          </ns0:p>
        </p:txBody>
      </p:sp>
    </p:spTree>
    <p:extLst>
      <p:ext uri="{BB962C8B-B14F-4D97-AF65-F5344CB8AC3E}">
        <p14:creationId xmlns:p14="http://schemas.microsoft.com/office/powerpoint/2010/main" val="1935321925"/>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562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す</ns0:t>
            </ns0:r>
          </ns0:p>
        </p:txBody>
      </p:sp>
      <p:sp>
        <p:nvSpPr>
          <p:cNvPr id="11" name="Romaji answer box"/>
          <p:cNvSpPr/>
          <p:nvPr/>
        </p:nvSpPr>
        <p:spPr>
          <ns0:xfrm xmlns:ns0="http://schemas.openxmlformats.org/drawingml/2006/main">
            <ns0:off x="1562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33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し</ns0:t>
            </ns0:r>
          </ns0:p>
        </p:txBody>
      </p:sp>
      <p:sp>
        <p:nvSpPr>
          <p:cNvPr id="13" name="Romaji answer box"/>
          <p:cNvSpPr/>
          <p:nvPr/>
        </p:nvSpPr>
        <p:spPr>
          <ns0:xfrm xmlns:ns0="http://schemas.openxmlformats.org/drawingml/2006/main">
            <ns0:off x="2533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sush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sushi</ns0:t>
            </ns0:r>
          </ns0:p>
        </p:txBody>
      </p:sp>
      <p:sp>
        <p:nvSpPr>
          <p:cNvPr id="15"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53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あ</ns0:t>
            </ns0:r>
          </ns0:p>
        </p:txBody>
      </p:sp>
      <p:sp>
        <p:nvSpPr>
          <p:cNvPr id="16" name="Romaji answer box"/>
          <p:cNvSpPr/>
          <p:nvPr/>
        </p:nvSpPr>
        <p:spPr>
          <ns0:xfrm xmlns:ns0="http://schemas.openxmlformats.org/drawingml/2006/main">
            <ns0:off x="5753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7"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さ</ns0:t>
            </ns0:r>
          </ns0:p>
        </p:txBody>
      </p:sp>
      <p:sp>
        <p:nvSpPr>
          <p:cNvPr id="18" name="Romaji answer box"/>
          <p:cNvSpPr/>
          <p:nvPr/>
        </p:nvSpPr>
        <p:spPr>
          <ns0:xfrm xmlns:ns0="http://schemas.openxmlformats.org/drawingml/2006/main">
            <ns0:off x="6724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morning">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morning</ns0:t>
            </ns0:r>
          </ns0:p>
        </p:txBody>
      </p:sp>
    </p:spTree>
    <p:extLst>
      <p:ext uri="{BB962C8B-B14F-4D97-AF65-F5344CB8AC3E}">
        <p14:creationId xmlns:p14="http://schemas.microsoft.com/office/powerpoint/2010/main" val="1935321925"/>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562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た</ns0:t>
            </ns0:r>
          </ns0:p>
        </p:txBody>
      </p:sp>
      <p:sp>
        <p:nvSpPr>
          <p:cNvPr id="11" name="Romaji answer box"/>
          <p:cNvSpPr/>
          <p:nvPr/>
        </p:nvSpPr>
        <p:spPr>
          <ns0:xfrm xmlns:ns0="http://schemas.openxmlformats.org/drawingml/2006/main">
            <ns0:off x="1562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33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こ</ns0:t>
            </ns0:r>
          </ns0:p>
        </p:txBody>
      </p:sp>
      <p:sp>
        <p:nvSpPr>
          <p:cNvPr id="13" name="Romaji answer box"/>
          <p:cNvSpPr/>
          <p:nvPr/>
        </p:nvSpPr>
        <p:spPr>
          <ns0:xfrm xmlns:ns0="http://schemas.openxmlformats.org/drawingml/2006/main">
            <ns0:off x="2533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octopu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octopus</ns0:t>
            </ns0:r>
          </ns0:p>
        </p:txBody>
      </p:sp>
      <p:sp>
        <p:nvSpPr>
          <p:cNvPr id="15"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53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く</ns0:t>
            </ns0:r>
          </ns0:p>
        </p:txBody>
      </p:sp>
      <p:sp>
        <p:nvSpPr>
          <p:cNvPr id="16" name="Romaji answer box"/>
          <p:cNvSpPr/>
          <p:nvPr/>
        </p:nvSpPr>
        <p:spPr>
          <ns0:xfrm xmlns:ns0="http://schemas.openxmlformats.org/drawingml/2006/main">
            <ns0:off x="5753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7"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つ</ns0:t>
            </ns0:r>
          </ns0:p>
        </p:txBody>
      </p:sp>
      <p:sp>
        <p:nvSpPr>
          <p:cNvPr id="18" name="Romaji answer box"/>
          <p:cNvSpPr/>
          <p:nvPr/>
        </p:nvSpPr>
        <p:spPr>
          <ns0:xfrm xmlns:ns0="http://schemas.openxmlformats.org/drawingml/2006/main">
            <ns0:off x="6724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sho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shoes</ns0:t>
            </ns0:r>
          </ns0:p>
        </p:txBody>
      </p:sp>
    </p:spTree>
    <p:extLst>
      <p:ext uri="{BB962C8B-B14F-4D97-AF65-F5344CB8AC3E}">
        <p14:creationId xmlns:p14="http://schemas.microsoft.com/office/powerpoint/2010/main" val="1935321925"/>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562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ね</ns0:t>
            </ns0:r>
          </ns0:p>
        </p:txBody>
      </p:sp>
      <p:sp>
        <p:nvSpPr>
          <p:cNvPr id="11" name="Romaji answer box"/>
          <p:cNvSpPr/>
          <p:nvPr/>
        </p:nvSpPr>
        <p:spPr>
          <ns0:xfrm xmlns:ns0="http://schemas.openxmlformats.org/drawingml/2006/main">
            <ns0:off x="1562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33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こ</ns0:t>
            </ns0:r>
          </ns0:p>
        </p:txBody>
      </p:sp>
      <p:sp>
        <p:nvSpPr>
          <p:cNvPr id="13" name="Romaji answer box"/>
          <p:cNvSpPr/>
          <p:nvPr/>
        </p:nvSpPr>
        <p:spPr>
          <ns0:xfrm xmlns:ns0="http://schemas.openxmlformats.org/drawingml/2006/main">
            <ns0:off x="2533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cat">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cat</ns0:t>
            </ns0:r>
          </ns0:p>
        </p:txBody>
      </p:sp>
      <p:sp>
        <p:nvSpPr>
          <p:cNvPr id="15"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53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い</ns0:t>
            </ns0:r>
          </ns0:p>
        </p:txBody>
      </p:sp>
      <p:sp>
        <p:nvSpPr>
          <p:cNvPr id="16" name="Romaji answer box"/>
          <p:cNvSpPr/>
          <p:nvPr/>
        </p:nvSpPr>
        <p:spPr>
          <ns0:xfrm xmlns:ns0="http://schemas.openxmlformats.org/drawingml/2006/main">
            <ns0:off x="5753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7"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ぬ</ns0:t>
            </ns0:r>
          </ns0:p>
        </p:txBody>
      </p:sp>
      <p:sp>
        <p:nvSpPr>
          <p:cNvPr id="18" name="Romaji answer box"/>
          <p:cNvSpPr/>
          <p:nvPr/>
        </p:nvSpPr>
        <p:spPr>
          <ns0:xfrm xmlns:ns0="http://schemas.openxmlformats.org/drawingml/2006/main">
            <ns0:off x="6724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dog">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dog</ns0:t>
            </ns0:r>
          </ns0:p>
        </p:txBody>
      </p:sp>
    </p:spTree>
    <p:extLst>
      <p:ext uri="{BB962C8B-B14F-4D97-AF65-F5344CB8AC3E}">
        <p14:creationId xmlns:p14="http://schemas.microsoft.com/office/powerpoint/2010/main" val="1935321925"/>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562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は</ns0:t>
            </ns0:r>
          </ns0:p>
        </p:txBody>
      </p:sp>
      <p:sp>
        <p:nvSpPr>
          <p:cNvPr id="11" name="Romaji answer box"/>
          <p:cNvSpPr/>
          <p:nvPr/>
        </p:nvSpPr>
        <p:spPr>
          <ns0:xfrm xmlns:ns0="http://schemas.openxmlformats.org/drawingml/2006/main">
            <ns0:off x="1562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33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な</ns0:t>
            </ns0:r>
          </ns0:p>
        </p:txBody>
      </p:sp>
      <p:sp>
        <p:nvSpPr>
          <p:cNvPr id="13" name="Romaji answer box"/>
          <p:cNvSpPr/>
          <p:nvPr/>
        </p:nvSpPr>
        <p:spPr>
          <ns0:xfrm xmlns:ns0="http://schemas.openxmlformats.org/drawingml/2006/main">
            <ns0:off x="2533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flowe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flower</ns0:t>
            </ns0:r>
          </ns0:p>
        </p:txBody>
      </p:sp>
      <p:sp>
        <p:nvSpPr>
          <p:cNvPr id="15"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53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ほ</ns0:t>
            </ns0:r>
          </ns0:p>
        </p:txBody>
      </p:sp>
      <p:sp>
        <p:nvSpPr>
          <p:cNvPr id="16" name="Romaji answer box"/>
          <p:cNvSpPr/>
          <p:nvPr/>
        </p:nvSpPr>
        <p:spPr>
          <ns0:xfrm xmlns:ns0="http://schemas.openxmlformats.org/drawingml/2006/main">
            <ns0:off x="5753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7"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し</ns0:t>
            </ns0:r>
          </ns0:p>
        </p:txBody>
      </p:sp>
      <p:sp>
        <p:nvSpPr>
          <p:cNvPr id="18" name="Romaji answer box"/>
          <p:cNvSpPr/>
          <p:nvPr/>
        </p:nvSpPr>
        <p:spPr>
          <ns0:xfrm xmlns:ns0="http://schemas.openxmlformats.org/drawingml/2006/main">
            <ns0:off x="6724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sta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star</ns0:t>
            </ns0:r>
          </ns0:p>
        </p:txBody>
      </p:sp>
    </p:spTree>
    <p:extLst>
      <p:ext uri="{BB962C8B-B14F-4D97-AF65-F5344CB8AC3E}">
        <p14:creationId xmlns:p14="http://schemas.microsoft.com/office/powerpoint/2010/main" val="1935321925"/>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562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う</ns0:t>
            </ns0:r>
          </ns0:p>
        </p:txBody>
      </p:sp>
      <p:sp>
        <p:nvSpPr>
          <p:cNvPr id="11" name="Romaji answer box"/>
          <p:cNvSpPr/>
          <p:nvPr/>
        </p:nvSpPr>
        <p:spPr>
          <ns0:xfrm xmlns:ns0="http://schemas.openxmlformats.org/drawingml/2006/main">
            <ns0:off x="1562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33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ま</ns0:t>
            </ns0:r>
          </ns0:p>
        </p:txBody>
      </p:sp>
      <p:sp>
        <p:nvSpPr>
          <p:cNvPr id="13" name="Romaji answer box"/>
          <p:cNvSpPr/>
          <p:nvPr/>
        </p:nvSpPr>
        <p:spPr>
          <ns0:xfrm xmlns:ns0="http://schemas.openxmlformats.org/drawingml/2006/main">
            <ns0:off x="2533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hors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horse</ns0:t>
            </ns0:r>
          </ns0:p>
        </p:txBody>
      </p:sp>
      <p:sp>
        <p:nvSpPr>
          <p:cNvPr id="15"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53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あ</ns0:t>
            </ns0:r>
          </ns0:p>
        </p:txBody>
      </p:sp>
      <p:sp>
        <p:nvSpPr>
          <p:cNvPr id="16" name="Romaji answer box"/>
          <p:cNvSpPr/>
          <p:nvPr/>
        </p:nvSpPr>
        <p:spPr>
          <ns0:xfrm xmlns:ns0="http://schemas.openxmlformats.org/drawingml/2006/main">
            <ns0:off x="5753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7"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め</ns0:t>
            </ns0:r>
          </ns0:p>
        </p:txBody>
      </p:sp>
      <p:sp>
        <p:nvSpPr>
          <p:cNvPr id="18" name="Romaji answer box"/>
          <p:cNvSpPr/>
          <p:nvPr/>
        </p:nvSpPr>
        <p:spPr>
          <ns0:xfrm xmlns:ns0="http://schemas.openxmlformats.org/drawingml/2006/main">
            <ns0:off x="6724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rai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rain</ns0:t>
            </ns0:r>
          </ns0:p>
        </p:txBody>
      </p:sp>
    </p:spTree>
    <p:extLst>
      <p:ext uri="{BB962C8B-B14F-4D97-AF65-F5344CB8AC3E}">
        <p14:creationId xmlns:p14="http://schemas.microsoft.com/office/powerpoint/2010/main" val="1935321925"/>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763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や</ns0:t>
            </ns0:r>
          </ns0:p>
        </p:txBody>
      </p:sp>
      <p:sp>
        <p:nvSpPr>
          <p:cNvPr id="11" name="Romaji answer box"/>
          <p:cNvSpPr/>
          <p:nvPr/>
        </p:nvSpPr>
        <p:spPr>
          <ns0:xfrm xmlns:ns0="http://schemas.openxmlformats.org/drawingml/2006/main">
            <ns0:off x="10763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04787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さ</ns0:t>
            </ns0:r>
          </ns0:p>
        </p:txBody>
      </p:sp>
      <p:sp>
        <p:nvSpPr>
          <p:cNvPr id="13" name="Romaji answer box"/>
          <p:cNvSpPr/>
          <p:nvPr/>
        </p:nvSpPr>
        <p:spPr>
          <ns0:xfrm xmlns:ns0="http://schemas.openxmlformats.org/drawingml/2006/main">
            <ns0:off x="204787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194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い</ns0:t>
            </ns0:r>
          </ns0:p>
        </p:txBody>
      </p:sp>
      <p:sp>
        <p:nvSpPr>
          <p:cNvPr id="15" name="Romaji answer box"/>
          <p:cNvSpPr/>
          <p:nvPr/>
        </p:nvSpPr>
        <p:spPr>
          <ns0:xfrm xmlns:ns0="http://schemas.openxmlformats.org/drawingml/2006/main">
            <ns0:off x="30194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6" name="vegetabl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vegetables</ns0:t>
            </ns0:r>
          </ns0:p>
        </p:txBody>
      </p:sp>
      <p:sp>
        <p:nvSpPr>
          <p:cNvPr id="17"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53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ゆ</ns0:t>
            </ns0:r>
          </ns0:p>
        </p:txBody>
      </p:sp>
      <p:sp>
        <p:nvSpPr>
          <p:cNvPr id="18" name="Romaji answer box"/>
          <p:cNvSpPr/>
          <p:nvPr/>
        </p:nvSpPr>
        <p:spPr>
          <ns0:xfrm xmlns:ns0="http://schemas.openxmlformats.org/drawingml/2006/main">
            <ns0:off x="5753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め</ns0:t>
            </ns0:r>
          </ns0:p>
        </p:txBody>
      </p:sp>
      <p:sp>
        <p:nvSpPr>
          <p:cNvPr id="20" name="Romaji answer box"/>
          <p:cNvSpPr/>
          <p:nvPr/>
        </p:nvSpPr>
        <p:spPr>
          <ns0:xfrm xmlns:ns0="http://schemas.openxmlformats.org/drawingml/2006/main">
            <ns0:off x="6724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1" name="dream">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dream</ns0:t>
            </ns0:r>
          </ns0:p>
        </p:txBody>
      </p:sp>
    </p:spTree>
    <p:extLst>
      <p:ext uri="{BB962C8B-B14F-4D97-AF65-F5344CB8AC3E}">
        <p14:creationId xmlns:p14="http://schemas.microsoft.com/office/powerpoint/2010/main" val="1935321925"/>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562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と</ns0:t>
            </ns0:r>
          </ns0:p>
        </p:txBody>
      </p:sp>
      <p:sp>
        <p:nvSpPr>
          <p:cNvPr id="11" name="Romaji answer box"/>
          <p:cNvSpPr/>
          <p:nvPr/>
        </p:nvSpPr>
        <p:spPr>
          <ns0:xfrm xmlns:ns0="http://schemas.openxmlformats.org/drawingml/2006/main">
            <ns0:off x="1562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33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り</ns0:t>
            </ns0:r>
          </ns0:p>
        </p:txBody>
      </p:sp>
      <p:sp>
        <p:nvSpPr>
          <p:cNvPr id="13" name="Romaji answer box"/>
          <p:cNvSpPr/>
          <p:nvPr/>
        </p:nvSpPr>
        <p:spPr>
          <ns0:xfrm xmlns:ns0="http://schemas.openxmlformats.org/drawingml/2006/main">
            <ns0:off x="2533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bi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bird</ns0:t>
            </ns0:r>
          </ns0:p>
        </p:txBody>
      </p:sp>
      <p:sp>
        <p:nvSpPr>
          <p:cNvPr id="15"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53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は</ns0:t>
            </ns0:r>
          </ns0:p>
        </p:txBody>
      </p:sp>
      <p:sp>
        <p:nvSpPr>
          <p:cNvPr id="16" name="Romaji answer box"/>
          <p:cNvSpPr/>
          <p:nvPr/>
        </p:nvSpPr>
        <p:spPr>
          <ns0:xfrm xmlns:ns0="http://schemas.openxmlformats.org/drawingml/2006/main">
            <ns0:off x="5753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7"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る</ns0:t>
            </ns0:r>
          </ns0:p>
        </p:txBody>
      </p:sp>
      <p:sp>
        <p:nvSpPr>
          <p:cNvPr id="18" name="Romaji answer box"/>
          <p:cNvSpPr/>
          <p:nvPr/>
        </p:nvSpPr>
        <p:spPr>
          <ns0:xfrm xmlns:ns0="http://schemas.openxmlformats.org/drawingml/2006/main">
            <ns0:off x="6724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spring">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spring</ns0:t>
            </ns0:r>
          </ns0:p>
        </p:txBody>
      </p:sp>
    </p:spTree>
    <p:extLst>
      <p:ext uri="{BB962C8B-B14F-4D97-AF65-F5344CB8AC3E}">
        <p14:creationId xmlns:p14="http://schemas.microsoft.com/office/powerpoint/2010/main" val="1935321925"/>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763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わ</ns0:t>
            </ns0:r>
          </ns0:p>
        </p:txBody>
      </p:sp>
      <p:sp>
        <p:nvSpPr>
          <p:cNvPr id="11" name="Romaji answer box"/>
          <p:cNvSpPr/>
          <p:nvPr/>
        </p:nvSpPr>
        <p:spPr>
          <ns0:xfrm xmlns:ns0="http://schemas.openxmlformats.org/drawingml/2006/main">
            <ns0:off x="10763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04787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た</ns0:t>
            </ns0:r>
          </ns0:p>
        </p:txBody>
      </p:sp>
      <p:sp>
        <p:nvSpPr>
          <p:cNvPr id="13" name="Romaji answer box"/>
          <p:cNvSpPr/>
          <p:nvPr/>
        </p:nvSpPr>
        <p:spPr>
          <ns0:xfrm xmlns:ns0="http://schemas.openxmlformats.org/drawingml/2006/main">
            <ns0:off x="204787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194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し</ns0:t>
            </ns0:r>
          </ns0:p>
        </p:txBody>
      </p:sp>
      <p:sp>
        <p:nvSpPr>
          <p:cNvPr id="15" name="Romaji answer box"/>
          <p:cNvSpPr/>
          <p:nvPr/>
        </p:nvSpPr>
        <p:spPr>
          <ns0:xfrm xmlns:ns0="http://schemas.openxmlformats.org/drawingml/2006/main">
            <ns0:off x="30194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6" name="I / m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I / me</ns0:t>
            </ns0:r>
          </ns0:p>
        </p:txBody>
      </p:sp>
      <p:sp>
        <p:nvSpPr>
          <p:cNvPr id="17"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53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ほ</ns0:t>
            </ns0:r>
          </ns0:p>
        </p:txBody>
      </p:sp>
      <p:sp>
        <p:nvSpPr>
          <p:cNvPr id="18" name="Romaji answer box"/>
          <p:cNvSpPr/>
          <p:nvPr/>
        </p:nvSpPr>
        <p:spPr>
          <ns0:xfrm xmlns:ns0="http://schemas.openxmlformats.org/drawingml/2006/main">
            <ns0:off x="5753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ん</ns0:t>
            </ns0:r>
          </ns0:p>
        </p:txBody>
      </p:sp>
      <p:sp>
        <p:nvSpPr>
          <p:cNvPr id="20" name="Romaji answer box"/>
          <p:cNvSpPr/>
          <p:nvPr/>
        </p:nvSpPr>
        <p:spPr>
          <ns0:xfrm xmlns:ns0="http://schemas.openxmlformats.org/drawingml/2006/main">
            <ns0:off x="6724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1" name="book">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ea typeface="Noto Sans CJK JP"/>
              </ns0:rPr>
              <ns0:t>book</ns0:t>
            </ns0:r>
          </ns0:p>
        </p:txBody>
      </p:sp>
    </p:spTree>
    <p:extLst>
      <p:ext uri="{BB962C8B-B14F-4D97-AF65-F5344CB8AC3E}">
        <p14:creationId xmlns:p14="http://schemas.microsoft.com/office/powerpoint/2010/main" val="1935321925"/>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uild These Soun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Build These Sounds!</ns0:t>
            </ns0:r>
          </ns0:p>
        </p:txBody>
      </p:sp>
      <p:sp>
        <p:nvSpPr>
          <p:cNvPr id="2" name="Write the resulting hiragana. Keep small kana small.">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resulting hiragana. Keep small kana small.</ns0:t>
            </ns0:r>
          </ns0:p>
        </p:txBody>
      </p:sp>
      <p:sp>
        <p:nvSpPr>
          <p:cNvPr id="10" name="か + ゛">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16192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か + ゛</ns0:t>
            </ns0:r>
          </ns0:p>
        </p:txBody>
      </p:sp>
      <p:sp>
        <p:nvSpPr>
          <p:cNvPr id="20" name="Dakute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22383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1">
                <ns0:solidFill>
                  <ns0:srgbClr val="595959"/>
                </ns0:solidFill>
                <ns0:latin typeface="Arial"/>
                <ns0:ea typeface="Noto Sans CJK JP"/>
              </ns0:rPr>
              <ns0:t>Dakuten</ns0:t>
            </ns0:r>
          </ns0:p>
        </p:txBody>
      </p:sp>
      <p:sp>
        <p:nvSpPr>
          <p:cNvPr id="30" name="Romaji answer box"/>
          <p:cNvSpPr/>
          <p:nvPr/>
        </p:nvSpPr>
        <p:spPr>
          <ns0:xfrm xmlns:ns0="http://schemas.openxmlformats.org/drawingml/2006/main">
            <ns0:off x="1095375" y="2857500"/>
            <ns0:ext cx="666750" cy="6667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030" name="Romaji answer box"/>
          <p:cNvSpPr/>
          <p:nvPr/>
        </p:nvSpPr>
        <p:spPr>
          <ns0:xfrm xmlns:ns0="http://schemas.openxmlformats.org/drawingml/2006/main">
            <ns0:off x="1428750" y="2857500"/>
            <ns0:ext cx="0" cy="66675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031" name="Romaji answer box"/>
          <p:cNvSpPr/>
          <p:nvPr/>
        </p:nvSpPr>
        <p:spPr>
          <ns0:xfrm xmlns:ns0="http://schemas.openxmlformats.org/drawingml/2006/main">
            <ns0:off x="1095375" y="3190875"/>
            <ns0:ext cx="666750" cy="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1" name="は + ゜">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24125" y="16192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は + ゜</ns0:t>
            </ns0:r>
          </ns0:p>
        </p:txBody>
      </p:sp>
      <p:sp>
        <p:nvSpPr>
          <p:cNvPr id="21" name="Handakute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24125" y="22383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1">
                <ns0:solidFill>
                  <ns0:srgbClr val="595959"/>
                </ns0:solidFill>
                <ns0:latin typeface="Arial"/>
                <ns0:ea typeface="Noto Sans CJK JP"/>
              </ns0:rPr>
              <ns0:t>Handakuten</ns0:t>
            </ns0:r>
          </ns0:p>
        </p:txBody>
      </p:sp>
      <p:sp>
        <p:nvSpPr>
          <p:cNvPr id="33" name="Romaji answer box"/>
          <p:cNvSpPr/>
          <p:nvPr/>
        </p:nvSpPr>
        <p:spPr>
          <ns0:xfrm xmlns:ns0="http://schemas.openxmlformats.org/drawingml/2006/main">
            <ns0:off x="3190875" y="2857500"/>
            <ns0:ext cx="666750" cy="6667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033" name="Romaji answer box"/>
          <p:cNvSpPr/>
          <p:nvPr/>
        </p:nvSpPr>
        <p:spPr>
          <ns0:xfrm xmlns:ns0="http://schemas.openxmlformats.org/drawingml/2006/main">
            <ns0:off x="3524250" y="2857500"/>
            <ns0:ext cx="0" cy="66675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034" name="Romaji answer box"/>
          <p:cNvSpPr/>
          <p:nvPr/>
        </p:nvSpPr>
        <p:spPr>
          <ns0:xfrm xmlns:ns0="http://schemas.openxmlformats.org/drawingml/2006/main">
            <ns0:off x="3190875" y="3190875"/>
            <ns0:ext cx="666750" cy="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2" name="き + small ゃ">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619625" y="16192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き + small ゃ</ns0:t>
            </ns0:r>
          </ns0:p>
        </p:txBody>
      </p:sp>
      <p:sp>
        <p:nvSpPr>
          <p:cNvPr id="22" name="Combined soun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619625" y="22383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1">
                <ns0:solidFill>
                  <ns0:srgbClr val="595959"/>
                </ns0:solidFill>
                <ns0:latin typeface="Arial"/>
                <ns0:ea typeface="Noto Sans CJK JP"/>
              </ns0:rPr>
              <ns0:t>Combined sound</ns0:t>
            </ns0:r>
          </ns0:p>
        </p:txBody>
      </p:sp>
      <p:sp>
        <p:nvSpPr>
          <p:cNvPr id="36" name="Romaji answer box"/>
          <p:cNvSpPr/>
          <p:nvPr/>
        </p:nvSpPr>
        <p:spPr>
          <ns0:xfrm xmlns:ns0="http://schemas.openxmlformats.org/drawingml/2006/main">
            <ns0:off x="4914900" y="2857500"/>
            <ns0:ext cx="666750" cy="6667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036" name="Romaji answer box"/>
          <p:cNvSpPr/>
          <p:nvPr/>
        </p:nvSpPr>
        <p:spPr>
          <ns0:xfrm xmlns:ns0="http://schemas.openxmlformats.org/drawingml/2006/main">
            <ns0:off x="5248275" y="2857500"/>
            <ns0:ext cx="0" cy="66675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037" name="Romaji answer box"/>
          <p:cNvSpPr/>
          <p:nvPr/>
        </p:nvSpPr>
        <p:spPr>
          <ns0:xfrm xmlns:ns0="http://schemas.openxmlformats.org/drawingml/2006/main">
            <ns0:off x="4914900" y="3190875"/>
            <ns0:ext cx="666750" cy="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37" name="Romaji answer box"/>
          <p:cNvSpPr/>
          <p:nvPr/>
        </p:nvSpPr>
        <p:spPr>
          <ns0:xfrm xmlns:ns0="http://schemas.openxmlformats.org/drawingml/2006/main">
            <ns0:off x="5657850" y="2857500"/>
            <ns0:ext cx="666750" cy="6667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037" name="Romaji answer box"/>
          <p:cNvSpPr/>
          <p:nvPr/>
        </p:nvSpPr>
        <p:spPr>
          <ns0:xfrm xmlns:ns0="http://schemas.openxmlformats.org/drawingml/2006/main">
            <ns0:off x="5991225" y="2857500"/>
            <ns0:ext cx="0" cy="66675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038" name="Romaji answer box"/>
          <p:cNvSpPr/>
          <p:nvPr/>
        </p:nvSpPr>
        <p:spPr>
          <ns0:xfrm xmlns:ns0="http://schemas.openxmlformats.org/drawingml/2006/main">
            <ns0:off x="5657850" y="3190875"/>
            <ns0:ext cx="666750" cy="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3" name="て + small ぃ">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15125" y="16192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し + small ゅ</ns0:t>
            </ns0:r>
          </ns0:p>
        </p:txBody>
      </p:sp>
      <p:sp>
        <p:nvSpPr>
          <p:cNvPr id="23" name="Loanword soun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15125" y="22383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1">
                <ns0:solidFill>
                  <ns0:srgbClr val="595959"/>
                </ns0:solidFill>
                <ns0:latin typeface="Arial"/>
                <ns0:ea typeface="Noto Sans CJK JP"/>
              </ns0:rPr>
              <ns0:t>Combined sound</ns0:t>
            </ns0:r>
          </ns0:p>
        </p:txBody>
      </p:sp>
      <p:sp>
        <p:nvSpPr>
          <p:cNvPr id="39" name="Romaji answer box"/>
          <p:cNvSpPr/>
          <p:nvPr/>
        </p:nvSpPr>
        <p:spPr>
          <ns0:xfrm xmlns:ns0="http://schemas.openxmlformats.org/drawingml/2006/main">
            <ns0:off x="7010400" y="2857500"/>
            <ns0:ext cx="666750" cy="6667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039" name="Romaji answer box"/>
          <p:cNvSpPr/>
          <p:nvPr/>
        </p:nvSpPr>
        <p:spPr>
          <ns0:xfrm xmlns:ns0="http://schemas.openxmlformats.org/drawingml/2006/main">
            <ns0:off x="7343775" y="2857500"/>
            <ns0:ext cx="0" cy="66675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040" name="Romaji answer box"/>
          <p:cNvSpPr/>
          <p:nvPr/>
        </p:nvSpPr>
        <p:spPr>
          <ns0:xfrm xmlns:ns0="http://schemas.openxmlformats.org/drawingml/2006/main">
            <ns0:off x="7010400" y="3190875"/>
            <ns0:ext cx="666750" cy="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40" name="Romaji answer box"/>
          <p:cNvSpPr/>
          <p:nvPr/>
        </p:nvSpPr>
        <p:spPr>
          <ns0:xfrm xmlns:ns0="http://schemas.openxmlformats.org/drawingml/2006/main">
            <ns0:off x="7753350" y="2857500"/>
            <ns0:ext cx="666750" cy="6667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040" name="Romaji answer box"/>
          <p:cNvSpPr/>
          <p:nvPr/>
        </p:nvSpPr>
        <p:spPr>
          <ns0:xfrm xmlns:ns0="http://schemas.openxmlformats.org/drawingml/2006/main">
            <ns0:off x="8086725" y="2857500"/>
            <ns0:ext cx="0" cy="66675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041" name="Romaji answer box"/>
          <p:cNvSpPr/>
          <p:nvPr/>
        </p:nvSpPr>
        <p:spPr>
          <ns0:xfrm xmlns:ns0="http://schemas.openxmlformats.org/drawingml/2006/main">
            <ns0:off x="7753350" y="3190875"/>
            <ns0:ext cx="666750" cy="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50" name="For combinations, use the second box for the small characte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385762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600" b="0">
                <ns0:solidFill>
                  <ns0:srgbClr val="000000"/>
                </ns0:solidFill>
                <ns0:latin typeface="Arial"/>
                <ns0:ea typeface="Noto Sans CJK JP"/>
              </ns0:rPr>
              <ns0:t>For combinations, use the second box for the small character.</ns0:t>
            </ns0:r>
          </ns0:p>
        </p:txBody>
      </p:sp>
    </p:spTree>
    <p:extLst>
      <p:ext uri="{BB962C8B-B14F-4D97-AF65-F5344CB8AC3E}">
        <p14:creationId xmlns:p14="http://schemas.microsoft.com/office/powerpoint/2010/main" val="1935321925"/>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Sound Rul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700" b="1">
                <ns0:solidFill>
                  <ns0:srgbClr val="595959"/>
                </ns0:solidFill>
                <ns0:latin typeface="Arial"/>
                <ns0:ea typeface="Noto Sans CJK JP"/>
              </ns0:rPr>
              <ns0:t>Read These Words! Sound Rules</ns0:t>
            </ns0:r>
          </ns0:p>
        </p:txBody>
      </p:sp>
      <p:sp>
        <p:nvSpPr>
          <p:cNvPr id="2" name="Write the whole word in romaji. Then read it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whole word in romaji. Then read it aloud.</ns0:t>
            </ns0:r>
          </ns0:p>
        </p:txBody>
      </p:sp>
      <p:sp>
        <p:nvSpPr>
          <p:cNvPr id="10" name="ばなな">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23875" y="1333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0">
                <ns0:solidFill>
                  <ns0:srgbClr val="000000"/>
                </ns0:solidFill>
                <ns0:latin typeface="Arial"/>
                <ns0:ea typeface="Noto Sans CJK JP"/>
              </ns0:rPr>
              <ns0:t>がくせい</ns0:t>
            </ns0:r>
          </ns0:p>
        </p:txBody>
      </p:sp>
      <p:sp>
        <p:nvSpPr>
          <p:cNvPr id="20" name="banan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23875" y="19050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student</ns0:t>
            </ns0:r>
          </ns0:p>
        </p:txBody>
      </p:sp>
      <p:sp>
        <p:nvSpPr>
          <p:cNvPr id="30" name="Romaji answer box"/>
          <p:cNvSpPr/>
          <p:nvPr/>
        </p:nvSpPr>
        <p:spPr>
          <ns0:xfrm xmlns:ns0="http://schemas.openxmlformats.org/drawingml/2006/main">
            <ns0:off x="571500" y="2286000"/>
            <ns0:ext cx="2286000" cy="4572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1" name="ぱんだ">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381375" y="1333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0">
                <ns0:solidFill>
                  <ns0:srgbClr val="000000"/>
                </ns0:solidFill>
                <ns0:latin typeface="Arial"/>
                <ns0:ea typeface="Noto Sans CJK JP"/>
              </ns0:rPr>
              <ns0:t>さんぽ</ns0:t>
            </ns0:r>
          </ns0:p>
        </p:txBody>
      </p:sp>
      <p:sp>
        <p:nvSpPr>
          <p:cNvPr id="21" name="pand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381375" y="19050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walk</ns0:t>
            </ns0:r>
          </ns0:p>
        </p:txBody>
      </p:sp>
      <p:sp>
        <p:nvSpPr>
          <p:cNvPr id="31" name="Romaji answer box"/>
          <p:cNvSpPr/>
          <p:nvPr/>
        </p:nvSpPr>
        <p:spPr>
          <ns0:xfrm xmlns:ns0="http://schemas.openxmlformats.org/drawingml/2006/main">
            <ns0:off x="3429000" y="2286000"/>
            <ns0:ext cx="2286000" cy="4572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しゃつ">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238875" y="1333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0">
                <ns0:solidFill>
                  <ns0:srgbClr val="000000"/>
                </ns0:solidFill>
                <ns0:latin typeface="Arial"/>
                <ns0:ea typeface="Noto Sans CJK JP"/>
              </ns0:rPr>
              <ns0:t>おちゃ</ns0:t>
            </ns0:r>
          </ns0:p>
        </p:txBody>
      </p:sp>
      <p:sp>
        <p:nvSpPr>
          <p:cNvPr id="22" name="shirt">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238875" y="19050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tea</ns0:t>
            </ns0:r>
          </ns0:p>
        </p:txBody>
      </p:sp>
      <p:sp>
        <p:nvSpPr>
          <p:cNvPr id="32" name="Romaji answer box"/>
          <p:cNvSpPr/>
          <p:nvPr/>
        </p:nvSpPr>
        <p:spPr>
          <ns0:xfrm xmlns:ns0="http://schemas.openxmlformats.org/drawingml/2006/main">
            <ns0:off x="6286500" y="2286000"/>
            <ns0:ext cx="2286000" cy="4572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3" name="てぃー">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23875" y="2857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0">
                <ns0:solidFill>
                  <ns0:srgbClr val="000000"/>
                </ns0:solidFill>
                <ns0:latin typeface="Arial"/>
                <ns0:ea typeface="Noto Sans CJK JP"/>
              </ns0:rPr>
              <ns0:t>びょういん</ns0:t>
            </ns0:r>
          </ns0:p>
        </p:txBody>
      </p:sp>
      <p:sp>
        <p:nvSpPr>
          <p:cNvPr id="23" name="te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23875" y="34290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hospital</ns0:t>
            </ns0:r>
          </ns0:p>
        </p:txBody>
      </p:sp>
      <p:sp>
        <p:nvSpPr>
          <p:cNvPr id="33" name="Romaji answer box"/>
          <p:cNvSpPr/>
          <p:nvPr/>
        </p:nvSpPr>
        <p:spPr>
          <ns0:xfrm xmlns:ns0="http://schemas.openxmlformats.org/drawingml/2006/main">
            <ns0:off x="571500" y="3810000"/>
            <ns0:ext cx="2286000" cy="4572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けーき">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381375" y="2857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0">
                <ns0:solidFill>
                  <ns0:srgbClr val="000000"/>
                </ns0:solidFill>
                <ns0:latin typeface="Arial"/>
                <ns0:ea typeface="Noto Sans CJK JP"/>
              </ns0:rPr>
              <ns0:t>おかあさん</ns0:t>
            </ns0:r>
          </ns0:p>
        </p:txBody>
      </p:sp>
      <p:sp>
        <p:nvSpPr>
          <p:cNvPr id="24" name="cak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381375" y="34290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mother</ns0:t>
            </ns0:r>
          </ns0:p>
        </p:txBody>
      </p:sp>
      <p:sp>
        <p:nvSpPr>
          <p:cNvPr id="34" name="Romaji answer box"/>
          <p:cNvSpPr/>
          <p:nvPr/>
        </p:nvSpPr>
        <p:spPr>
          <ns0:xfrm xmlns:ns0="http://schemas.openxmlformats.org/drawingml/2006/main">
            <ns0:off x="3429000" y="3810000"/>
            <ns0:ext cx="2286000" cy="4572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5" name="かっぷ">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238875" y="2857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0">
                <ns0:solidFill>
                  <ns0:srgbClr val="000000"/>
                </ns0:solidFill>
                <ns0:latin typeface="Arial"/>
                <ns0:ea typeface="Noto Sans CJK JP"/>
              </ns0:rPr>
              <ns0:t>きっぷ</ns0:t>
            </ns0:r>
          </ns0:p>
        </p:txBody>
      </p:sp>
      <p:sp>
        <p:nvSpPr>
          <p:cNvPr id="25" name="cup">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238875" y="34290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ticket</ns0:t>
            </ns0:r>
          </ns0:p>
        </p:txBody>
      </p:sp>
      <p:sp>
        <p:nvSpPr>
          <p:cNvPr id="35" name="Romaji answer box"/>
          <p:cNvSpPr/>
          <p:nvPr/>
        </p:nvSpPr>
        <p:spPr>
          <ns0:xfrm xmlns:ns0="http://schemas.openxmlformats.org/drawingml/2006/main">
            <ns0:off x="6286500" y="3810000"/>
            <ns0:ext cx="2286000" cy="4572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Tree>
    <p:extLst>
      <p:ext uri="{BB962C8B-B14F-4D97-AF65-F5344CB8AC3E}">
        <p14:creationId xmlns:p14="http://schemas.microsoft.com/office/powerpoint/2010/main" val="1935321925"/>
      </p:ext>
    </p:extLst>
  </p:cSld>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