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629" r:id="rIdFrontmatter70"/>
    <p:sldId id="632" r:id="rIdOverview73"/>
    <p:sldId id="619" r:id="rIdHeader59"/>
    <p:sldId id="258" r:id="rId9"/>
    <p:sldId id="259" r:id="rId10"/>
    <p:sldId id="260" r:id="rId11"/>
    <p:sldId id="261" r:id="rId12"/>
    <p:sldId id="262" r:id="rId13"/>
    <p:sldId id="635" r:id="rIdPractice76"/>
    <p:sldId id="636" r:id="rIdVocab77"/>
    <p:sldId id="620" r:id="rIdHeader60"/>
    <p:sldId id="263" r:id="rId14"/>
    <p:sldId id="264" r:id="rId15"/>
    <p:sldId id="265" r:id="rId16"/>
    <p:sldId id="266" r:id="rId17"/>
    <p:sldId id="267" r:id="rId18"/>
    <p:sldId id="637" r:id="rIdWriting78"/>
    <p:sldId id="646" r:id="rIdVocab87"/>
    <p:sldId id="621" r:id="rIdHeader61"/>
    <p:sldId id="400" r:id="rIdExample0"/>
    <p:sldId id="401" r:id="rIdExample1"/>
    <p:sldId id="402" r:id="rIdExample2"/>
    <p:sldId id="403" r:id="rIdExample3"/>
    <p:sldId id="404" r:id="rIdExample4"/>
    <p:sldId id="638" r:id="rIdWriting79"/>
    <p:sldId id="647" r:id="rIdVocab88"/>
    <p:sldId id="622" r:id="rIdHeader62"/>
    <p:sldId id="500" r:id="rIdBasic0"/>
    <p:sldId id="501" r:id="rIdBasic1"/>
    <p:sldId id="502" r:id="rIdBasic2"/>
    <p:sldId id="503" r:id="rIdBasic3"/>
    <p:sldId id="504" r:id="rIdBasic4"/>
    <p:sldId id="639" r:id="rIdWriting80"/>
    <p:sldId id="648" r:id="rIdVocab89"/>
    <p:sldId id="623" r:id="rIdHeader63"/>
    <p:sldId id="505" r:id="rIdBasic5"/>
    <p:sldId id="506" r:id="rIdBasic6"/>
    <p:sldId id="507" r:id="rIdBasic7"/>
    <p:sldId id="508" r:id="rIdBasic8"/>
    <p:sldId id="509" r:id="rIdBasic9"/>
    <p:sldId id="640" r:id="rIdWriting81"/>
    <p:sldId id="649" r:id="rIdVocab90"/>
    <p:sldId id="624" r:id="rIdHeader64"/>
    <p:sldId id="510" r:id="rIdBasic10"/>
    <p:sldId id="511" r:id="rIdBasic11"/>
    <p:sldId id="512" r:id="rIdBasic12"/>
    <p:sldId id="513" r:id="rIdBasic13"/>
    <p:sldId id="514" r:id="rIdBasic14"/>
    <p:sldId id="641" r:id="rIdWriting82"/>
    <p:sldId id="650" r:id="rIdVocab91"/>
    <p:sldId id="625" r:id="rIdHeader65"/>
    <p:sldId id="515" r:id="rIdBasic15"/>
    <p:sldId id="516" r:id="rIdBasic16"/>
    <p:sldId id="517" r:id="rIdBasic17"/>
    <p:sldId id="518" r:id="rIdBasic18"/>
    <p:sldId id="519" r:id="rIdBasic19"/>
    <p:sldId id="642" r:id="rIdWriting83"/>
    <p:sldId id="651" r:id="rIdVocab92"/>
    <p:sldId id="626" r:id="rIdHeader66"/>
    <p:sldId id="520" r:id="rIdBasic20"/>
    <p:sldId id="521" r:id="rIdBasic21"/>
    <p:sldId id="522" r:id="rIdBasic22"/>
    <p:sldId id="643" r:id="rIdWriting84"/>
    <p:sldId id="652" r:id="rIdVocab93"/>
    <p:sldId id="627" r:id="rIdHeader67"/>
    <p:sldId id="523" r:id="rIdBasic23"/>
    <p:sldId id="524" r:id="rIdBasic24"/>
    <p:sldId id="525" r:id="rIdBasic25"/>
    <p:sldId id="526" r:id="rIdBasic26"/>
    <p:sldId id="527" r:id="rIdBasic27"/>
    <p:sldId id="644" r:id="rIdWriting85"/>
    <p:sldId id="653" r:id="rIdVocab94"/>
    <p:sldId id="628" r:id="rIdHeader68"/>
    <p:sldId id="528" r:id="rIdBasic28"/>
    <p:sldId id="529" r:id="rIdBasic29"/>
    <p:sldId id="530" r:id="rIdBasic30"/>
    <p:sldId id="645" r:id="rIdWriting86"/>
    <p:sldId id="654" r:id="rIdVocab95"/>
    <p:sldId id="633" r:id="rIdSoundHeader74"/>
    <p:sldId id="600" r:id="rIdConcept0"/>
    <p:sldId id="601" r:id="rIdConcept1"/>
    <p:sldId id="602" r:id="rIdConcept2"/>
    <p:sldId id="603" r:id="rIdConcept3"/>
    <p:sldId id="604" r:id="rIdConcept4"/>
    <p:sldId id="605" r:id="rIdConcept5"/>
    <p:sldId id="655" r:id="rIdSoundPractice96"/>
    <p:sldId id="656" r:id="rIdSoundPractice97"/>
    <p:sldId id="634" r:id="rIdCredits75"/>
    <p:sldId id="630" r:id="rIdFrontmatter71"/>
    <p:sldId id="631" r:id="rIdFrontmatter72"/>
    <p:sldId id="268" r:id="rId19"/>
    <p:sldId id="269" r:id="rId20"/>
    <p:sldId id="607" r:id="rIdAttribution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CD3A5F-9F3C-4428-9CE2-51912DDEF8F0}">
  <a:tblStyle styleId="{41CD3A5F-9F3C-4428-9CE2-51912DDEF8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 Id="rIdExample0" Type="http://schemas.openxmlformats.org/officeDocument/2006/relationships/slide" Target="slides/slide15.xml"/><Relationship Id="rIdExample1" Type="http://schemas.openxmlformats.org/officeDocument/2006/relationships/slide" Target="slides/slide16.xml"/><Relationship Id="rIdExample2" Type="http://schemas.openxmlformats.org/officeDocument/2006/relationships/slide" Target="slides/slide17.xml"/><Relationship Id="rIdExample3" Type="http://schemas.openxmlformats.org/officeDocument/2006/relationships/slide" Target="slides/slide18.xml"/><Relationship Id="rIdExample4" Type="http://schemas.openxmlformats.org/officeDocument/2006/relationships/slide" Target="slides/slide19.xml"/><Relationship Id="rIdBasic0" Type="http://schemas.openxmlformats.org/officeDocument/2006/relationships/slide" Target="slides/slide20.xml"/><Relationship Id="rIdBasic1" Type="http://schemas.openxmlformats.org/officeDocument/2006/relationships/slide" Target="slides/slide21.xml"/><Relationship Id="rIdBasic2" Type="http://schemas.openxmlformats.org/officeDocument/2006/relationships/slide" Target="slides/slide22.xml"/><Relationship Id="rIdBasic3" Type="http://schemas.openxmlformats.org/officeDocument/2006/relationships/slide" Target="slides/slide23.xml"/><Relationship Id="rIdBasic4" Type="http://schemas.openxmlformats.org/officeDocument/2006/relationships/slide" Target="slides/slide24.xml"/><Relationship Id="rIdBasic5" Type="http://schemas.openxmlformats.org/officeDocument/2006/relationships/slide" Target="slides/slide25.xml"/><Relationship Id="rIdBasic6" Type="http://schemas.openxmlformats.org/officeDocument/2006/relationships/slide" Target="slides/slide26.xml"/><Relationship Id="rIdBasic7" Type="http://schemas.openxmlformats.org/officeDocument/2006/relationships/slide" Target="slides/slide27.xml"/><Relationship Id="rIdBasic8" Type="http://schemas.openxmlformats.org/officeDocument/2006/relationships/slide" Target="slides/slide28.xml"/><Relationship Id="rIdBasic9" Type="http://schemas.openxmlformats.org/officeDocument/2006/relationships/slide" Target="slides/slide29.xml"/><Relationship Id="rIdBasic10" Type="http://schemas.openxmlformats.org/officeDocument/2006/relationships/slide" Target="slides/slide30.xml"/><Relationship Id="rIdBasic11" Type="http://schemas.openxmlformats.org/officeDocument/2006/relationships/slide" Target="slides/slide31.xml"/><Relationship Id="rIdBasic12" Type="http://schemas.openxmlformats.org/officeDocument/2006/relationships/slide" Target="slides/slide32.xml"/><Relationship Id="rIdBasic13" Type="http://schemas.openxmlformats.org/officeDocument/2006/relationships/slide" Target="slides/slide33.xml"/><Relationship Id="rIdBasic14" Type="http://schemas.openxmlformats.org/officeDocument/2006/relationships/slide" Target="slides/slide34.xml"/><Relationship Id="rIdBasic15" Type="http://schemas.openxmlformats.org/officeDocument/2006/relationships/slide" Target="slides/slide35.xml"/><Relationship Id="rIdBasic16" Type="http://schemas.openxmlformats.org/officeDocument/2006/relationships/slide" Target="slides/slide36.xml"/><Relationship Id="rIdBasic17" Type="http://schemas.openxmlformats.org/officeDocument/2006/relationships/slide" Target="slides/slide37.xml"/><Relationship Id="rIdBasic18" Type="http://schemas.openxmlformats.org/officeDocument/2006/relationships/slide" Target="slides/slide38.xml"/><Relationship Id="rIdBasic19" Type="http://schemas.openxmlformats.org/officeDocument/2006/relationships/slide" Target="slides/slide39.xml"/><Relationship Id="rIdBasic20" Type="http://schemas.openxmlformats.org/officeDocument/2006/relationships/slide" Target="slides/slide40.xml"/><Relationship Id="rIdBasic21" Type="http://schemas.openxmlformats.org/officeDocument/2006/relationships/slide" Target="slides/slide41.xml"/><Relationship Id="rIdBasic22" Type="http://schemas.openxmlformats.org/officeDocument/2006/relationships/slide" Target="slides/slide42.xml"/><Relationship Id="rIdBasic23" Type="http://schemas.openxmlformats.org/officeDocument/2006/relationships/slide" Target="slides/slide43.xml"/><Relationship Id="rIdBasic24" Type="http://schemas.openxmlformats.org/officeDocument/2006/relationships/slide" Target="slides/slide44.xml"/><Relationship Id="rIdBasic25" Type="http://schemas.openxmlformats.org/officeDocument/2006/relationships/slide" Target="slides/slide45.xml"/><Relationship Id="rIdBasic26" Type="http://schemas.openxmlformats.org/officeDocument/2006/relationships/slide" Target="slides/slide46.xml"/><Relationship Id="rIdBasic27" Type="http://schemas.openxmlformats.org/officeDocument/2006/relationships/slide" Target="slides/slide47.xml"/><Relationship Id="rIdBasic28" Type="http://schemas.openxmlformats.org/officeDocument/2006/relationships/slide" Target="slides/slide48.xml"/><Relationship Id="rIdBasic29" Type="http://schemas.openxmlformats.org/officeDocument/2006/relationships/slide" Target="slides/slide49.xml"/><Relationship Id="rIdBasic30" Type="http://schemas.openxmlformats.org/officeDocument/2006/relationships/slide" Target="slides/slide50.xml"/><Relationship Id="rIdConcept0" Type="http://schemas.openxmlformats.org/officeDocument/2006/relationships/slide" Target="slides/slide51.xml"/><Relationship Id="rIdConcept1" Type="http://schemas.openxmlformats.org/officeDocument/2006/relationships/slide" Target="slides/slide52.xml"/><Relationship Id="rIdConcept2" Type="http://schemas.openxmlformats.org/officeDocument/2006/relationships/slide" Target="slides/slide53.xml"/><Relationship Id="rIdConcept3" Type="http://schemas.openxmlformats.org/officeDocument/2006/relationships/slide" Target="slides/slide54.xml"/><Relationship Id="rIdConcept4" Type="http://schemas.openxmlformats.org/officeDocument/2006/relationships/slide" Target="slides/slide55.xml"/><Relationship Id="rIdConcept5" Type="http://schemas.openxmlformats.org/officeDocument/2006/relationships/slide" Target="slides/slide56.xml"/><Relationship Id="rIdAttribution58" Type="http://schemas.openxmlformats.org/officeDocument/2006/relationships/slide" Target="slides/slide58.xml"/><Relationship Id="rIdHeader59" Type="http://schemas.openxmlformats.org/officeDocument/2006/relationships/slide" Target="slides/slide59.xml"/><Relationship Id="rIdHeader60" Type="http://schemas.openxmlformats.org/officeDocument/2006/relationships/slide" Target="slides/slide60.xml"/><Relationship Id="rIdHeader61" Type="http://schemas.openxmlformats.org/officeDocument/2006/relationships/slide" Target="slides/slide61.xml"/><Relationship Id="rIdHeader62" Type="http://schemas.openxmlformats.org/officeDocument/2006/relationships/slide" Target="slides/slide62.xml"/><Relationship Id="rIdHeader63" Type="http://schemas.openxmlformats.org/officeDocument/2006/relationships/slide" Target="slides/slide63.xml"/><Relationship Id="rIdHeader64" Type="http://schemas.openxmlformats.org/officeDocument/2006/relationships/slide" Target="slides/slide64.xml"/><Relationship Id="rIdHeader65" Type="http://schemas.openxmlformats.org/officeDocument/2006/relationships/slide" Target="slides/slide65.xml"/><Relationship Id="rIdHeader66" Type="http://schemas.openxmlformats.org/officeDocument/2006/relationships/slide" Target="slides/slide66.xml"/><Relationship Id="rIdHeader67" Type="http://schemas.openxmlformats.org/officeDocument/2006/relationships/slide" Target="slides/slide67.xml"/><Relationship Id="rIdHeader68" Type="http://schemas.openxmlformats.org/officeDocument/2006/relationships/slide" Target="slides/slide68.xml"/><Relationship Id="rIdFrontmatter70" Type="http://schemas.openxmlformats.org/officeDocument/2006/relationships/slide" Target="slides/slide70.xml"/><Relationship Id="rIdFrontmatter71" Type="http://schemas.openxmlformats.org/officeDocument/2006/relationships/slide" Target="slides/slide71.xml"/><Relationship Id="rIdFrontmatter72" Type="http://schemas.openxmlformats.org/officeDocument/2006/relationships/slide" Target="slides/slide72.xml"/><Relationship Id="rIdOverview73" Type="http://schemas.openxmlformats.org/officeDocument/2006/relationships/slide" Target="slides/slide73.xml"/><Relationship Id="rIdSoundHeader74" Type="http://schemas.openxmlformats.org/officeDocument/2006/relationships/slide" Target="slides/slide74.xml"/><Relationship Id="rIdCredits75" Type="http://schemas.openxmlformats.org/officeDocument/2006/relationships/slide" Target="slides/slide75.xml"/><Relationship Id="rIdPractice76" Type="http://schemas.openxmlformats.org/officeDocument/2006/relationships/slide" Target="slides/slide76.xml"/><Relationship Id="rIdVocab77" Type="http://schemas.openxmlformats.org/officeDocument/2006/relationships/slide" Target="slides/slide77.xml"/><Relationship Id="rIdWriting78" Type="http://schemas.openxmlformats.org/officeDocument/2006/relationships/slide" Target="slides/slide78.xml"/><Relationship Id="rIdWriting79" Type="http://schemas.openxmlformats.org/officeDocument/2006/relationships/slide" Target="slides/slide79.xml"/><Relationship Id="rIdWriting80" Type="http://schemas.openxmlformats.org/officeDocument/2006/relationships/slide" Target="slides/slide80.xml"/><Relationship Id="rIdWriting81" Type="http://schemas.openxmlformats.org/officeDocument/2006/relationships/slide" Target="slides/slide81.xml"/><Relationship Id="rIdWriting82" Type="http://schemas.openxmlformats.org/officeDocument/2006/relationships/slide" Target="slides/slide82.xml"/><Relationship Id="rIdWriting83" Type="http://schemas.openxmlformats.org/officeDocument/2006/relationships/slide" Target="slides/slide83.xml"/><Relationship Id="rIdWriting84" Type="http://schemas.openxmlformats.org/officeDocument/2006/relationships/slide" Target="slides/slide84.xml"/><Relationship Id="rIdWriting85" Type="http://schemas.openxmlformats.org/officeDocument/2006/relationships/slide" Target="slides/slide85.xml"/><Relationship Id="rIdWriting86" Type="http://schemas.openxmlformats.org/officeDocument/2006/relationships/slide" Target="slides/slide86.xml"/><Relationship Id="rIdVocab87" Type="http://schemas.openxmlformats.org/officeDocument/2006/relationships/slide" Target="slides/slide87.xml"/><Relationship Id="rIdVocab88" Type="http://schemas.openxmlformats.org/officeDocument/2006/relationships/slide" Target="slides/slide88.xml"/><Relationship Id="rIdVocab89" Type="http://schemas.openxmlformats.org/officeDocument/2006/relationships/slide" Target="slides/slide89.xml"/><Relationship Id="rIdVocab90" Type="http://schemas.openxmlformats.org/officeDocument/2006/relationships/slide" Target="slides/slide90.xml"/><Relationship Id="rIdVocab91" Type="http://schemas.openxmlformats.org/officeDocument/2006/relationships/slide" Target="slides/slide91.xml"/><Relationship Id="rIdVocab92" Type="http://schemas.openxmlformats.org/officeDocument/2006/relationships/slide" Target="slides/slide92.xml"/><Relationship Id="rIdVocab93" Type="http://schemas.openxmlformats.org/officeDocument/2006/relationships/slide" Target="slides/slide93.xml"/><Relationship Id="rIdVocab94" Type="http://schemas.openxmlformats.org/officeDocument/2006/relationships/slide" Target="slides/slide94.xml"/><Relationship Id="rIdVocab95" Type="http://schemas.openxmlformats.org/officeDocument/2006/relationships/slide" Target="slides/slide95.xml"/><Relationship Id="rIdSoundPractice96" Type="http://schemas.openxmlformats.org/officeDocument/2006/relationships/slide" Target="slides/slide96.xml"/><Relationship Id="rIdSoundPractice97" Type="http://schemas.openxmlformats.org/officeDocument/2006/relationships/slide" Target="slides/slide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Type="http://schemas.openxmlformats.org/officeDocument/2006/relationships/slide" Target="../slides/slide51.xml" Id="R7dd87a6a57594e4a"/><Relationship Type="http://schemas.openxmlformats.org/officeDocument/2006/relationships/notesMaster" Target="../notesMasters/notesMaster1.xml" Id="Rb5603aa36ced4dd9"/></Relationships>
</file>

<file path=ppt/notesSlides/_rels/notesSlide52.xml.rels><?xml version='1.0' encoding='UTF-8' standalone='yes'?>
<Relationships xmlns="http://schemas.openxmlformats.org/package/2006/relationships"><Relationship Type="http://schemas.openxmlformats.org/officeDocument/2006/relationships/slide" Target="../slides/slide52.xml" Id="Rc2ef2a73397743ba"/><Relationship Type="http://schemas.openxmlformats.org/officeDocument/2006/relationships/notesMaster" Target="../notesMasters/notesMaster1.xml" Id="R0ca23aec7ee04564"/></Relationships>
</file>

<file path=ppt/notesSlides/_rels/notesSlide53.xml.rels><?xml version='1.0' encoding='UTF-8' standalone='yes'?>
<Relationships xmlns="http://schemas.openxmlformats.org/package/2006/relationships"><Relationship Type="http://schemas.openxmlformats.org/officeDocument/2006/relationships/slide" Target="../slides/slide53.xml" Id="R47d08c2286c14887"/><Relationship Type="http://schemas.openxmlformats.org/officeDocument/2006/relationships/notesMaster" Target="../notesMasters/notesMaster1.xml" Id="R2cd18b61465c404a"/></Relationships>
</file>

<file path=ppt/notesSlides/_rels/notesSlide54.xml.rels><?xml version='1.0' encoding='UTF-8' standalone='yes'?>
<Relationships xmlns="http://schemas.openxmlformats.org/package/2006/relationships"><Relationship Type="http://schemas.openxmlformats.org/officeDocument/2006/relationships/slide" Target="../slides/slide54.xml" Id="Rc59eeced95ad4c36"/><Relationship Type="http://schemas.openxmlformats.org/officeDocument/2006/relationships/notesMaster" Target="../notesMasters/notesMaster1.xml" Id="R1986d6cacd824a0f"/></Relationships>
</file>

<file path=ppt/notesSlides/_rels/notesSlide55.xml.rels><?xml version='1.0' encoding='UTF-8' standalone='yes'?>
<Relationships xmlns="http://schemas.openxmlformats.org/package/2006/relationships"><Relationship Type="http://schemas.openxmlformats.org/officeDocument/2006/relationships/slide" Target="../slides/slide55.xml" Id="Rcf1261fb58b248aa"/><Relationship Type="http://schemas.openxmlformats.org/officeDocument/2006/relationships/notesMaster" Target="../notesMasters/notesMaster1.xml" Id="R048eade1cda54510"/></Relationships>
</file>

<file path=ppt/notesSlides/_rels/notesSlide56.xml.rels><?xml version='1.0' encoding='UTF-8' standalone='yes'?>
<Relationships xmlns="http://schemas.openxmlformats.org/package/2006/relationships"><Relationship Type="http://schemas.openxmlformats.org/officeDocument/2006/relationships/slide" Target="../slides/slide56.xml" Id="Reb26c86238fd44dd"/><Relationship Type="http://schemas.openxmlformats.org/officeDocument/2006/relationships/notesMaster" Target="../notesMasters/notesMaster1.xml" Id="R193f96af8d104ecc"/></Relationships>
</file>

<file path=ppt/notesSlides/_rels/notesSlide96.xml.rels><?xml version='1.0' encoding='UTF-8' standalone='yes'?>
<Relationships xmlns="http://schemas.openxmlformats.org/package/2006/relationships"><Relationship Type="http://schemas.openxmlformats.org/officeDocument/2006/relationships/slide" Target="../slides/slide96.xml" Id="R7dd87a6a57594e4a"/><Relationship Type="http://schemas.openxmlformats.org/officeDocument/2006/relationships/notesMaster" Target="../notesMasters/notesMaster1.xml" Id="Rb5603aa36ced4dd9"/></Relationships>
</file>

<file path=ppt/notesSlides/_rels/notesSlide97.xml.rels><?xml version='1.0' encoding='UTF-8' standalone='yes'?>
<Relationships xmlns="http://schemas.openxmlformats.org/package/2006/relationships"><Relationship Type="http://schemas.openxmlformats.org/officeDocument/2006/relationships/slide" Target="../slides/slide97.xml" Id="R7dd87a6a57594e4a"/><Relationship Type="http://schemas.openxmlformats.org/officeDocument/2006/relationships/notesMaster" Target="../notesMasters/notesMaster1.xml" Id="Rb5603aa36ced4dd9"/></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837ddd7d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837ddd7d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37ddd7d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837ddd7d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837ddd7d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837ddd7d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837ddd7d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837ddd7d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37ddd7d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37ddd7d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837ddd7d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837ddd7d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837ddd7d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837ddd7d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37ddd7d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837ddd7d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837ddd7d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837ddd7d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837ddd7d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837ddd7d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837ddd7d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837ddd7d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837ddd7d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837ddd7d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For フ, blow gently between both lips, without placing the upper teeth on the lower lip.</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The Japanese r sound is a quick tongue tap. English examples are only rough pronunciation guides.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ヲ is normally pronounced o in modern standard Japanese. The romaji wo distinguishes it from オ.</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837ddd7d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837ddd7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Mnemonic: B. Domangue (LeafPiece), Japanese Kana Mnemonic Chart, CC BY-SA 4.0. https://commons.wikimedia.org/wiki/File:Japanese_Kana_Mnemonic_Chart.png
Stroke order: Pmx, Table katakana.svg, CC BY-SA 3.0. https://commons.wikimedia.org/wiki/File:Table_katakana.svg
Images cropped and resized from the supplied charts.
ン is a separate mora. Its nasal pronunciation changes with the following sound.</a:t>
            </a:r>
            <a:endParaRPr/>
          </a:p>
        </p:txBody>
      </p:sp>
    </p:spTree>
  </p:cSld>
  <p:clrMapOvr>
    <a:masterClrMapping/>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TealComet, Katakana Chart Seion Dakuon Yoon, CC0 1.0. https://commons.wikimedia.org/wiki/File:Katakana_Chart_Seion_Dakuon_Yoon.png</a:t>
            </a:r>
          </a:p>
          <a:p xmlns:a="http://schemas.openxmlformats.org/drawingml/2006/main">
            <a:r>
              <a:t>Cropped and resized from the supplied chart.</a:t>
            </a:r>
          </a:p>
          <a:p xmlns:a="http://schemas.openxmlformats.org/drawingml/2006/main">
            <a:r>
              <a:t>Concept reference: The Japan Foundation, Irodori kana introduction. https://www.irodori.jpf.go.jp/assets/data/Kana_all.pdf</a:t>
            </a:r>
          </a:p>
          <a:p xmlns:a="http://schemas.openxmlformats.org/drawingml/2006/main">
            <a:r>
              <a:t>Dakuten changes k to g, s to z, t to d, h to b. ジ is ji; ヂ and ヅ are uncommon and usually read ji and zu. Handakuten applies to the h row only, producing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TealComet, Katakana Chart Seion Dakuon Yoon, CC0 1.0. https://commons.wikimedia.org/wiki/File:Katakana_Chart_Seion_Dakuon_Yoon.png</a:t>
            </a:r>
          </a:p>
          <a:p xmlns:a="http://schemas.openxmlformats.org/drawingml/2006/main">
            <a:r>
              <a:t>Cropped and resized from the supplied chart.</a:t>
            </a:r>
          </a:p>
          <a:p xmlns:a="http://schemas.openxmlformats.org/drawingml/2006/main">
            <a:r>
              <a:t>Concept reference: The Japan Foundation, Irodori kana introduction. https://www.irodori.jpf.go.jp/assets/data/Kana_all.pdf</a:t>
            </a:r>
          </a:p>
          <a:p xmlns:a="http://schemas.openxmlformats.org/drawingml/2006/main">
            <a:r>
              <a:t>Small ya, yu, yo combine with i-row kana to form one mora. Compare full-sized キヤ (ki-ya, two morae) with キャ (kya, one mora). Examples shown are ky, sh and ch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reference: Agency for Cultural Affairs, foreign-word spelling guidance. https://www.bunka.go.jp/kokugo_nihongo/sisaku/joho/joho/kijun/naikaku/gairai/honbun04.html</a:t>
            </a:r>
          </a:p>
          <a:p xmlns:a="http://schemas.openxmlformats.org/drawingml/2006/main">
            <a:r>
              <a:t>Extended combinations include small vowels, not only small ya/yu/yo. The examples are common patterns, not an exhaustive chart. One beat for ティ and ファ. English approximations are guides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reference: Agency for Cultural Affairs, foreign-word spelling guidance. https://www.bunka.go.jp/kokugo_nihongo/sisaku/joho/joho/kijun/naikaku/gairai/honbun05.html</a:t>
            </a:r>
          </a:p>
          <a:p xmlns:a="http://schemas.openxmlformats.org/drawingml/2006/main">
            <a:r>
              <a:t>ヴ and its combinations represent foreign v sounds in some spellings. Familiar b-row spellings are also valid for many established loanwords. Both ヴァイオリン and バイオリン are listed in the official example collection.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reference: The Japan Foundation, Irodori kana introduction. https://www.irodori.jpf.go.jp/assets/data/Kana_all.pdf</a:t>
            </a:r>
          </a:p>
          <a:p xmlns:a="http://schemas.openxmlformats.org/drawingml/2006/main">
            <a:r>
              <a:t>The long-vowel mark lengthens the previous vowel by one mora. ケーキ has three morae: ke-e-ki. チーズ is chi-i-zu, and コーヒー is ko-o-hi-i. Romaji here writes repeated vowels to show the timing.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reference: The Japan Foundation, Irodori kana introduction. https://www.irodori.jpf.go.jp/assets/data/Kana_all.pdf</a:t>
            </a:r>
          </a:p>
          <a:p xmlns:a="http://schemas.openxmlformats.org/drawingml/2006/main">
            <a:r>
              <a:t>Small ッ contributes one mora of consonant closure or lengthening. For カップ, prepare the p closure and hold it for one beat before releasing プ. It is not pronounced tsu. Romaji doubles the next consonant: kappu, beddo.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Instructor answers: カ + dakuten = ガ (ga). ハ + handakuten = パ (pa). キ + small ャ = キャ (kya). テ + small ィ = ティ (ti).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Instructor answers: バナナ banana; パンダ panda; シャツ shatsu; ティー tii; ケーキ keeki; カップ kappu. Long vowels may also use macrons: tī, kēki.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commons.wikimedia.org/wiki/File:Japanese_Kana_Mnemonic_Chart.png" TargetMode="External"/><Relationship Id="rId5" Type="http://schemas.openxmlformats.org/officeDocument/2006/relationships/hyperlink" Target="https://creativecommons.org/licenses/by-sa/4.0/" TargetMode="External"/><Relationship Id="rId6" Type="http://schemas.openxmlformats.org/officeDocument/2006/relationships/hyperlink" Target="https://commons.wikimedia.org/wiki/File:Table_katakana.svg" TargetMode="External"/><Relationship Id="rId7" Type="http://schemas.openxmlformats.org/officeDocument/2006/relationships/hyperlink" Target="https://creativecommons.org/licenses/by-sa/3.0/" TargetMode="External"/><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4.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8.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21.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8.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7.png"/><Relationship Id="rId8"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9.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png"/><Relationship Id="rId8"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16.png"/><Relationship Id="rId8"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image6.png"/><Relationship Id="rId8"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commons.wikimedia.org/wiki/File:Japanese_Kana_Mnemonic_Chart.png" TargetMode="Externa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commons.wikimedia.org/wiki/File:Table_katakana.svg" TargetMode="Externa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a-stroke.png"/><Relationship Id="rId8" Type="http://schemas.openxmlformats.org/officeDocument/2006/relationships/image" Target="../media/example-sa-mnemonic.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hi-stroke.png"/><Relationship Id="rId8" Type="http://schemas.openxmlformats.org/officeDocument/2006/relationships/image" Target="../media/example-shi-mnemonic.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u-stroke.png"/><Relationship Id="rId8" Type="http://schemas.openxmlformats.org/officeDocument/2006/relationships/image" Target="../media/example-su-mnemonic.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e-stroke.png"/><Relationship Id="rId8" Type="http://schemas.openxmlformats.org/officeDocument/2006/relationships/image" Target="../media/example-se-mnemonic.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example-so-stroke.png"/><Relationship Id="rId8" Type="http://schemas.openxmlformats.org/officeDocument/2006/relationships/image" Target="../media/example-so-mnemonic.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a-stroke.png"/><Relationship Id="rId8" Type="http://schemas.openxmlformats.org/officeDocument/2006/relationships/image" Target="../media/basic-ta-mnemonic.png"/><Relationship Id="rIdBasicNotes"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chi-stroke.png"/><Relationship Id="rId8" Type="http://schemas.openxmlformats.org/officeDocument/2006/relationships/image" Target="../media/basic-chi-mnemonic.png"/><Relationship Id="rIdBasicNotes"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su-stroke.png"/><Relationship Id="rId8" Type="http://schemas.openxmlformats.org/officeDocument/2006/relationships/image" Target="../media/basic-tsu-mnemonic.png"/><Relationship Id="rIdBasicNotes"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e-stroke.png"/><Relationship Id="rId8" Type="http://schemas.openxmlformats.org/officeDocument/2006/relationships/image" Target="../media/basic-te-mnemonic.png"/><Relationship Id="rIdBasicNotes"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to-stroke.png"/><Relationship Id="rId8" Type="http://schemas.openxmlformats.org/officeDocument/2006/relationships/image" Target="../media/basic-to-mnemonic.png"/><Relationship Id="rIdBasicNotes"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a-stroke.png"/><Relationship Id="rId8" Type="http://schemas.openxmlformats.org/officeDocument/2006/relationships/image" Target="../media/basic-na-mnemonic.png"/><Relationship Id="rIdBasicNotes"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i-stroke.png"/><Relationship Id="rId8" Type="http://schemas.openxmlformats.org/officeDocument/2006/relationships/image" Target="../media/basic-ni-mnemonic.png"/><Relationship Id="rIdBasicNotes"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u-stroke.png"/><Relationship Id="rId8" Type="http://schemas.openxmlformats.org/officeDocument/2006/relationships/image" Target="../media/basic-nu-mnemonic.png"/><Relationship Id="rIdBasicNotes"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e-stroke.png"/><Relationship Id="rId8" Type="http://schemas.openxmlformats.org/officeDocument/2006/relationships/image" Target="../media/basic-ne-mnemonic.png"/><Relationship Id="rIdBasicNotes"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o-stroke.png"/><Relationship Id="rId8" Type="http://schemas.openxmlformats.org/officeDocument/2006/relationships/image" Target="../media/basic-no-mnemonic.png"/><Relationship Id="rIdBasicNotes"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a-stroke.png"/><Relationship Id="rId8" Type="http://schemas.openxmlformats.org/officeDocument/2006/relationships/image" Target="../media/basic-ha-mnemonic.png"/><Relationship Id="rIdBasicNotes"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i-stroke.png"/><Relationship Id="rId8" Type="http://schemas.openxmlformats.org/officeDocument/2006/relationships/image" Target="../media/basic-hi-mnemonic.png"/><Relationship Id="rIdBasicNotes"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fu-stroke.png"/><Relationship Id="rId8" Type="http://schemas.openxmlformats.org/officeDocument/2006/relationships/image" Target="../media/basic-fu-mnemonic.png"/><Relationship Id="rIdBasicNotes"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e-stroke.png"/><Relationship Id="rId8" Type="http://schemas.openxmlformats.org/officeDocument/2006/relationships/image" Target="../media/basic-he-mnemonic.png"/><Relationship Id="rIdBasicNotes"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ho-stroke.png"/><Relationship Id="rId8" Type="http://schemas.openxmlformats.org/officeDocument/2006/relationships/image" Target="../media/basic-ho-mnemonic.png"/><Relationship Id="rIdBasicNotes"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a-stroke.png"/><Relationship Id="rId8" Type="http://schemas.openxmlformats.org/officeDocument/2006/relationships/image" Target="../media/basic-ma-mnemonic.png"/><Relationship Id="rIdBasicNotes"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i-stroke.png"/><Relationship Id="rId8" Type="http://schemas.openxmlformats.org/officeDocument/2006/relationships/image" Target="../media/basic-mi-mnemonic.png"/><Relationship Id="rIdBasicNotes"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u-stroke.png"/><Relationship Id="rId8" Type="http://schemas.openxmlformats.org/officeDocument/2006/relationships/image" Target="../media/basic-mu-mnemonic.png"/><Relationship Id="rIdBasicNotes"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e-stroke.png"/><Relationship Id="rId8" Type="http://schemas.openxmlformats.org/officeDocument/2006/relationships/image" Target="../media/basic-me-mnemonic.png"/><Relationship Id="rIdBasicNotes"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mo-stroke.png"/><Relationship Id="rId8" Type="http://schemas.openxmlformats.org/officeDocument/2006/relationships/image" Target="../media/basic-mo-mnemonic.png"/><Relationship Id="rIdBasicNotes"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ya-stroke.png"/><Relationship Id="rId8" Type="http://schemas.openxmlformats.org/officeDocument/2006/relationships/image" Target="../media/basic-ya-mnemonic.png"/><Relationship Id="rIdBasicNotes"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yu-stroke.png"/><Relationship Id="rId8" Type="http://schemas.openxmlformats.org/officeDocument/2006/relationships/image" Target="../media/basic-yu-mnemonic.png"/><Relationship Id="rIdBasicNotes"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yo-stroke.png"/><Relationship Id="rId8" Type="http://schemas.openxmlformats.org/officeDocument/2006/relationships/image" Target="../media/basic-yo-mnemonic.png"/><Relationship Id="rIdBasicNotes"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a-stroke.png"/><Relationship Id="rId8" Type="http://schemas.openxmlformats.org/officeDocument/2006/relationships/image" Target="../media/basic-ra-mnemonic.png"/><Relationship Id="rIdBasicNotes"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i-stroke.png"/><Relationship Id="rId8" Type="http://schemas.openxmlformats.org/officeDocument/2006/relationships/image" Target="../media/basic-ri-mnemonic.png"/><Relationship Id="rIdBasicNotes"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u-stroke.png"/><Relationship Id="rId8" Type="http://schemas.openxmlformats.org/officeDocument/2006/relationships/image" Target="../media/basic-ru-mnemonic.png"/><Relationship Id="rIdBasicNotes"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e-stroke.png"/><Relationship Id="rId8" Type="http://schemas.openxmlformats.org/officeDocument/2006/relationships/image" Target="../media/basic-re-mnemonic.png"/><Relationship Id="rIdBasicNotes"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ro-stroke.png"/><Relationship Id="rId8" Type="http://schemas.openxmlformats.org/officeDocument/2006/relationships/image" Target="../media/basic-ro-mnemonic.png"/><Relationship Id="rIdBasicNotes"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wa-stroke.png"/><Relationship Id="rId8" Type="http://schemas.openxmlformats.org/officeDocument/2006/relationships/image" Target="../media/basic-wa-mnemonic.png"/><Relationship Id="rIdBasicNotes"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wo-stroke.png"/><Relationship Id="rId8" Type="http://schemas.openxmlformats.org/officeDocument/2006/relationships/image" Target="../media/basic-wo-mnemonic.png"/><Relationship Id="rIdBasicNotes"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Japanese_Kana_Mnemonic_Chart.pn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7" Type="http://schemas.openxmlformats.org/officeDocument/2006/relationships/image" Target="../media/basic-n-stroke.png"/><Relationship Id="rId8" Type="http://schemas.openxmlformats.org/officeDocument/2006/relationships/image" Target="../media/basic-n-mnemonic.png"/><Relationship Id="rIdBasicNotes"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Type="http://schemas.openxmlformats.org/officeDocument/2006/relationships/slideLayout" Target="../slideLayouts/slideLayout3.xml" Id="R2155efe3da5e4e43"/><Relationship Type="http://schemas.openxmlformats.org/officeDocument/2006/relationships/image" Target="../media/concept-1-1.png" Id="R20f805aaf7584402"/><Relationship Type="http://schemas.openxmlformats.org/officeDocument/2006/relationships/notesSlide" Target="../notesSlides/notesSlide51.xml" Id="R69b4933b2898461c"/><Relationship Id="rIdChartSource" Type="http://schemas.openxmlformats.org/officeDocument/2006/relationships/hyperlink" Target="https://commons.wikimedia.org/wiki/File:Katakana_Chart_Seion_Dakuon_Yoon.png" TargetMode="External"/><Relationship Id="rIdChartLicense" Type="http://schemas.openxmlformats.org/officeDocument/2006/relationships/hyperlink" Target="https://creativecommons.org/publicdomain/zero/1.0/" TargetMode="External"/></Relationships>
</file>

<file path=ppt/slides/_rels/slide52.xml.rels><?xml version='1.0' encoding='UTF-8' standalone='yes'?>
<Relationships xmlns="http://schemas.openxmlformats.org/package/2006/relationships"><Relationship Type="http://schemas.openxmlformats.org/officeDocument/2006/relationships/slideLayout" Target="../slideLayouts/slideLayout3.xml" Id="R2627969dbdca491e"/><Relationship Type="http://schemas.openxmlformats.org/officeDocument/2006/relationships/image" Target="../media/concept-2-1.png" Id="R89bb9fe3a1cb43a9"/><Relationship Type="http://schemas.openxmlformats.org/officeDocument/2006/relationships/notesSlide" Target="../notesSlides/notesSlide52.xml" Id="Rc77ed4c9f2d74400"/><Relationship Id="rIdChartSource" Type="http://schemas.openxmlformats.org/officeDocument/2006/relationships/hyperlink" Target="https://commons.wikimedia.org/wiki/File:Katakana_Chart_Seion_Dakuon_Yoon.png" TargetMode="External"/><Relationship Id="rIdChartLicense" Type="http://schemas.openxmlformats.org/officeDocument/2006/relationships/hyperlink" Target="https://creativecommons.org/publicdomain/zero/1.0/" TargetMode="External"/></Relationships>
</file>

<file path=ppt/slides/_rels/slide53.xml.rels><?xml version='1.0' encoding='UTF-8' standalone='yes'?>
<Relationships xmlns="http://schemas.openxmlformats.org/package/2006/relationships"><Relationship Type="http://schemas.openxmlformats.org/officeDocument/2006/relationships/slideLayout" Target="../slideLayouts/slideLayout3.xml" Id="Ra026623864144463"/><Relationship Type="http://schemas.openxmlformats.org/officeDocument/2006/relationships/notesSlide" Target="../notesSlides/notesSlide53.xml" Id="Rfb3aaccba5484a59"/></Relationships>
</file>

<file path=ppt/slides/_rels/slide54.xml.rels><?xml version='1.0' encoding='UTF-8' standalone='yes'?>
<Relationships xmlns="http://schemas.openxmlformats.org/package/2006/relationships"><Relationship Type="http://schemas.openxmlformats.org/officeDocument/2006/relationships/slideLayout" Target="../slideLayouts/slideLayout3.xml" Id="Re7d123d6864a4fc4"/><Relationship Type="http://schemas.openxmlformats.org/officeDocument/2006/relationships/notesSlide" Target="../notesSlides/notesSlide54.xml" Id="R67e612f949ba4b46"/></Relationships>
</file>

<file path=ppt/slides/_rels/slide55.xml.rels><?xml version='1.0' encoding='UTF-8' standalone='yes'?>
<Relationships xmlns="http://schemas.openxmlformats.org/package/2006/relationships"><Relationship Type="http://schemas.openxmlformats.org/officeDocument/2006/relationships/slideLayout" Target="../slideLayouts/slideLayout3.xml" Id="R40520be5f8d44806"/><Relationship Type="http://schemas.openxmlformats.org/officeDocument/2006/relationships/notesSlide" Target="../notesSlides/notesSlide55.xml" Id="R34fd707cf94c4f73"/></Relationships>
</file>

<file path=ppt/slides/_rels/slide56.xml.rels><?xml version='1.0' encoding='UTF-8' standalone='yes'?>
<Relationships xmlns="http://schemas.openxmlformats.org/package/2006/relationships"><Relationship Type="http://schemas.openxmlformats.org/officeDocument/2006/relationships/slideLayout" Target="../slideLayouts/slideLayout3.xml" Id="Rd56a85fd1fd3464a"/><Relationship Type="http://schemas.openxmlformats.org/officeDocument/2006/relationships/notesSlide" Target="../notesSlides/notesSlide56.xml" Id="R820ed8b3601b4391"/></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commons.wikimedia.org/wiki/File:Katakana_Chart_Seion_Dakuon_Yoon.png" TargetMode="External"/><Relationship Id="rId4" Type="http://schemas.openxmlformats.org/officeDocument/2006/relationships/image" Target="../media/tealcomet-chart.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image2.png"/><Relationship Id="rIdImage1" Type="http://schemas.openxmlformats.org/officeDocument/2006/relationships/image" Target="../media/image4.png"/><Relationship Id="rIdImage2" Type="http://schemas.openxmlformats.org/officeDocument/2006/relationships/image" Target="../media/image8.png"/><Relationship Id="rIdImage3" Type="http://schemas.openxmlformats.org/officeDocument/2006/relationships/image" Target="../media/image21.png"/><Relationship Id="rIdImage4" Type="http://schemas.openxmlformats.org/officeDocument/2006/relationships/image" Target="../media/image18.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image17.png"/><Relationship Id="rIdImage1" Type="http://schemas.openxmlformats.org/officeDocument/2006/relationships/image" Target="../media/image9.png"/><Relationship Id="rIdImage2" Type="http://schemas.openxmlformats.org/officeDocument/2006/relationships/image" Target="../media/image1.png"/><Relationship Id="rIdImage3" Type="http://schemas.openxmlformats.org/officeDocument/2006/relationships/image" Target="../media/image16.png"/><Relationship Id="rIdImage4" Type="http://schemas.openxmlformats.org/officeDocument/2006/relationships/image" Target="../media/image6.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example-sa-stroke.png"/><Relationship Id="rIdImage1" Type="http://schemas.openxmlformats.org/officeDocument/2006/relationships/image" Target="../media/example-shi-stroke.png"/><Relationship Id="rIdImage2" Type="http://schemas.openxmlformats.org/officeDocument/2006/relationships/image" Target="../media/example-su-stroke.png"/><Relationship Id="rIdImage3" Type="http://schemas.openxmlformats.org/officeDocument/2006/relationships/image" Target="../media/example-se-stroke.png"/><Relationship Id="rIdImage4" Type="http://schemas.openxmlformats.org/officeDocument/2006/relationships/image" Target="../media/example-s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ta-stroke.png"/><Relationship Id="rIdImage1" Type="http://schemas.openxmlformats.org/officeDocument/2006/relationships/image" Target="../media/basic-chi-stroke.png"/><Relationship Id="rIdImage2" Type="http://schemas.openxmlformats.org/officeDocument/2006/relationships/image" Target="../media/basic-tsu-stroke.png"/><Relationship Id="rIdImage3" Type="http://schemas.openxmlformats.org/officeDocument/2006/relationships/image" Target="../media/basic-te-stroke.png"/><Relationship Id="rIdImage4" Type="http://schemas.openxmlformats.org/officeDocument/2006/relationships/image" Target="../media/basic-t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na-stroke.png"/><Relationship Id="rIdImage1" Type="http://schemas.openxmlformats.org/officeDocument/2006/relationships/image" Target="../media/basic-ni-stroke.png"/><Relationship Id="rIdImage2" Type="http://schemas.openxmlformats.org/officeDocument/2006/relationships/image" Target="../media/basic-nu-stroke.png"/><Relationship Id="rIdImage3" Type="http://schemas.openxmlformats.org/officeDocument/2006/relationships/image" Target="../media/basic-ne-stroke.png"/><Relationship Id="rIdImage4" Type="http://schemas.openxmlformats.org/officeDocument/2006/relationships/image" Target="../media/basic-n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ha-stroke.png"/><Relationship Id="rIdImage1" Type="http://schemas.openxmlformats.org/officeDocument/2006/relationships/image" Target="../media/basic-hi-stroke.png"/><Relationship Id="rIdImage2" Type="http://schemas.openxmlformats.org/officeDocument/2006/relationships/image" Target="../media/basic-fu-stroke.png"/><Relationship Id="rIdImage3" Type="http://schemas.openxmlformats.org/officeDocument/2006/relationships/image" Target="../media/basic-he-stroke.png"/><Relationship Id="rIdImage4" Type="http://schemas.openxmlformats.org/officeDocument/2006/relationships/image" Target="../media/basic-h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ma-stroke.png"/><Relationship Id="rIdImage1" Type="http://schemas.openxmlformats.org/officeDocument/2006/relationships/image" Target="../media/basic-mi-stroke.png"/><Relationship Id="rIdImage2" Type="http://schemas.openxmlformats.org/officeDocument/2006/relationships/image" Target="../media/basic-mu-stroke.png"/><Relationship Id="rIdImage3" Type="http://schemas.openxmlformats.org/officeDocument/2006/relationships/image" Target="../media/basic-me-stroke.png"/><Relationship Id="rIdImage4" Type="http://schemas.openxmlformats.org/officeDocument/2006/relationships/image" Target="../media/basic-m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ya-stroke.png"/><Relationship Id="rIdImage1" Type="http://schemas.openxmlformats.org/officeDocument/2006/relationships/image" Target="../media/basic-yu-stroke.png"/><Relationship Id="rIdImage2" Type="http://schemas.openxmlformats.org/officeDocument/2006/relationships/image" Target="../media/basic-y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ra-stroke.png"/><Relationship Id="rIdImage1" Type="http://schemas.openxmlformats.org/officeDocument/2006/relationships/image" Target="../media/basic-ri-stroke.png"/><Relationship Id="rIdImage2" Type="http://schemas.openxmlformats.org/officeDocument/2006/relationships/image" Target="../media/basic-ru-stroke.png"/><Relationship Id="rIdImage3" Type="http://schemas.openxmlformats.org/officeDocument/2006/relationships/image" Target="../media/basic-re-stroke.png"/><Relationship Id="rIdImage4" Type="http://schemas.openxmlformats.org/officeDocument/2006/relationships/image" Target="../media/basic-ro-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wa-stroke.png"/><Relationship Id="rIdImage1" Type="http://schemas.openxmlformats.org/officeDocument/2006/relationships/image" Target="../media/basic-wo-stroke.png"/><Relationship Id="rIdImage2" Type="http://schemas.openxmlformats.org/officeDocument/2006/relationships/image" Target="../media/basic-n-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Image0" Type="http://schemas.openxmlformats.org/officeDocument/2006/relationships/image" Target="../media/basic-n-stroke.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License" Type="http://schemas.openxmlformats.org/officeDocument/2006/relationships/hyperlink" Target="https://creativecommons.org/licenses/by-sa/4.0/"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ChartSource" Type="http://schemas.openxmlformats.org/officeDocument/2006/relationships/hyperlink" Target="https://commons.wikimedia.org/wiki/File:Katakana_Chart_Seion_Dakuon_Yoon.png" TargetMode="External"/><Relationship Id="rIdChartLicense" Type="http://schemas.openxmlformats.org/officeDocument/2006/relationships/hyperlink" Target="https://creativecommons.org/publicdomain/zero/1.0/"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Stroke0" Type="http://schemas.openxmlformats.org/officeDocument/2006/relationships/image" Target="../media/image2.png"/><Relationship Id="rIdStroke1" Type="http://schemas.openxmlformats.org/officeDocument/2006/relationships/image" Target="../media/image4.png"/><Relationship Id="rIdStroke2" Type="http://schemas.openxmlformats.org/officeDocument/2006/relationships/image" Target="../media/image8.png"/><Relationship Id="rIdStroke3" Type="http://schemas.openxmlformats.org/officeDocument/2006/relationships/image" Target="../media/image21.png"/><Relationship Id="rIdStroke4" Type="http://schemas.openxmlformats.org/officeDocument/2006/relationships/image" Target="../media/image18.png"/><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image17.png"/><Relationship Id="rIdStroke1" Type="http://schemas.openxmlformats.org/officeDocument/2006/relationships/image" Target="../media/image9.png"/><Relationship Id="rIdStroke2" Type="http://schemas.openxmlformats.org/officeDocument/2006/relationships/image" Target="../media/image1.png"/><Relationship Id="rIdStroke3" Type="http://schemas.openxmlformats.org/officeDocument/2006/relationships/image" Target="../media/image16.png"/><Relationship Id="rIdStroke4" Type="http://schemas.openxmlformats.org/officeDocument/2006/relationships/image" Target="../media/image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example-sa-stroke.png"/><Relationship Id="rIdStroke1" Type="http://schemas.openxmlformats.org/officeDocument/2006/relationships/image" Target="../media/example-shi-stroke.png"/><Relationship Id="rIdStroke2" Type="http://schemas.openxmlformats.org/officeDocument/2006/relationships/image" Target="../media/example-su-stroke.png"/><Relationship Id="rIdStroke3" Type="http://schemas.openxmlformats.org/officeDocument/2006/relationships/image" Target="../media/example-se-stroke.png"/><Relationship Id="rIdStroke4" Type="http://schemas.openxmlformats.org/officeDocument/2006/relationships/image" Target="../media/example-so-stroke.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ta-stroke.png"/><Relationship Id="rIdStroke1" Type="http://schemas.openxmlformats.org/officeDocument/2006/relationships/image" Target="../media/basic-chi-stroke.png"/><Relationship Id="rIdStroke2" Type="http://schemas.openxmlformats.org/officeDocument/2006/relationships/image" Target="../media/basic-tsu-stroke.png"/><Relationship Id="rIdStroke3" Type="http://schemas.openxmlformats.org/officeDocument/2006/relationships/image" Target="../media/basic-te-stroke.png"/><Relationship Id="rIdStroke4" Type="http://schemas.openxmlformats.org/officeDocument/2006/relationships/image" Target="../media/basic-to-stroke.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na-stroke.png"/><Relationship Id="rIdStroke1" Type="http://schemas.openxmlformats.org/officeDocument/2006/relationships/image" Target="../media/basic-ni-stroke.png"/><Relationship Id="rIdStroke2" Type="http://schemas.openxmlformats.org/officeDocument/2006/relationships/image" Target="../media/basic-nu-stroke.png"/><Relationship Id="rIdStroke3" Type="http://schemas.openxmlformats.org/officeDocument/2006/relationships/image" Target="../media/basic-ne-stroke.png"/><Relationship Id="rIdStroke4" Type="http://schemas.openxmlformats.org/officeDocument/2006/relationships/image" Target="../media/basic-no-stroke.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ha-stroke.png"/><Relationship Id="rIdStroke1" Type="http://schemas.openxmlformats.org/officeDocument/2006/relationships/image" Target="../media/basic-hi-stroke.png"/><Relationship Id="rIdStroke2" Type="http://schemas.openxmlformats.org/officeDocument/2006/relationships/image" Target="../media/basic-fu-stroke.png"/><Relationship Id="rIdStroke3" Type="http://schemas.openxmlformats.org/officeDocument/2006/relationships/image" Target="../media/basic-he-stroke.png"/><Relationship Id="rIdStroke4" Type="http://schemas.openxmlformats.org/officeDocument/2006/relationships/image" Target="../media/basic-ho-stroke.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ma-stroke.png"/><Relationship Id="rIdStroke1" Type="http://schemas.openxmlformats.org/officeDocument/2006/relationships/image" Target="../media/basic-mi-stroke.png"/><Relationship Id="rIdStroke2" Type="http://schemas.openxmlformats.org/officeDocument/2006/relationships/image" Target="../media/basic-mu-stroke.png"/><Relationship Id="rIdStroke3" Type="http://schemas.openxmlformats.org/officeDocument/2006/relationships/image" Target="../media/basic-me-stroke.png"/><Relationship Id="rIdStroke4" Type="http://schemas.openxmlformats.org/officeDocument/2006/relationships/image" Target="../media/basic-mo-stroke.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ya-stroke.png"/><Relationship Id="rIdStroke1" Type="http://schemas.openxmlformats.org/officeDocument/2006/relationships/image" Target="../media/basic-yu-stroke.png"/><Relationship Id="rIdStroke2" Type="http://schemas.openxmlformats.org/officeDocument/2006/relationships/image" Target="../media/basic-yo-stroke.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ra-stroke.png"/><Relationship Id="rIdStroke1" Type="http://schemas.openxmlformats.org/officeDocument/2006/relationships/image" Target="../media/basic-ri-stroke.png"/><Relationship Id="rIdStroke2" Type="http://schemas.openxmlformats.org/officeDocument/2006/relationships/image" Target="../media/basic-ru-stroke.png"/><Relationship Id="rIdStroke3" Type="http://schemas.openxmlformats.org/officeDocument/2006/relationships/image" Target="../media/basic-re-stroke.png"/><Relationship Id="rIdStroke4" Type="http://schemas.openxmlformats.org/officeDocument/2006/relationships/image" Target="../media/basic-ro-stroke.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hyperlink" Target="https://commons.wikimedia.org/wiki/File:Table_katakana.svg" TargetMode="External"/><Relationship Id="rId6" Type="http://schemas.openxmlformats.org/officeDocument/2006/relationships/hyperlink" Target="https://creativecommons.org/licenses/by-sa/3.0/" TargetMode="External"/><Relationship Id="rIdStroke0" Type="http://schemas.openxmlformats.org/officeDocument/2006/relationships/image" Target="../media/basic-wa-stroke.png"/><Relationship Id="rIdStroke1" Type="http://schemas.openxmlformats.org/officeDocument/2006/relationships/image" Target="../media/basic-wo-stroke.png"/><Relationship Id="rIdStroke2" Type="http://schemas.openxmlformats.org/officeDocument/2006/relationships/image" Target="../media/basic-n-stroke.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Notes" Type="http://schemas.openxmlformats.org/officeDocument/2006/relationships/notesSlide" Target="../notesSlides/notesSlide97.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Katakana Togeth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428625"/>
            <a:ext cx="8039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000" b="1">
                <ns0:solidFill>
                  <ns0:srgbClr val="595959"/>
                </ns0:solidFill>
                <ns0:latin typeface="Arial"/>
              </ns0:rPr>
              <ns0:t>Open Source
Katakana Workbook</ns0:t>
            </ns0:r>
          </ns0:p>
        </p:txBody>
      </p:sp>
      <p:sp>
        <p:nvSpPr>
          <p:cNvPr id="2" name="A free, openly licensed workbook&#10;for learners and study group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000250"/>
            <a:ext cx="790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rPr>
              <ns0:t>A free, openly licensed resource for individual learners,
study groups, and classrooms.</ns0:t>
            </ns0:r>
          </ns0:p>
        </p:txBody>
      </p:sp>
      <p:sp>
        <p:nvSpPr>
          <p:cNvPr id="3" name="Created by Soreasan / ソレアサン">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09562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Created by Soreasan / ソレアサン</ns0:t>
            </ns0:r>
          </ns0:p>
        </p:txBody>
      </p:sp>
      <p:sp>
        <p:nvSpPr>
          <p:cNvPr id="6" name="Sharing permissions and license detai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857625"/>
            <a:ext cx="790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rPr>
              <ns0:t>You’re welcome to edit, share, and reupload it
under the included license terms.
See slide 90, “Sharing and Adapting This Workbook,” for details.</ns0:t>
            </ns0:r>
          </ns0:p>
        </p:txBody>
      </p:sp>
    </p:spTree>
    <p:extLst>
      <p:ext uri="{BB962C8B-B14F-4D97-AF65-F5344CB8AC3E}">
        <p14:creationId xmlns:p14="http://schemas.microsoft.com/office/powerpoint/2010/main" val="1935321925"/>
      </p:ext>
    </p:extLst>
  </p:cSld>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Katakana</a:t>
            </a:r>
            <a:endParaRPr/>
          </a:p>
        </p:txBody>
      </p:sp>
      <p:graphicFrame>
        <p:nvGraphicFramePr>
          <p:cNvPr id="61" name="Google Shape;61;p14"/>
          <p:cNvGraphicFramePr/>
          <p:nvPr/>
        </p:nvGraphicFramePr>
        <p:xfrm>
          <a:off x="311700" y="1017725"/>
          <a:ext cx="3000000" cy="3000000"/>
        </p:xfrm>
        <a:graphic>
          <a:graphicData uri="http://schemas.openxmlformats.org/drawingml/2006/table">
            <a:tbl>
              <a:tblPr>
                <a:noFill/>
                <a:tableStyleId>{41CD3A5F-9F3C-4428-9CE2-51912DDEF8F0}</a:tableStyleId>
              </a:tblPr>
              <a:tblGrid>
                <a:gridCol w="1704125"/>
                <a:gridCol w="1704125"/>
                <a:gridCol w="1704125"/>
                <a:gridCol w="1704125"/>
                <a:gridCol w="1704125"/>
              </a:tblGrid>
              <a:tr h="950300">
                <a:tc>
                  <a:txBody>
                    <a:bodyPr/>
                    <a:lstStyle/>
                    <a:p>
                      <a:pPr indent="0" lvl="0" marL="0" rtl="0" algn="ctr">
                        <a:spcBef>
                          <a:spcPts val="0"/>
                        </a:spcBef>
                        <a:spcAft>
                          <a:spcPts val="0"/>
                        </a:spcAft>
                        <a:buNone/>
                      </a:pPr>
                      <a:r>
                        <a:rPr lang="en" sz="5000"/>
                        <a:t>ア</a:t>
                      </a:r>
                      <a:endParaRPr sz="5000"/>
                    </a:p>
                  </a:txBody>
                  <a:tcPr marT="91425" marB="91425" marR="91425" marL="91425"/>
                </a:tc>
                <a:tc>
                  <a:txBody>
                    <a:bodyPr/>
                    <a:lstStyle/>
                    <a:p>
                      <a:pPr indent="0" lvl="0" marL="0" rtl="0" algn="ctr">
                        <a:spcBef>
                          <a:spcPts val="0"/>
                        </a:spcBef>
                        <a:spcAft>
                          <a:spcPts val="0"/>
                        </a:spcAft>
                        <a:buNone/>
                      </a:pPr>
                      <a:r>
                        <a:rPr lang="en" sz="5000"/>
                        <a:t>イ </a:t>
                      </a:r>
                      <a:endParaRPr sz="5000"/>
                    </a:p>
                  </a:txBody>
                  <a:tcPr marT="91425" marB="91425" marR="91425" marL="91425"/>
                </a:tc>
                <a:tc>
                  <a:txBody>
                    <a:bodyPr/>
                    <a:lstStyle/>
                    <a:p>
                      <a:pPr indent="0" lvl="0" marL="0" rtl="0" algn="ctr">
                        <a:spcBef>
                          <a:spcPts val="0"/>
                        </a:spcBef>
                        <a:spcAft>
                          <a:spcPts val="0"/>
                        </a:spcAft>
                        <a:buNone/>
                      </a:pPr>
                      <a:r>
                        <a:rPr lang="en" sz="5000"/>
                        <a:t>ウ</a:t>
                      </a:r>
                      <a:endParaRPr sz="5000"/>
                    </a:p>
                  </a:txBody>
                  <a:tcPr marT="91425" marB="91425" marR="91425" marL="91425"/>
                </a:tc>
                <a:tc>
                  <a:txBody>
                    <a:bodyPr/>
                    <a:lstStyle/>
                    <a:p>
                      <a:pPr indent="0" lvl="0" marL="0" rtl="0" algn="ctr">
                        <a:spcBef>
                          <a:spcPts val="0"/>
                        </a:spcBef>
                        <a:spcAft>
                          <a:spcPts val="0"/>
                        </a:spcAft>
                        <a:buNone/>
                      </a:pPr>
                      <a:r>
                        <a:rPr lang="en" sz="5000"/>
                        <a:t>エ</a:t>
                      </a:r>
                      <a:endParaRPr sz="5000"/>
                    </a:p>
                  </a:txBody>
                  <a:tcPr marT="91425" marB="91425" marR="91425" marL="91425"/>
                </a:tc>
                <a:tc>
                  <a:txBody>
                    <a:bodyPr/>
                    <a:lstStyle/>
                    <a:p>
                      <a:pPr indent="0" lvl="0" marL="0" rtl="0" algn="ctr">
                        <a:spcBef>
                          <a:spcPts val="0"/>
                        </a:spcBef>
                        <a:spcAft>
                          <a:spcPts val="0"/>
                        </a:spcAft>
                        <a:buNone/>
                      </a:pPr>
                      <a:r>
                        <a:rPr lang="en" sz="5000"/>
                        <a:t>オ </a:t>
                      </a:r>
                      <a:endParaRPr sz="5000"/>
                    </a:p>
                  </a:txBody>
                  <a:tcPr marT="91425" marB="91425" marR="91425" marL="91425"/>
                </a:tc>
              </a:tr>
              <a:tr h="950300">
                <a:tc>
                  <a:txBody>
                    <a:bodyPr/>
                    <a:lstStyle/>
                    <a:p>
                      <a:pPr indent="0" lvl="0" marL="0" rtl="0" algn="ctr">
                        <a:spcBef>
                          <a:spcPts val="0"/>
                        </a:spcBef>
                        <a:spcAft>
                          <a:spcPts val="0"/>
                        </a:spcAft>
                        <a:buNone/>
                      </a:pPr>
                      <a:r>
                        <a:rPr lang="en" sz="5000"/>
                        <a:t>A</a:t>
                      </a:r>
                      <a:endParaRPr sz="5000"/>
                    </a:p>
                  </a:txBody>
                  <a:tcPr marT="91425" marB="91425" marR="91425" marL="91425"/>
                </a:tc>
                <a:tc>
                  <a:txBody>
                    <a:bodyPr/>
                    <a:lstStyle/>
                    <a:p>
                      <a:pPr indent="0" lvl="0" marL="0" rtl="0" algn="ctr">
                        <a:spcBef>
                          <a:spcPts val="0"/>
                        </a:spcBef>
                        <a:spcAft>
                          <a:spcPts val="0"/>
                        </a:spcAft>
                        <a:buNone/>
                      </a:pPr>
                      <a:r>
                        <a:rPr lang="en" sz="5000"/>
                        <a:t>I</a:t>
                      </a:r>
                      <a:endParaRPr sz="5000"/>
                    </a:p>
                  </a:txBody>
                  <a:tcPr marT="91425" marB="91425" marR="91425" marL="91425"/>
                </a:tc>
                <a:tc>
                  <a:txBody>
                    <a:bodyPr/>
                    <a:lstStyle/>
                    <a:p>
                      <a:pPr indent="0" lvl="0" marL="0" rtl="0" algn="ctr">
                        <a:spcBef>
                          <a:spcPts val="0"/>
                        </a:spcBef>
                        <a:spcAft>
                          <a:spcPts val="0"/>
                        </a:spcAft>
                        <a:buNone/>
                      </a:pPr>
                      <a:r>
                        <a:rPr lang="en" sz="5000"/>
                        <a:t>U</a:t>
                      </a:r>
                      <a:endParaRPr sz="5000"/>
                    </a:p>
                  </a:txBody>
                  <a:tcPr marT="91425" marB="91425" marR="91425" marL="91425"/>
                </a:tc>
                <a:tc>
                  <a:txBody>
                    <a:bodyPr/>
                    <a:lstStyle/>
                    <a:p>
                      <a:pPr indent="0" lvl="0" marL="0" rtl="0" algn="ctr">
                        <a:spcBef>
                          <a:spcPts val="0"/>
                        </a:spcBef>
                        <a:spcAft>
                          <a:spcPts val="0"/>
                        </a:spcAft>
                        <a:buNone/>
                      </a:pPr>
                      <a:r>
                        <a:rPr lang="en" sz="5000"/>
                        <a:t>E</a:t>
                      </a:r>
                      <a:endParaRPr sz="5000"/>
                    </a:p>
                  </a:txBody>
                  <a:tcPr marT="91425" marB="91425" marR="91425" marL="91425"/>
                </a:tc>
                <a:tc>
                  <a:txBody>
                    <a:bodyPr/>
                    <a:lstStyle/>
                    <a:p>
                      <a:pPr indent="0" lvl="0" marL="0" rtl="0" algn="ctr">
                        <a:spcBef>
                          <a:spcPts val="0"/>
                        </a:spcBef>
                        <a:spcAft>
                          <a:spcPts val="0"/>
                        </a:spcAft>
                        <a:buNone/>
                      </a:pPr>
                      <a:r>
                        <a:rPr lang="en" sz="5000"/>
                        <a:t>O</a:t>
                      </a:r>
                      <a:endParaRPr sz="5000"/>
                    </a:p>
                  </a:txBody>
                  <a:tcPr marT="91425" marB="91425" marR="91425" marL="91425"/>
                </a:tc>
              </a:tr>
              <a:tr h="950300">
                <a:tc>
                  <a:txBody>
                    <a:bodyPr/>
                    <a:lstStyle/>
                    <a:p>
                      <a:pPr indent="0" lvl="0" marL="0" rtl="0" algn="ctr">
                        <a:spcBef>
                          <a:spcPts val="0"/>
                        </a:spcBef>
                        <a:spcAft>
                          <a:spcPts val="0"/>
                        </a:spcAft>
                        <a:buNone/>
                      </a:pPr>
                      <a:r>
                        <a:rPr lang="en" sz="5000"/>
                        <a:t>カ</a:t>
                      </a:r>
                      <a:endParaRPr sz="5000"/>
                    </a:p>
                  </a:txBody>
                  <a:tcPr marT="91425" marB="91425" marR="91425" marL="91425"/>
                </a:tc>
                <a:tc>
                  <a:txBody>
                    <a:bodyPr/>
                    <a:lstStyle/>
                    <a:p>
                      <a:pPr indent="0" lvl="0" marL="0" rtl="0" algn="ctr">
                        <a:spcBef>
                          <a:spcPts val="0"/>
                        </a:spcBef>
                        <a:spcAft>
                          <a:spcPts val="0"/>
                        </a:spcAft>
                        <a:buNone/>
                      </a:pPr>
                      <a:r>
                        <a:rPr lang="en" sz="5000"/>
                        <a:t>キ</a:t>
                      </a:r>
                      <a:endParaRPr sz="5000"/>
                    </a:p>
                  </a:txBody>
                  <a:tcPr marT="91425" marB="91425" marR="91425" marL="91425"/>
                </a:tc>
                <a:tc>
                  <a:txBody>
                    <a:bodyPr/>
                    <a:lstStyle/>
                    <a:p>
                      <a:pPr indent="0" lvl="0" marL="0" rtl="0" algn="ctr">
                        <a:spcBef>
                          <a:spcPts val="0"/>
                        </a:spcBef>
                        <a:spcAft>
                          <a:spcPts val="0"/>
                        </a:spcAft>
                        <a:buNone/>
                      </a:pPr>
                      <a:r>
                        <a:rPr lang="en" sz="5000"/>
                        <a:t>ク</a:t>
                      </a:r>
                      <a:endParaRPr sz="5000"/>
                    </a:p>
                  </a:txBody>
                  <a:tcPr marT="91425" marB="91425" marR="91425" marL="91425"/>
                </a:tc>
                <a:tc>
                  <a:txBody>
                    <a:bodyPr/>
                    <a:lstStyle/>
                    <a:p>
                      <a:pPr indent="0" lvl="0" marL="0" rtl="0" algn="ctr">
                        <a:spcBef>
                          <a:spcPts val="0"/>
                        </a:spcBef>
                        <a:spcAft>
                          <a:spcPts val="0"/>
                        </a:spcAft>
                        <a:buNone/>
                      </a:pPr>
                      <a:r>
                        <a:rPr lang="en" sz="5000"/>
                        <a:t>ケ</a:t>
                      </a:r>
                      <a:endParaRPr sz="5000"/>
                    </a:p>
                  </a:txBody>
                  <a:tcPr marT="91425" marB="91425" marR="91425" marL="91425"/>
                </a:tc>
                <a:tc>
                  <a:txBody>
                    <a:bodyPr/>
                    <a:lstStyle/>
                    <a:p>
                      <a:pPr indent="0" lvl="0" marL="0" rtl="0" algn="ctr">
                        <a:spcBef>
                          <a:spcPts val="0"/>
                        </a:spcBef>
                        <a:spcAft>
                          <a:spcPts val="0"/>
                        </a:spcAft>
                        <a:buNone/>
                      </a:pPr>
                      <a:r>
                        <a:rPr lang="en" sz="5000"/>
                        <a:t>コ</a:t>
                      </a:r>
                      <a:endParaRPr sz="5000"/>
                    </a:p>
                  </a:txBody>
                  <a:tcPr marT="91425" marB="91425" marR="91425" marL="91425"/>
                </a:tc>
              </a:tr>
              <a:tr h="950300">
                <a:tc>
                  <a:txBody>
                    <a:bodyPr/>
                    <a:lstStyle/>
                    <a:p>
                      <a:pPr indent="0" lvl="0" marL="0" rtl="0" algn="ctr">
                        <a:spcBef>
                          <a:spcPts val="0"/>
                        </a:spcBef>
                        <a:spcAft>
                          <a:spcPts val="0"/>
                        </a:spcAft>
                        <a:buNone/>
                      </a:pPr>
                      <a:r>
                        <a:rPr lang="en" sz="5000"/>
                        <a:t>KA</a:t>
                      </a:r>
                      <a:endParaRPr sz="5000"/>
                    </a:p>
                  </a:txBody>
                  <a:tcPr marT="91425" marB="91425" marR="91425" marL="91425"/>
                </a:tc>
                <a:tc>
                  <a:txBody>
                    <a:bodyPr/>
                    <a:lstStyle/>
                    <a:p>
                      <a:pPr indent="0" lvl="0" marL="0" rtl="0" algn="ctr">
                        <a:spcBef>
                          <a:spcPts val="0"/>
                        </a:spcBef>
                        <a:spcAft>
                          <a:spcPts val="0"/>
                        </a:spcAft>
                        <a:buNone/>
                      </a:pPr>
                      <a:r>
                        <a:rPr lang="en" sz="5000"/>
                        <a:t>KI</a:t>
                      </a:r>
                      <a:endParaRPr sz="5000"/>
                    </a:p>
                  </a:txBody>
                  <a:tcPr marT="91425" marB="91425" marR="91425" marL="91425"/>
                </a:tc>
                <a:tc>
                  <a:txBody>
                    <a:bodyPr/>
                    <a:lstStyle/>
                    <a:p>
                      <a:pPr indent="0" lvl="0" marL="0" rtl="0" algn="ctr">
                        <a:spcBef>
                          <a:spcPts val="0"/>
                        </a:spcBef>
                        <a:spcAft>
                          <a:spcPts val="0"/>
                        </a:spcAft>
                        <a:buNone/>
                      </a:pPr>
                      <a:r>
                        <a:rPr lang="en" sz="5000"/>
                        <a:t>KU</a:t>
                      </a:r>
                      <a:endParaRPr sz="5000"/>
                    </a:p>
                  </a:txBody>
                  <a:tcPr marT="91425" marB="91425" marR="91425" marL="91425"/>
                </a:tc>
                <a:tc>
                  <a:txBody>
                    <a:bodyPr/>
                    <a:lstStyle/>
                    <a:p>
                      <a:pPr indent="0" lvl="0" marL="0" rtl="0" algn="ctr">
                        <a:spcBef>
                          <a:spcPts val="0"/>
                        </a:spcBef>
                        <a:spcAft>
                          <a:spcPts val="0"/>
                        </a:spcAft>
                        <a:buNone/>
                      </a:pPr>
                      <a:r>
                        <a:rPr lang="en" sz="5000"/>
                        <a:t>KE</a:t>
                      </a:r>
                      <a:endParaRPr sz="5000"/>
                    </a:p>
                  </a:txBody>
                  <a:tcPr marT="91425" marB="91425" marR="91425" marL="91425"/>
                </a:tc>
                <a:tc>
                  <a:txBody>
                    <a:bodyPr/>
                    <a:lstStyle/>
                    <a:p>
                      <a:pPr indent="0" lvl="0" marL="0" rtl="0" algn="ctr">
                        <a:spcBef>
                          <a:spcPts val="0"/>
                        </a:spcBef>
                        <a:spcAft>
                          <a:spcPts val="0"/>
                        </a:spcAft>
                        <a:buNone/>
                      </a:pPr>
                      <a:r>
                        <a:rPr lang="en" sz="5000"/>
                        <a:t>KO</a:t>
                      </a:r>
                      <a:endParaRPr sz="50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ア</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a - as in “father”</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a</a:t>
            </a:r>
            <a:endParaRPr sz="2600">
              <a:solidFill>
                <a:schemeClr val="dk1"/>
              </a:solidFill>
            </a:endParaRPr>
          </a:p>
        </p:txBody>
      </p:sp>
      <p:pic>
        <p:nvPicPr>
          <p:cNvPr id="67" name="Google Shape;67;p15"/>
          <p:cNvPicPr preferRelativeResize="0"/>
          <p:nvPr/>
        </p:nvPicPr>
        <p:blipFill>
          <a:blip r:embed="rId3">
            <a:alphaModFix/>
          </a:blip>
          <a:stretch>
            <a:fillRect/>
          </a:stretch>
        </p:blipFill>
        <p:spPr>
          <a:xfrm>
            <a:off x="3545825" y="1196226"/>
            <a:ext cx="2052325" cy="2751025"/>
          </a:xfrm>
          <a:prstGeom prst="rect">
            <a:avLst/>
          </a:prstGeom>
          <a:noFill/>
          <a:ln>
            <a:noFill/>
          </a:ln>
        </p:spPr>
      </p:pic>
      <p:sp>
        <p:nvSpPr>
          <p:cNvPr id="68" name="Google Shape;68;p15"/>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4"/>
              </a:rPr>
              <a:t>Japanese Kana Mnemonic Chart</a:t>
            </a:r>
            <a:r>
              <a:rPr lang="en" sz="1200">
                <a:solidFill>
                  <a:schemeClr val="dk1"/>
                </a:solidFill>
              </a:rPr>
              <a:t> — </a:t>
            </a:r>
            <a:r>
              <a:rPr lang="en" sz="1200" u="sng">
                <a:solidFill>
                  <a:schemeClr val="hlink"/>
                </a:solidFill>
                <a:hlinkClick r:id="rId5"/>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6"/>
              </a:rPr>
              <a:t>Table katakana.svg</a:t>
            </a:r>
            <a:r>
              <a:rPr lang="en" sz="1200">
                <a:solidFill>
                  <a:schemeClr val="dk1"/>
                </a:solidFill>
              </a:rPr>
              <a:t> — </a:t>
            </a:r>
            <a:r>
              <a:rPr lang="en" sz="1200" u="sng">
                <a:solidFill>
                  <a:schemeClr val="hlink"/>
                </a:solidFill>
                <a:hlinkClick r:id="rId7"/>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pic>
        <p:nvPicPr>
          <p:cNvPr id="69" name="Google Shape;69;p15"/>
          <p:cNvPicPr preferRelativeResize="0"/>
          <p:nvPr/>
        </p:nvPicPr>
        <p:blipFill>
          <a:blip r:embed="rId8">
            <a:alphaModFix/>
          </a:blip>
          <a:stretch>
            <a:fillRect/>
          </a:stretch>
        </p:blipFill>
        <p:spPr>
          <a:xfrm>
            <a:off x="5811875" y="1385613"/>
            <a:ext cx="3184825" cy="2224325"/>
          </a:xfrm>
          <a:prstGeom prst="rect">
            <a:avLst/>
          </a:prstGeom>
          <a:noFill/>
          <a:ln>
            <a:noFill/>
          </a:ln>
        </p:spPr>
      </p:pic>
      <p:sp>
        <p:nvSpPr>
          <p:cNvPr id="70" name="Google Shape;70;p15"/>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71" name="Google Shape;71;p15"/>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A</a:t>
            </a:r>
            <a:r>
              <a:rPr lang="en" sz="2000">
                <a:solidFill>
                  <a:schemeClr val="dk2"/>
                </a:solidFill>
              </a:rPr>
              <a:t>h! </a:t>
            </a:r>
            <a:r>
              <a:rPr b="1" lang="en" sz="2000">
                <a:solidFill>
                  <a:schemeClr val="dk2"/>
                </a:solidFill>
              </a:rPr>
              <a:t>A</a:t>
            </a:r>
            <a:r>
              <a:rPr lang="en" sz="2000">
                <a:solidFill>
                  <a:schemeClr val="dk2"/>
                </a:solidFill>
              </a:rPr>
              <a:t>n </a:t>
            </a:r>
            <a:r>
              <a:rPr b="1" lang="en" sz="2000">
                <a:solidFill>
                  <a:schemeClr val="dk2"/>
                </a:solidFill>
              </a:rPr>
              <a:t>E</a:t>
            </a:r>
            <a:r>
              <a:rPr lang="en" sz="2000">
                <a:solidFill>
                  <a:schemeClr val="dk2"/>
                </a:solidFill>
              </a:rPr>
              <a:t>ye of Horus</a:t>
            </a:r>
            <a:endParaRPr sz="20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イ</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i - as in “machine”</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i</a:t>
            </a:r>
            <a:endParaRPr sz="2600">
              <a:solidFill>
                <a:schemeClr val="dk1"/>
              </a:solidFill>
            </a:endParaRPr>
          </a:p>
        </p:txBody>
      </p:sp>
      <p:sp>
        <p:nvSpPr>
          <p:cNvPr id="77" name="Google Shape;77;p16"/>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78" name="Google Shape;78;p16"/>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79" name="Google Shape;79;p16"/>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Ea</a:t>
            </a:r>
            <a:r>
              <a:rPr lang="en" sz="2000">
                <a:solidFill>
                  <a:schemeClr val="dk2"/>
                </a:solidFill>
              </a:rPr>
              <a:t>ves on a house.</a:t>
            </a:r>
            <a:endParaRPr sz="2000">
              <a:solidFill>
                <a:schemeClr val="dk2"/>
              </a:solidFill>
            </a:endParaRPr>
          </a:p>
        </p:txBody>
      </p:sp>
      <p:pic>
        <p:nvPicPr>
          <p:cNvPr id="80" name="Google Shape;80;p16"/>
          <p:cNvPicPr preferRelativeResize="0"/>
          <p:nvPr/>
        </p:nvPicPr>
        <p:blipFill>
          <a:blip r:embed="rId7">
            <a:alphaModFix/>
          </a:blip>
          <a:stretch>
            <a:fillRect/>
          </a:stretch>
        </p:blipFill>
        <p:spPr>
          <a:xfrm>
            <a:off x="3383400" y="1096475"/>
            <a:ext cx="2168875" cy="3289471"/>
          </a:xfrm>
          <a:prstGeom prst="rect">
            <a:avLst/>
          </a:prstGeom>
          <a:noFill/>
          <a:ln>
            <a:noFill/>
          </a:ln>
        </p:spPr>
      </p:pic>
      <p:pic>
        <p:nvPicPr>
          <p:cNvPr id="81" name="Google Shape;81;p16"/>
          <p:cNvPicPr preferRelativeResize="0"/>
          <p:nvPr/>
        </p:nvPicPr>
        <p:blipFill>
          <a:blip r:embed="rId8">
            <a:alphaModFix/>
          </a:blip>
          <a:stretch>
            <a:fillRect/>
          </a:stretch>
        </p:blipFill>
        <p:spPr>
          <a:xfrm>
            <a:off x="5700450" y="1441388"/>
            <a:ext cx="3389175" cy="24413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ウ</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u - as in “oo” in “food”</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u</a:t>
            </a:r>
            <a:endParaRPr sz="2600">
              <a:solidFill>
                <a:schemeClr val="dk1"/>
              </a:solidFill>
            </a:endParaRPr>
          </a:p>
        </p:txBody>
      </p:sp>
      <p:sp>
        <p:nvSpPr>
          <p:cNvPr id="87" name="Google Shape;87;p17"/>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88" name="Google Shape;88;p17"/>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89" name="Google Shape;89;p17"/>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U</a:t>
            </a:r>
            <a:r>
              <a:rPr lang="en" sz="2000">
                <a:solidFill>
                  <a:schemeClr val="dk2"/>
                </a:solidFill>
              </a:rPr>
              <a:t>kelele</a:t>
            </a:r>
            <a:endParaRPr sz="2000">
              <a:solidFill>
                <a:schemeClr val="dk2"/>
              </a:solidFill>
            </a:endParaRPr>
          </a:p>
        </p:txBody>
      </p:sp>
      <p:pic>
        <p:nvPicPr>
          <p:cNvPr id="90" name="Google Shape;90;p17"/>
          <p:cNvPicPr preferRelativeResize="0"/>
          <p:nvPr/>
        </p:nvPicPr>
        <p:blipFill>
          <a:blip r:embed="rId7">
            <a:alphaModFix/>
          </a:blip>
          <a:stretch>
            <a:fillRect/>
          </a:stretch>
        </p:blipFill>
        <p:spPr>
          <a:xfrm>
            <a:off x="3429275" y="1077825"/>
            <a:ext cx="2173150" cy="3168486"/>
          </a:xfrm>
          <a:prstGeom prst="rect">
            <a:avLst/>
          </a:prstGeom>
          <a:noFill/>
          <a:ln>
            <a:noFill/>
          </a:ln>
        </p:spPr>
      </p:pic>
      <p:pic>
        <p:nvPicPr>
          <p:cNvPr id="91" name="Google Shape;91;p17"/>
          <p:cNvPicPr preferRelativeResize="0"/>
          <p:nvPr/>
        </p:nvPicPr>
        <p:blipFill>
          <a:blip r:embed="rId8">
            <a:alphaModFix/>
          </a:blip>
          <a:stretch>
            <a:fillRect/>
          </a:stretch>
        </p:blipFill>
        <p:spPr>
          <a:xfrm>
            <a:off x="6665302" y="1385625"/>
            <a:ext cx="1872798" cy="2548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エ</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e</a:t>
            </a:r>
            <a:r>
              <a:rPr lang="en" sz="2600">
                <a:solidFill>
                  <a:schemeClr val="dk1"/>
                </a:solidFill>
              </a:rPr>
              <a:t> - as in “met”</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e</a:t>
            </a:r>
            <a:endParaRPr sz="2600">
              <a:solidFill>
                <a:schemeClr val="dk1"/>
              </a:solidFill>
            </a:endParaRPr>
          </a:p>
        </p:txBody>
      </p:sp>
      <p:sp>
        <p:nvSpPr>
          <p:cNvPr id="97" name="Google Shape;97;p18"/>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98" name="Google Shape;98;p18"/>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99" name="Google Shape;99;p18"/>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E</a:t>
            </a:r>
            <a:r>
              <a:rPr lang="en" sz="2000">
                <a:solidFill>
                  <a:schemeClr val="dk2"/>
                </a:solidFill>
              </a:rPr>
              <a:t>mpire State Building</a:t>
            </a:r>
            <a:endParaRPr sz="2000">
              <a:solidFill>
                <a:schemeClr val="dk2"/>
              </a:solidFill>
            </a:endParaRPr>
          </a:p>
        </p:txBody>
      </p:sp>
      <p:pic>
        <p:nvPicPr>
          <p:cNvPr id="100" name="Google Shape;100;p18"/>
          <p:cNvPicPr preferRelativeResize="0"/>
          <p:nvPr/>
        </p:nvPicPr>
        <p:blipFill>
          <a:blip r:embed="rId7">
            <a:alphaModFix/>
          </a:blip>
          <a:stretch>
            <a:fillRect/>
          </a:stretch>
        </p:blipFill>
        <p:spPr>
          <a:xfrm>
            <a:off x="3429275" y="1061363"/>
            <a:ext cx="2063350" cy="2872818"/>
          </a:xfrm>
          <a:prstGeom prst="rect">
            <a:avLst/>
          </a:prstGeom>
          <a:noFill/>
          <a:ln>
            <a:noFill/>
          </a:ln>
        </p:spPr>
      </p:pic>
      <p:pic>
        <p:nvPicPr>
          <p:cNvPr id="101" name="Google Shape;101;p18"/>
          <p:cNvPicPr preferRelativeResize="0"/>
          <p:nvPr/>
        </p:nvPicPr>
        <p:blipFill>
          <a:blip r:embed="rId8">
            <a:alphaModFix/>
          </a:blip>
          <a:stretch>
            <a:fillRect/>
          </a:stretch>
        </p:blipFill>
        <p:spPr>
          <a:xfrm>
            <a:off x="6869363" y="1346775"/>
            <a:ext cx="1380174" cy="293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オ</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o</a:t>
            </a:r>
            <a:r>
              <a:rPr lang="en" sz="2600">
                <a:solidFill>
                  <a:schemeClr val="dk1"/>
                </a:solidFill>
              </a:rPr>
              <a:t> - as in “go”</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o</a:t>
            </a:r>
            <a:endParaRPr sz="2600">
              <a:solidFill>
                <a:schemeClr val="dk1"/>
              </a:solidFill>
            </a:endParaRPr>
          </a:p>
        </p:txBody>
      </p:sp>
      <p:sp>
        <p:nvSpPr>
          <p:cNvPr id="107" name="Google Shape;107;p19"/>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08" name="Google Shape;108;p19"/>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09" name="Google Shape;109;p19"/>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O</a:t>
            </a:r>
            <a:r>
              <a:rPr lang="en" sz="2000">
                <a:solidFill>
                  <a:schemeClr val="dk2"/>
                </a:solidFill>
              </a:rPr>
              <a:t>lympic torch</a:t>
            </a:r>
            <a:endParaRPr sz="2000">
              <a:solidFill>
                <a:schemeClr val="dk2"/>
              </a:solidFill>
            </a:endParaRPr>
          </a:p>
        </p:txBody>
      </p:sp>
      <p:pic>
        <p:nvPicPr>
          <p:cNvPr id="110" name="Google Shape;110;p19"/>
          <p:cNvPicPr preferRelativeResize="0"/>
          <p:nvPr/>
        </p:nvPicPr>
        <p:blipFill>
          <a:blip r:embed="rId7">
            <a:alphaModFix/>
          </a:blip>
          <a:stretch>
            <a:fillRect/>
          </a:stretch>
        </p:blipFill>
        <p:spPr>
          <a:xfrm>
            <a:off x="3383400" y="1077825"/>
            <a:ext cx="2268438" cy="3245611"/>
          </a:xfrm>
          <a:prstGeom prst="rect">
            <a:avLst/>
          </a:prstGeom>
          <a:noFill/>
          <a:ln>
            <a:noFill/>
          </a:ln>
        </p:spPr>
      </p:pic>
      <p:pic>
        <p:nvPicPr>
          <p:cNvPr id="111" name="Google Shape;111;p19"/>
          <p:cNvPicPr preferRelativeResize="0"/>
          <p:nvPr/>
        </p:nvPicPr>
        <p:blipFill>
          <a:blip r:embed="rId8">
            <a:alphaModFix/>
          </a:blip>
          <a:stretch>
            <a:fillRect/>
          </a:stretch>
        </p:blipFill>
        <p:spPr>
          <a:xfrm>
            <a:off x="5760599" y="1385625"/>
            <a:ext cx="3332100" cy="29650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カ</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ka</a:t>
            </a:r>
            <a:r>
              <a:rPr lang="en" sz="2600">
                <a:solidFill>
                  <a:schemeClr val="dk1"/>
                </a:solidFill>
              </a:rPr>
              <a:t> - as in “karma”</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ka</a:t>
            </a:r>
            <a:endParaRPr sz="2600">
              <a:solidFill>
                <a:schemeClr val="dk1"/>
              </a:solidFill>
            </a:endParaRPr>
          </a:p>
        </p:txBody>
      </p:sp>
      <p:sp>
        <p:nvSpPr>
          <p:cNvPr id="117" name="Google Shape;117;p20"/>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18" name="Google Shape;118;p20"/>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19" name="Google Shape;119;p20"/>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Co</a:t>
            </a:r>
            <a:r>
              <a:rPr lang="en" sz="2000">
                <a:solidFill>
                  <a:schemeClr val="dk2"/>
                </a:solidFill>
              </a:rPr>
              <a:t>d.</a:t>
            </a:r>
            <a:endParaRPr sz="2000">
              <a:solidFill>
                <a:schemeClr val="dk2"/>
              </a:solidFill>
            </a:endParaRPr>
          </a:p>
        </p:txBody>
      </p:sp>
      <p:pic>
        <p:nvPicPr>
          <p:cNvPr id="120" name="Google Shape;120;p20"/>
          <p:cNvPicPr preferRelativeResize="0"/>
          <p:nvPr/>
        </p:nvPicPr>
        <p:blipFill>
          <a:blip r:embed="rId7">
            <a:alphaModFix/>
          </a:blip>
          <a:stretch>
            <a:fillRect/>
          </a:stretch>
        </p:blipFill>
        <p:spPr>
          <a:xfrm>
            <a:off x="3383400" y="1077825"/>
            <a:ext cx="2377200" cy="3093611"/>
          </a:xfrm>
          <a:prstGeom prst="rect">
            <a:avLst/>
          </a:prstGeom>
          <a:noFill/>
          <a:ln>
            <a:noFill/>
          </a:ln>
        </p:spPr>
      </p:pic>
      <p:pic>
        <p:nvPicPr>
          <p:cNvPr id="121" name="Google Shape;121;p20"/>
          <p:cNvPicPr preferRelativeResize="0"/>
          <p:nvPr/>
        </p:nvPicPr>
        <p:blipFill>
          <a:blip r:embed="rId8">
            <a:alphaModFix/>
          </a:blip>
          <a:stretch>
            <a:fillRect/>
          </a:stretch>
        </p:blipFill>
        <p:spPr>
          <a:xfrm>
            <a:off x="5818562" y="1502525"/>
            <a:ext cx="3231000" cy="11565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キ</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ki - as in “key”</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ki</a:t>
            </a:r>
            <a:endParaRPr sz="2600">
              <a:solidFill>
                <a:schemeClr val="dk1"/>
              </a:solidFill>
            </a:endParaRPr>
          </a:p>
        </p:txBody>
      </p:sp>
      <p:sp>
        <p:nvSpPr>
          <p:cNvPr id="127" name="Google Shape;127;p21"/>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28" name="Google Shape;128;p21"/>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29" name="Google Shape;129;p21"/>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Key</a:t>
            </a:r>
            <a:endParaRPr sz="2000">
              <a:solidFill>
                <a:schemeClr val="dk2"/>
              </a:solidFill>
            </a:endParaRPr>
          </a:p>
        </p:txBody>
      </p:sp>
      <p:pic>
        <p:nvPicPr>
          <p:cNvPr id="130" name="Google Shape;130;p21"/>
          <p:cNvPicPr preferRelativeResize="0"/>
          <p:nvPr/>
        </p:nvPicPr>
        <p:blipFill>
          <a:blip r:embed="rId7">
            <a:alphaModFix/>
          </a:blip>
          <a:stretch>
            <a:fillRect/>
          </a:stretch>
        </p:blipFill>
        <p:spPr>
          <a:xfrm>
            <a:off x="3351600" y="1077825"/>
            <a:ext cx="2331325" cy="3215612"/>
          </a:xfrm>
          <a:prstGeom prst="rect">
            <a:avLst/>
          </a:prstGeom>
          <a:noFill/>
          <a:ln>
            <a:noFill/>
          </a:ln>
        </p:spPr>
      </p:pic>
      <p:pic>
        <p:nvPicPr>
          <p:cNvPr id="131" name="Google Shape;131;p21"/>
          <p:cNvPicPr preferRelativeResize="0"/>
          <p:nvPr/>
        </p:nvPicPr>
        <p:blipFill>
          <a:blip r:embed="rId8">
            <a:alphaModFix/>
          </a:blip>
          <a:stretch>
            <a:fillRect/>
          </a:stretch>
        </p:blipFill>
        <p:spPr>
          <a:xfrm>
            <a:off x="6682141" y="1385625"/>
            <a:ext cx="1839121" cy="2907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ク</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ku</a:t>
            </a:r>
            <a:r>
              <a:rPr lang="en" sz="2600">
                <a:solidFill>
                  <a:schemeClr val="dk1"/>
                </a:solidFill>
              </a:rPr>
              <a:t> - as in “coo”</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ku</a:t>
            </a:r>
            <a:endParaRPr sz="2600">
              <a:solidFill>
                <a:schemeClr val="dk1"/>
              </a:solidFill>
            </a:endParaRPr>
          </a:p>
        </p:txBody>
      </p:sp>
      <p:sp>
        <p:nvSpPr>
          <p:cNvPr id="137" name="Google Shape;137;p22"/>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38" name="Google Shape;138;p22"/>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39" name="Google Shape;139;p22"/>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Coo</a:t>
            </a:r>
            <a:r>
              <a:rPr lang="en" sz="2000">
                <a:solidFill>
                  <a:schemeClr val="dk2"/>
                </a:solidFill>
              </a:rPr>
              <a:t>nskin cap</a:t>
            </a:r>
            <a:endParaRPr sz="2000">
              <a:solidFill>
                <a:schemeClr val="dk2"/>
              </a:solidFill>
            </a:endParaRPr>
          </a:p>
        </p:txBody>
      </p:sp>
      <p:pic>
        <p:nvPicPr>
          <p:cNvPr id="140" name="Google Shape;140;p22"/>
          <p:cNvPicPr preferRelativeResize="0"/>
          <p:nvPr/>
        </p:nvPicPr>
        <p:blipFill>
          <a:blip r:embed="rId7">
            <a:alphaModFix/>
          </a:blip>
          <a:stretch>
            <a:fillRect/>
          </a:stretch>
        </p:blipFill>
        <p:spPr>
          <a:xfrm>
            <a:off x="3406338" y="1031650"/>
            <a:ext cx="2331325" cy="3335588"/>
          </a:xfrm>
          <a:prstGeom prst="rect">
            <a:avLst/>
          </a:prstGeom>
          <a:noFill/>
          <a:ln>
            <a:noFill/>
          </a:ln>
        </p:spPr>
      </p:pic>
      <p:pic>
        <p:nvPicPr>
          <p:cNvPr id="141" name="Google Shape;141;p22"/>
          <p:cNvPicPr preferRelativeResize="0"/>
          <p:nvPr/>
        </p:nvPicPr>
        <p:blipFill>
          <a:blip r:embed="rId8">
            <a:alphaModFix/>
          </a:blip>
          <a:stretch>
            <a:fillRect/>
          </a:stretch>
        </p:blipFill>
        <p:spPr>
          <a:xfrm>
            <a:off x="6436039" y="1430825"/>
            <a:ext cx="2331325" cy="27909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ケ</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ke</a:t>
            </a:r>
            <a:r>
              <a:rPr lang="en" sz="2600">
                <a:solidFill>
                  <a:schemeClr val="dk1"/>
                </a:solidFill>
              </a:rPr>
              <a:t> - as in “kettle”</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ke</a:t>
            </a:r>
            <a:endParaRPr sz="2600">
              <a:solidFill>
                <a:schemeClr val="dk1"/>
              </a:solidFill>
            </a:endParaRPr>
          </a:p>
        </p:txBody>
      </p:sp>
      <p:sp>
        <p:nvSpPr>
          <p:cNvPr id="147" name="Google Shape;147;p23"/>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48" name="Google Shape;148;p23"/>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49" name="Google Shape;149;p23"/>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lang="en" sz="2000">
                <a:solidFill>
                  <a:schemeClr val="dk2"/>
                </a:solidFill>
              </a:rPr>
              <a:t>The letter “</a:t>
            </a:r>
            <a:r>
              <a:rPr b="1" lang="en" sz="2000">
                <a:solidFill>
                  <a:schemeClr val="dk2"/>
                </a:solidFill>
              </a:rPr>
              <a:t>K</a:t>
            </a:r>
            <a:r>
              <a:rPr lang="en" sz="2000">
                <a:solidFill>
                  <a:schemeClr val="dk2"/>
                </a:solidFill>
              </a:rPr>
              <a:t>.”</a:t>
            </a:r>
            <a:endParaRPr sz="2000">
              <a:solidFill>
                <a:schemeClr val="dk2"/>
              </a:solidFill>
            </a:endParaRPr>
          </a:p>
        </p:txBody>
      </p:sp>
      <p:pic>
        <p:nvPicPr>
          <p:cNvPr id="150" name="Google Shape;150;p23"/>
          <p:cNvPicPr preferRelativeResize="0"/>
          <p:nvPr/>
        </p:nvPicPr>
        <p:blipFill>
          <a:blip r:embed="rId7">
            <a:alphaModFix/>
          </a:blip>
          <a:stretch>
            <a:fillRect/>
          </a:stretch>
        </p:blipFill>
        <p:spPr>
          <a:xfrm>
            <a:off x="3383400" y="1058226"/>
            <a:ext cx="2377200" cy="3346362"/>
          </a:xfrm>
          <a:prstGeom prst="rect">
            <a:avLst/>
          </a:prstGeom>
          <a:noFill/>
          <a:ln>
            <a:noFill/>
          </a:ln>
        </p:spPr>
      </p:pic>
      <p:pic>
        <p:nvPicPr>
          <p:cNvPr id="151" name="Google Shape;151;p23"/>
          <p:cNvPicPr preferRelativeResize="0"/>
          <p:nvPr/>
        </p:nvPicPr>
        <p:blipFill>
          <a:blip r:embed="rId8">
            <a:alphaModFix/>
          </a:blip>
          <a:stretch>
            <a:fillRect/>
          </a:stretch>
        </p:blipFill>
        <p:spPr>
          <a:xfrm>
            <a:off x="6240463" y="1423988"/>
            <a:ext cx="2784625" cy="261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コ</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ko</a:t>
            </a:r>
            <a:r>
              <a:rPr lang="en" sz="2600">
                <a:solidFill>
                  <a:schemeClr val="dk1"/>
                </a:solidFill>
              </a:rPr>
              <a:t> - as in “cold”</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ko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Co</a:t>
            </a:r>
            <a:r>
              <a:rPr lang="en" sz="2000">
                <a:solidFill>
                  <a:schemeClr val="dk2"/>
                </a:solidFill>
              </a:rPr>
              <a:t>mb</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073788"/>
            <a:ext cx="2377200" cy="2995923"/>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541638"/>
            <a:ext cx="3041275" cy="2060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1200"/>
              </a:spcAft>
              <a:buClr>
                <a:schemeClr val="dk1"/>
              </a:buClr>
              <a:buSzPct val="39286"/>
              <a:buFont typeface="Arial"/>
              <a:buNone/>
            </a:pPr>
            <a:r>
              <a:rPr lang="en"/>
              <a:t>Sources &amp; Attribution</a:t>
            </a:r>
            <a:endParaRPr/>
          </a:p>
        </p:txBody>
      </p:sp>
      <p:sp>
        <p:nvSpPr>
          <p:cNvPr id="167" name="Google Shape;167;p25"/>
          <p:cNvSpPr txBox="1"/>
          <p:nvPr>
            <p:ph idx="1" type="body"/>
          </p:nvPr>
        </p:nvSpPr>
        <p:spPr>
          <a:xfrm>
            <a:off x="-89450" y="572700"/>
            <a:ext cx="9233400" cy="12009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b="1" lang="en" sz="1100">
                <a:solidFill>
                  <a:schemeClr val="dk1"/>
                </a:solidFill>
              </a:rPr>
              <a:t>Japanese Kana Mnemonic Chart</a:t>
            </a:r>
            <a:br>
              <a:rPr b="1" lang="en" sz="1100">
                <a:solidFill>
                  <a:schemeClr val="dk1"/>
                </a:solidFill>
              </a:rPr>
            </a:br>
            <a:r>
              <a:rPr lang="en" sz="1100">
                <a:solidFill>
                  <a:schemeClr val="dk1"/>
                </a:solidFill>
              </a:rPr>
              <a:t>B. Domangue (LeafPiece), 2016</a:t>
            </a:r>
            <a:br>
              <a:rPr lang="en" sz="1100">
                <a:solidFill>
                  <a:schemeClr val="dk1"/>
                </a:solidFill>
              </a:rPr>
            </a:br>
            <a:r>
              <a:rPr lang="en" sz="1100">
                <a:solidFill>
                  <a:schemeClr val="dk1"/>
                </a:solidFill>
              </a:rPr>
              <a:t>Licensed under </a:t>
            </a:r>
            <a:r>
              <a:rPr b="1" lang="en" sz="1100">
                <a:solidFill>
                  <a:schemeClr val="dk1"/>
                </a:solidFill>
              </a:rPr>
              <a:t>CC BY-SA 4.0</a:t>
            </a:r>
            <a:br>
              <a:rPr b="1" lang="en" sz="1100">
                <a:solidFill>
                  <a:schemeClr val="dk1"/>
                </a:solidFill>
              </a:rPr>
            </a:br>
            <a:r>
              <a:rPr lang="en" sz="1100">
                <a:solidFill>
                  <a:schemeClr val="dk1"/>
                </a:solidFill>
              </a:rPr>
              <a:t>Source: Wikimedia Commons </a:t>
            </a:r>
            <a:br>
              <a:rPr lang="en" sz="1100">
                <a:solidFill>
                  <a:schemeClr val="dk1"/>
                </a:solidFill>
              </a:rPr>
            </a:br>
            <a:r>
              <a:rPr lang="en" sz="1100" u="sng">
                <a:solidFill>
                  <a:schemeClr val="hlink"/>
                </a:solidFill>
                <a:hlinkClick r:id="rId3"/>
              </a:rPr>
              <a:t>https://commons.wikimedia.org/wiki/File:Japanese_Kana_Mnemonic_Chart.png</a:t>
            </a:r>
            <a:r>
              <a:rPr lang="en" sz="1100">
                <a:solidFill>
                  <a:schemeClr val="dk1"/>
                </a:solidFill>
              </a:rPr>
              <a:t> </a:t>
            </a:r>
            <a:br>
              <a:rPr lang="en" sz="1100">
                <a:solidFill>
                  <a:schemeClr val="dk1"/>
                </a:solidFill>
              </a:rPr>
            </a:br>
            <a:r>
              <a:rPr i="1" lang="en" sz="1100">
                <a:solidFill>
                  <a:schemeClr val="dk1"/>
                </a:solidFill>
              </a:rPr>
              <a:t>Mnemonic illustrations are cropped and resized from this work.
Some illustrations were cleaned to remove stray text or marks.</a:t>
            </a:r>
            <a:endParaRPr sz="1100">
              <a:solidFill>
                <a:schemeClr val="dk1"/>
              </a:solidFill>
            </a:endParaRPr>
          </a:p>
        </p:txBody>
      </p:sp>
      <p:pic>
        <p:nvPicPr>
          <p:cNvPr id="168" name="Google Shape;168;p25"/>
          <p:cNvPicPr preferRelativeResize="0"/>
          <p:nvPr/>
        </p:nvPicPr>
        <p:blipFill>
          <a:blip r:embed="rId4">
            <a:alphaModFix/>
          </a:blip>
          <a:stretch>
            <a:fillRect/>
          </a:stretch>
        </p:blipFill>
        <p:spPr>
          <a:xfrm>
            <a:off x="1436212" y="1773475"/>
            <a:ext cx="6092676" cy="3370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1200"/>
              </a:spcAft>
              <a:buNone/>
            </a:pPr>
            <a:r>
              <a:rPr lang="en"/>
              <a:t>Sources &amp; Attribution</a:t>
            </a:r>
            <a:endParaRPr/>
          </a:p>
        </p:txBody>
      </p:sp>
      <p:sp>
        <p:nvSpPr>
          <p:cNvPr id="174" name="Google Shape;174;p26"/>
          <p:cNvSpPr txBox="1"/>
          <p:nvPr>
            <p:ph idx="1" type="body"/>
          </p:nvPr>
        </p:nvSpPr>
        <p:spPr>
          <a:xfrm>
            <a:off x="-89450" y="401250"/>
            <a:ext cx="9233400" cy="12009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1200"/>
              </a:spcBef>
              <a:spcAft>
                <a:spcPts val="1200"/>
              </a:spcAft>
              <a:buNone/>
            </a:pPr>
            <a:r>
              <a:rPr b="1" lang="en" sz="1100">
                <a:solidFill>
                  <a:schemeClr val="dk1"/>
                </a:solidFill>
              </a:rPr>
              <a:t>Katakana Table with Stroke Order</a:t>
            </a:r>
            <a:br>
              <a:rPr b="1" lang="en" sz="1100">
                <a:solidFill>
                  <a:schemeClr val="dk1"/>
                </a:solidFill>
              </a:rPr>
            </a:br>
            <a:r>
              <a:rPr lang="en" sz="1100">
                <a:solidFill>
                  <a:schemeClr val="dk1"/>
                </a:solidFill>
              </a:rPr>
              <a:t> Pmx, 2007</a:t>
            </a:r>
            <a:br>
              <a:rPr lang="en" sz="1100">
                <a:solidFill>
                  <a:schemeClr val="dk1"/>
                </a:solidFill>
              </a:rPr>
            </a:br>
            <a:r>
              <a:rPr lang="en" sz="1100">
                <a:solidFill>
                  <a:schemeClr val="dk1"/>
                </a:solidFill>
              </a:rPr>
              <a:t> “Table katakana.svg”</a:t>
            </a:r>
            <a:br>
              <a:rPr lang="en" sz="1100">
                <a:solidFill>
                  <a:schemeClr val="dk1"/>
                </a:solidFill>
              </a:rPr>
            </a:br>
            <a:r>
              <a:rPr lang="en" sz="1100">
                <a:solidFill>
                  <a:schemeClr val="dk1"/>
                </a:solidFill>
              </a:rPr>
              <a:t> Licensed under </a:t>
            </a:r>
            <a:r>
              <a:rPr b="1" lang="en" sz="1100">
                <a:solidFill>
                  <a:schemeClr val="dk1"/>
                </a:solidFill>
              </a:rPr>
              <a:t>CC BY-SA 3.0</a:t>
            </a:r>
            <a:br>
              <a:rPr lang="en" sz="1100">
                <a:solidFill>
                  <a:schemeClr val="dk1"/>
                </a:solidFill>
              </a:rPr>
            </a:br>
            <a:r>
              <a:rPr lang="en" sz="1100">
                <a:solidFill>
                  <a:schemeClr val="dk1"/>
                </a:solidFill>
              </a:rPr>
              <a:t> Source: Wikimedia Commons</a:t>
            </a:r>
            <a:br>
              <a:rPr lang="en" sz="1100">
                <a:solidFill>
                  <a:schemeClr val="dk1"/>
                </a:solidFill>
              </a:rPr>
            </a:br>
            <a:r>
              <a:rPr lang="en" sz="1100" u="sng">
                <a:solidFill>
                  <a:schemeClr val="hlink"/>
                </a:solidFill>
                <a:hlinkClick r:id="rId3"/>
              </a:rPr>
              <a:t>https://commons.wikimedia.org/wiki/File:Table_katakana.svg</a:t>
            </a:r>
            <a:br>
              <a:rPr lang="en" sz="1100">
                <a:solidFill>
                  <a:schemeClr val="dk1"/>
                </a:solidFill>
              </a:rPr>
            </a:br>
            <a:r>
              <a:rPr i="1" lang="en" sz="1100">
                <a:solidFill>
                  <a:schemeClr val="dk1"/>
                </a:solidFill>
              </a:rPr>
              <a:t>Individual illustrations throughout this presentation are cropped and resized from this work. </a:t>
            </a:r>
            <a:endParaRPr b="1" sz="1100">
              <a:solidFill>
                <a:schemeClr val="dk1"/>
              </a:solidFill>
            </a:endParaRPr>
          </a:p>
        </p:txBody>
      </p:sp>
      <p:pic>
        <p:nvPicPr>
          <p:cNvPr id="175" name="Google Shape;175;p26"/>
          <p:cNvPicPr preferRelativeResize="0"/>
          <p:nvPr/>
        </p:nvPicPr>
        <p:blipFill>
          <a:blip r:embed="rId4">
            <a:alphaModFix/>
          </a:blip>
          <a:stretch>
            <a:fillRect/>
          </a:stretch>
        </p:blipFill>
        <p:spPr>
          <a:xfrm>
            <a:off x="1570800" y="1711200"/>
            <a:ext cx="6002400" cy="3432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サ</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sa - as in “sardine”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So</a:t>
            </a:r>
            <a:r>
              <a:rPr b="0" lang="en" sz="2000">
                <a:solidFill>
                  <a:schemeClr val="dk2"/>
                </a:solidFill>
              </a:rPr>
              <a:t>ck</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432383" y="1541638"/>
            <a:ext cx="2338634" cy="2060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シ</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shi - as in “sheep”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shi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Shi</a:t>
            </a:r>
            <a:r>
              <a:rPr b="0" lang="en" sz="2000">
                <a:solidFill>
                  <a:schemeClr val="dk2"/>
                </a:solidFill>
              </a:rPr>
              <a:t>eld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75616"/>
            <a:ext cx="2377200" cy="2792267"/>
          </a:xfrm>
          <a:prstGeom prst="rect">
            <a:avLst/>
          </a:prstGeom>
          <a:noFill/>
          <a:ln>
            <a:noFill/>
          </a:ln>
        </p:spPr>
      </p:pic>
      <p:pic>
        <p:nvPicPr>
          <p:cNvPr id="161" name="Google Shape;161;p24"/>
          <p:cNvPicPr preferRelativeResize="0"/>
          <p:nvPr/>
        </p:nvPicPr>
        <p:blipFill>
          <a:blip r:embed="rId8">
            <a:alphaModFix/>
          </a:blip>
          <a:stretch>
            <a:fillRect/>
          </a:stretch>
        </p:blipFill>
        <p:spPr>
          <a:xfrm>
            <a:off x="6475763" y="1541638"/>
            <a:ext cx="2251874" cy="2060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ス</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su - as in “sou” in “soup”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Sui</a:t>
            </a:r>
            <a:r>
              <a:rPr b="0" lang="en" sz="2000">
                <a:solidFill>
                  <a:schemeClr val="dk2"/>
                </a:solidFill>
              </a:rPr>
              <a:t>t and tie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370044" y="1541638"/>
            <a:ext cx="2463312" cy="2060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セ</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se - as in “set”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Se</a:t>
            </a:r>
            <a:r>
              <a:rPr b="0" lang="en" sz="2000">
                <a:solidFill>
                  <a:schemeClr val="dk2"/>
                </a:solidFill>
              </a:rPr>
              <a:t>curity Guard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933519" y="1541638"/>
            <a:ext cx="1336362" cy="2060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ソ</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so - as in “sew”</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so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Sew</a:t>
            </a:r>
            <a:r>
              <a:rPr b="0" lang="en" sz="2000">
                <a:solidFill>
                  <a:schemeClr val="dk2"/>
                </a:solidFill>
              </a:rPr>
              <a:t> a button</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94483"/>
            <a:ext cx="2377200" cy="2754533"/>
          </a:xfrm>
          <a:prstGeom prst="rect">
            <a:avLst/>
          </a:prstGeom>
          <a:noFill/>
          <a:ln>
            <a:noFill/>
          </a:ln>
        </p:spPr>
      </p:pic>
      <p:pic>
        <p:nvPicPr>
          <p:cNvPr id="161" name="Google Shape;161;p24"/>
          <p:cNvPicPr preferRelativeResize="0"/>
          <p:nvPr/>
        </p:nvPicPr>
        <p:blipFill>
          <a:blip r:embed="rId8">
            <a:alphaModFix/>
          </a:blip>
          <a:stretch>
            <a:fillRect/>
          </a:stretch>
        </p:blipFill>
        <p:spPr>
          <a:xfrm>
            <a:off x="6542974" y="1541638"/>
            <a:ext cx="2117453" cy="2060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タ</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ta - as in “taco”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To</a:t>
            </a:r>
            <a:r>
              <a:rPr b="0" lang="en" sz="2000">
                <a:solidFill>
                  <a:schemeClr val="dk2"/>
                </a:solidFill>
              </a:rPr>
              <a:t>mcat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914959" y="1541638"/>
            <a:ext cx="1373483" cy="2060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チ</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chi - as in “cheese”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chi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Chee</a:t>
            </a:r>
            <a:r>
              <a:rPr b="0" lang="en" sz="2000">
                <a:solidFill>
                  <a:schemeClr val="dk2"/>
                </a:solidFill>
              </a:rPr>
              <a:t>se wedge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379533" y="1541638"/>
            <a:ext cx="2444335" cy="2060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ツ</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tsu - “ts” as in “cats,” followed by “oo”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tsu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Tsu</a:t>
            </a:r>
            <a:r>
              <a:rPr b="0" lang="en" sz="2000">
                <a:solidFill>
                  <a:schemeClr val="dk2"/>
                </a:solidFill>
              </a:rPr>
              <a:t>nami wave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458527" y="1541638"/>
            <a:ext cx="2286347" cy="2060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テ</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te - as in “ten”</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Te</a:t>
            </a:r>
            <a:r>
              <a:rPr b="0" lang="en" sz="2000">
                <a:solidFill>
                  <a:schemeClr val="dk2"/>
                </a:solidFill>
              </a:rPr>
              <a:t>nt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331228" y="1541638"/>
            <a:ext cx="2540944" cy="2060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ト</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to - as in “toe”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to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To</a:t>
            </a:r>
            <a:r>
              <a:rPr b="0" lang="en" sz="2000">
                <a:solidFill>
                  <a:schemeClr val="dk2"/>
                </a:solidFill>
              </a:rPr>
              <a:t>piary</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698905" y="1541638"/>
            <a:ext cx="1805590" cy="2060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ナ</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na - as in “nacho”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Kni</a:t>
            </a:r>
            <a:r>
              <a:rPr b="0" lang="en" sz="2000">
                <a:solidFill>
                  <a:schemeClr val="dk2"/>
                </a:solidFill>
              </a:rPr>
              <a:t>fe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745691" y="1541638"/>
            <a:ext cx="1712018" cy="2060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ニ</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ni - as in “knee”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Knee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7076739" y="1541638"/>
            <a:ext cx="1049922" cy="2060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ヌ</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nu - as in “noo” in “noodle”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New</a:t>
            </a:r>
            <a:r>
              <a:rPr b="0" lang="en" sz="2000">
                <a:solidFill>
                  <a:schemeClr val="dk2"/>
                </a:solidFill>
              </a:rPr>
              <a:t>born in a stroller</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628816" y="1541638"/>
            <a:ext cx="1945768" cy="2060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ネ</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ne - as in “net”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Ne</a:t>
            </a:r>
            <a:r>
              <a:rPr b="0" lang="en" sz="2000">
                <a:solidFill>
                  <a:schemeClr val="dk2"/>
                </a:solidFill>
              </a:rPr>
              <a:t>ck brace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820236" y="1541638"/>
            <a:ext cx="1562929" cy="2060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ノ</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no - as in “no”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No</a:t>
            </a:r>
            <a:r>
              <a:rPr b="0" lang="en" sz="2000">
                <a:solidFill>
                  <a:schemeClr val="dk2"/>
                </a:solidFill>
              </a:rPr>
              <a:t> smoking</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604290" y="1541638"/>
            <a:ext cx="1994821" cy="2060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ハ</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ha - as in “ha!”</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Ho</a:t>
            </a:r>
            <a:r>
              <a:rPr b="0" lang="en" sz="2000">
                <a:solidFill>
                  <a:schemeClr val="dk2"/>
                </a:solidFill>
              </a:rPr>
              <a:t>t lava</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775067" y="1541638"/>
            <a:ext cx="1653267" cy="2060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ヒ</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hi - as in “heat”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Hee</a:t>
            </a:r>
            <a:r>
              <a:rPr b="0" lang="en" sz="2000">
                <a:solidFill>
                  <a:schemeClr val="dk2"/>
                </a:solidFill>
              </a:rPr>
              <a:t>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552923"/>
            <a:ext cx="3041275" cy="203765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フ</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fu - like “foo” in “food,” with a gentle puff of air</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fu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Foo</a:t>
            </a:r>
            <a:r>
              <a:rPr b="0" lang="en" sz="2000">
                <a:solidFill>
                  <a:schemeClr val="dk2"/>
                </a:solidFill>
              </a:rPr>
              <a:t>l’s hat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535654" y="1541638"/>
            <a:ext cx="2132093" cy="2060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ヘ</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he - as in “help”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Hea</a:t>
            </a:r>
            <a:r>
              <a:rPr b="0" lang="en" sz="2000">
                <a:solidFill>
                  <a:schemeClr val="dk2"/>
                </a:solidFill>
              </a:rPr>
              <a:t>dband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730067" y="1541638"/>
            <a:ext cx="1743267" cy="20602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ホ</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ho - as in “hope”</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ho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Ho</a:t>
            </a:r>
            <a:r>
              <a:rPr b="0" lang="en" sz="2000">
                <a:solidFill>
                  <a:schemeClr val="dk2"/>
                </a:solidFill>
              </a:rPr>
              <a:t>ly cross</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460224" y="1541638"/>
            <a:ext cx="2282952" cy="20602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マ</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ma - as in “mama”</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Mo</a:t>
            </a:r>
            <a:r>
              <a:rPr b="0" lang="en" sz="2000">
                <a:solidFill>
                  <a:schemeClr val="dk2"/>
                </a:solidFill>
              </a:rPr>
              <a:t>ckingbird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653345"/>
            <a:ext cx="3041275" cy="183681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ミ</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mi - as in “meet”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Me</a:t>
            </a:r>
            <a:r>
              <a:rPr b="0" lang="en" sz="2000">
                <a:solidFill>
                  <a:schemeClr val="dk2"/>
                </a:solidFill>
              </a:rPr>
              <a:t>dian in the road</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816853" y="1541638"/>
            <a:ext cx="1569695" cy="2060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ム</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mu - as in “moo”</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Moo</a:t>
            </a:r>
            <a:r>
              <a:rPr b="0" lang="en" sz="2000">
                <a:solidFill>
                  <a:schemeClr val="dk2"/>
                </a:solidFill>
              </a:rPr>
              <a:t>n viewed from above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687114" y="1541638"/>
            <a:ext cx="1829172" cy="20602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メ</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me - as in “met”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Me</a:t>
            </a:r>
            <a:r>
              <a:rPr b="0" lang="en" sz="2000">
                <a:solidFill>
                  <a:schemeClr val="dk2"/>
                </a:solidFill>
              </a:rPr>
              <a:t>tal knife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587939" y="1541638"/>
            <a:ext cx="2027523" cy="20602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モ</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mo - as in “mow”</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mo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Mo</a:t>
            </a:r>
            <a:r>
              <a:rPr b="0" lang="en" sz="2000">
                <a:solidFill>
                  <a:schemeClr val="dk2"/>
                </a:solidFill>
              </a:rPr>
              <a:t>torboat</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2174695"/>
            <a:ext cx="3041275" cy="79411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ヤ</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ya - as in “yard”</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ya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Ya</a:t>
            </a:r>
            <a:r>
              <a:rPr b="0" lang="en" sz="2000">
                <a:solidFill>
                  <a:schemeClr val="dk2"/>
                </a:solidFill>
              </a:rPr>
              <a:t>wl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643248" y="1541638"/>
            <a:ext cx="1916905" cy="2060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ユ</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yu - as in “you”</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yu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U</a:t>
            </a:r>
            <a:r>
              <a:rPr b="0" lang="en" sz="2000">
                <a:solidFill>
                  <a:schemeClr val="dk2"/>
                </a:solidFill>
              </a:rPr>
              <a:t>-turn</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365565" y="1541638"/>
            <a:ext cx="2472270" cy="20602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ヨ</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yo - as in “yoga”</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yo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Yo</a:t>
            </a:r>
            <a:r>
              <a:rPr b="0" lang="en" sz="2000">
                <a:solidFill>
                  <a:schemeClr val="dk2"/>
                </a:solidFill>
              </a:rPr>
              <a:t>ga shorts</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081063" y="1719525"/>
            <a:ext cx="3041275" cy="17044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ラ</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ra - like “la” in “lava,”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Ro</a:t>
            </a:r>
            <a:r>
              <a:rPr b="0" lang="en" sz="2000">
                <a:solidFill>
                  <a:schemeClr val="dk2"/>
                </a:solidFill>
              </a:rPr>
              <a:t>bber</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598001" y="1541638"/>
            <a:ext cx="2007399" cy="20602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リ</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ri - like “lee” in “leap,”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ri</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Rea</a:t>
            </a:r>
            <a:r>
              <a:rPr b="0" lang="en" sz="2000">
                <a:solidFill>
                  <a:schemeClr val="dk2"/>
                </a:solidFill>
              </a:rPr>
              <a:t>ch high</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7136893" y="1541638"/>
            <a:ext cx="929614" cy="2060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ル</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ru - like “loo” in “loop,”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ru</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Rhu</a:t>
            </a:r>
            <a:r>
              <a:rPr b="0" lang="en" sz="2000">
                <a:solidFill>
                  <a:schemeClr val="dk2"/>
                </a:solidFill>
              </a:rPr>
              <a:t>barb stalk</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6732"/>
            <a:ext cx="2377200" cy="2870034"/>
          </a:xfrm>
          <a:prstGeom prst="rect">
            <a:avLst/>
          </a:prstGeom>
          <a:noFill/>
          <a:ln>
            <a:noFill/>
          </a:ln>
        </p:spPr>
      </p:pic>
      <p:pic>
        <p:nvPicPr>
          <p:cNvPr id="161" name="Google Shape;161;p24"/>
          <p:cNvPicPr preferRelativeResize="0"/>
          <p:nvPr/>
        </p:nvPicPr>
        <p:blipFill>
          <a:blip r:embed="rId8">
            <a:alphaModFix/>
          </a:blip>
          <a:stretch>
            <a:fillRect/>
          </a:stretch>
        </p:blipFill>
        <p:spPr>
          <a:xfrm>
            <a:off x="6981417" y="1541638"/>
            <a:ext cx="1240566" cy="20602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レ</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re - like “le” in “let,”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re</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Re</a:t>
            </a:r>
            <a:r>
              <a:rPr b="0" lang="en" sz="2000">
                <a:solidFill>
                  <a:schemeClr val="dk2"/>
                </a:solidFill>
              </a:rPr>
              <a:t>feree whistle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981530" y="1541638"/>
            <a:ext cx="1240340" cy="2060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ロ</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ro - like “low,” with a quick tongue tap</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ro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Ro</a:t>
            </a:r>
            <a:r>
              <a:rPr b="0" lang="en" sz="2000">
                <a:solidFill>
                  <a:schemeClr val="dk2"/>
                </a:solidFill>
              </a:rPr>
              <a:t>ad sign</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9485"/>
            <a:ext cx="2377200" cy="2884529"/>
          </a:xfrm>
          <a:prstGeom prst="rect">
            <a:avLst/>
          </a:prstGeom>
          <a:noFill/>
          <a:ln>
            <a:noFill/>
          </a:ln>
        </p:spPr>
      </p:pic>
      <p:pic>
        <p:nvPicPr>
          <p:cNvPr id="161" name="Google Shape;161;p24"/>
          <p:cNvPicPr preferRelativeResize="0"/>
          <p:nvPr/>
        </p:nvPicPr>
        <p:blipFill>
          <a:blip r:embed="rId8">
            <a:alphaModFix/>
          </a:blip>
          <a:stretch>
            <a:fillRect/>
          </a:stretch>
        </p:blipFill>
        <p:spPr>
          <a:xfrm>
            <a:off x="6769686" y="1541638"/>
            <a:ext cx="1664028" cy="20602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ワ</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wa - as in “water”</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wa</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Wa</a:t>
            </a:r>
            <a:r>
              <a:rPr b="0" lang="en" sz="2000">
                <a:solidFill>
                  <a:schemeClr val="dk2"/>
                </a:solidFill>
              </a:rPr>
              <a:t>termelon slice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23818"/>
            <a:ext cx="2377200" cy="2895862"/>
          </a:xfrm>
          <a:prstGeom prst="rect">
            <a:avLst/>
          </a:prstGeom>
          <a:noFill/>
          <a:ln>
            <a:noFill/>
          </a:ln>
        </p:spPr>
      </p:pic>
      <p:pic>
        <p:nvPicPr>
          <p:cNvPr id="161" name="Google Shape;161;p24"/>
          <p:cNvPicPr preferRelativeResize="0"/>
          <p:nvPr/>
        </p:nvPicPr>
        <p:blipFill>
          <a:blip r:embed="rId8">
            <a:alphaModFix/>
          </a:blip>
          <a:stretch>
            <a:fillRect/>
          </a:stretch>
        </p:blipFill>
        <p:spPr>
          <a:xfrm>
            <a:off x="6781102" y="1541638"/>
            <a:ext cx="1641196" cy="2060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ヲ</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o - as in “go”; usually sounds the same as オ</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wo</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Oa</a:t>
            </a:r>
            <a:r>
              <a:rPr b="0" lang="en" sz="2000">
                <a:solidFill>
                  <a:schemeClr val="dk2"/>
                </a:solidFill>
              </a:rPr>
              <a:t>tmeal in a bowl</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38226"/>
            <a:ext cx="2377200" cy="2867047"/>
          </a:xfrm>
          <a:prstGeom prst="rect">
            <a:avLst/>
          </a:prstGeom>
          <a:noFill/>
          <a:ln>
            <a:noFill/>
          </a:ln>
        </p:spPr>
      </p:pic>
      <p:pic>
        <p:nvPicPr>
          <p:cNvPr id="161" name="Google Shape;161;p24"/>
          <p:cNvPicPr preferRelativeResize="0"/>
          <p:nvPr/>
        </p:nvPicPr>
        <p:blipFill>
          <a:blip r:embed="rId8">
            <a:alphaModFix/>
          </a:blip>
          <a:stretch>
            <a:fillRect/>
          </a:stretch>
        </p:blipFill>
        <p:spPr>
          <a:xfrm>
            <a:off x="6132275" y="1541638"/>
            <a:ext cx="2938850" cy="2060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 type="body"/>
          </p:nvPr>
        </p:nvSpPr>
        <p:spPr>
          <a:xfrm>
            <a:off x="97175" y="-19075"/>
            <a:ext cx="3332100" cy="14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800">
                <a:solidFill>
                  <a:schemeClr val="dk1"/>
                </a:solidFill>
              </a:rPr>
              <a:t>ン</a:t>
            </a:r>
            <a:br>
              <a:rPr lang="en" sz="3600" u="sng"/>
            </a:br>
            <a:r>
              <a:rPr lang="en" sz="2600" u="sng"/>
              <a:t>Pronunciation</a:t>
            </a:r>
            <a:endParaRPr sz="2600" u="sng"/>
          </a:p>
          <a:p>
            <a:pPr indent="0" lvl="0" marL="0" rtl="0" algn="ctr">
              <a:lnSpc>
                <a:spcPct val="100000"/>
              </a:lnSpc>
              <a:spcBef>
                <a:spcPts val="1200"/>
              </a:spcBef>
              <a:spcAft>
                <a:spcPts val="0"/>
              </a:spcAft>
              <a:buNone/>
            </a:pPr>
            <a:r>
              <a:rPr lang="en" sz="2600">
                <a:solidFill>
                  <a:schemeClr val="dk1"/>
                </a:solidFill>
              </a:rPr>
              <a:t>n - like the final “n” in “sun”; give it one beat</a:t>
            </a:r>
            <a:r>
              <a:rPr lang="en" sz="2600">
                <a:solidFill>
                  <a:schemeClr val="dk1"/>
                </a:solidFill>
              </a:rPr>
              <a:t/>
            </a:r>
            <a:endParaRPr sz="2600">
              <a:solidFill>
                <a:schemeClr val="dk1"/>
              </a:solidFill>
            </a:endParaRPr>
          </a:p>
          <a:p>
            <a:pPr indent="0" lvl="0" marL="0" rtl="0" algn="ctr">
              <a:lnSpc>
                <a:spcPct val="100000"/>
              </a:lnSpc>
              <a:spcBef>
                <a:spcPts val="0"/>
              </a:spcBef>
              <a:spcAft>
                <a:spcPts val="0"/>
              </a:spcAft>
              <a:buNone/>
            </a:pPr>
            <a:r>
              <a:rPr lang="en" sz="2600">
                <a:solidFill>
                  <a:schemeClr val="dk1"/>
                </a:solidFill>
              </a:rPr>
              <a:t>Romaji: n</a:t>
            </a:r>
            <a:endParaRPr sz="2600">
              <a:solidFill>
                <a:schemeClr val="dk1"/>
              </a:solidFill>
            </a:endParaRPr>
          </a:p>
        </p:txBody>
      </p:sp>
      <p:sp>
        <p:nvSpPr>
          <p:cNvPr id="157"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Mnemonic:</a:t>
            </a:r>
            <a:r>
              <a:rPr lang="en" sz="1200">
                <a:solidFill>
                  <a:schemeClr val="dk1"/>
                </a:solidFill>
              </a:rPr>
              <a:t> B. Domangue (LeafPiece), </a:t>
            </a:r>
            <a:r>
              <a:rPr i="1" lang="en" sz="1200" u="sng">
                <a:solidFill>
                  <a:schemeClr val="hlink"/>
                </a:solidFill>
                <a:hlinkClick r:id="rId3"/>
              </a:rPr>
              <a:t>Japanese Kana Mnemonic Chart</a:t>
            </a:r>
            <a:r>
              <a:rPr lang="en" sz="1200">
                <a:solidFill>
                  <a:schemeClr val="dk1"/>
                </a:solidFill>
              </a:rPr>
              <a:t> — </a:t>
            </a:r>
            <a:r>
              <a:rPr lang="en" sz="1200" u="sng">
                <a:solidFill>
                  <a:schemeClr val="hlink"/>
                </a:solidFill>
                <a:hlinkClick r:id="rId4"/>
              </a:rPr>
              <a:t>CC BY-SA 4.0</a:t>
            </a:r>
            <a:endParaRPr sz="1200">
              <a:solidFill>
                <a:schemeClr val="dk1"/>
              </a:solidFill>
            </a:endParaRPr>
          </a:p>
          <a:p>
            <a:pPr indent="0" lvl="0" marL="0" rtl="0" algn="ctr">
              <a:spcBef>
                <a:spcPts val="0"/>
              </a:spcBef>
              <a:spcAft>
                <a:spcPts val="0"/>
              </a:spcAft>
              <a:buNone/>
            </a:pPr>
            <a:r>
              <a:rPr b="1" lang="en" sz="1200">
                <a:solidFill>
                  <a:schemeClr val="dk1"/>
                </a:solidFill>
              </a:rPr>
              <a:t>Character:</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and cleaned from the original works </a:t>
            </a:r>
            <a:endParaRPr sz="1200"/>
          </a:p>
        </p:txBody>
      </p:sp>
      <p:sp>
        <p:nvSpPr>
          <p:cNvPr id="158" name="Google Shape;158;p24"/>
          <p:cNvSpPr txBox="1"/>
          <p:nvPr/>
        </p:nvSpPr>
        <p:spPr>
          <a:xfrm>
            <a:off x="3383388" y="492825"/>
            <a:ext cx="237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Stroke Order</a:t>
            </a:r>
            <a:endParaRPr b="1" sz="2600" u="sng">
              <a:solidFill>
                <a:schemeClr val="dk2"/>
              </a:solidFill>
            </a:endParaRPr>
          </a:p>
        </p:txBody>
      </p:sp>
      <p:sp>
        <p:nvSpPr>
          <p:cNvPr id="159" name="Google Shape;159;p24"/>
          <p:cNvSpPr txBox="1"/>
          <p:nvPr/>
        </p:nvSpPr>
        <p:spPr>
          <a:xfrm>
            <a:off x="6059400" y="492825"/>
            <a:ext cx="30846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u="sng">
                <a:solidFill>
                  <a:schemeClr val="dk2"/>
                </a:solidFill>
              </a:rPr>
              <a:t>Memory Reminder</a:t>
            </a:r>
            <a:br>
              <a:rPr lang="en" sz="2000">
                <a:solidFill>
                  <a:schemeClr val="dk2"/>
                </a:solidFill>
              </a:rPr>
            </a:br>
            <a:r>
              <a:rPr b="1" lang="en" sz="2000">
                <a:solidFill>
                  <a:schemeClr val="dk2"/>
                </a:solidFill>
              </a:rPr>
              <a:t>En</a:t>
            </a:r>
            <a:r>
              <a:rPr b="0" lang="en" sz="2000">
                <a:solidFill>
                  <a:schemeClr val="dk2"/>
                </a:solidFill>
              </a:rPr>
              <a:t>velope</a:t>
            </a:r>
            <a:endParaRPr sz="2000">
              <a:solidFill>
                <a:schemeClr val="dk2"/>
              </a:solidFill>
            </a:endParaRPr>
          </a:p>
        </p:txBody>
      </p:sp>
      <p:pic>
        <p:nvPicPr>
          <p:cNvPr id="160" name="Google Shape;160;p24"/>
          <p:cNvPicPr preferRelativeResize="0"/>
          <p:nvPr/>
        </p:nvPicPr>
        <p:blipFill>
          <a:blip r:embed="rId7">
            <a:alphaModFix/>
          </a:blip>
          <a:stretch>
            <a:fillRect/>
          </a:stretch>
        </p:blipFill>
        <p:spPr>
          <a:xfrm>
            <a:off x="3383400" y="1114989"/>
            <a:ext cx="2377200" cy="2913520"/>
          </a:xfrm>
          <a:prstGeom prst="rect">
            <a:avLst/>
          </a:prstGeom>
          <a:noFill/>
          <a:ln>
            <a:noFill/>
          </a:ln>
        </p:spPr>
      </p:pic>
      <p:pic>
        <p:nvPicPr>
          <p:cNvPr id="161" name="Google Shape;161;p24"/>
          <p:cNvPicPr preferRelativeResize="0"/>
          <p:nvPr/>
        </p:nvPicPr>
        <p:blipFill>
          <a:blip r:embed="rId8">
            <a:alphaModFix/>
          </a:blip>
          <a:stretch>
            <a:fillRect/>
          </a:stretch>
        </p:blipFill>
        <p:spPr>
          <a:xfrm>
            <a:off x="6223381" y="1541638"/>
            <a:ext cx="2756639" cy="2060225"/>
          </a:xfrm>
          <a:prstGeom prst="rect">
            <a:avLst/>
          </a:prstGeom>
          <a:noFill/>
          <a:ln>
            <a:noFill/>
          </a:ln>
        </p:spPr>
      </p:pic>
    </p:spTree>
  </p:cSld>
  <p:clrMapOvr>
    <a:masterClrMapping/>
  </p:clrMapOvr>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 titl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Dakuten and Handakuten</a:t>
            </a:r>
          </a:p>
        </p:txBody>
      </p:sp>
      <p:sp xmlns:a="http://schemas.openxmlformats.org/drawingml/2006/main" xmlns:r="http://schemas.openxmlformats.org/officeDocument/2006/relationships">
        <p:nvSpPr>
          <p:cNvPr id="2" name="Chart attribution"/>
          <p:cNvSpPr txBox="1"/>
          <p:nvPr/>
        </p:nvSpPr>
        <p:spPr>
          <a:xfrm>
            <a:off x="619125" y="4600575"/>
            <a:ext cx="7905750" cy="400050"/>
          </a:xfrm>
          <a:prstGeom prst="rect">
            <a:avLst/>
          </a:prstGeom>
          <a:noFill/>
          <a:ln>
            <a:noFill/>
          </a:ln>
        </p:spPr>
        <p:txBody>
          <a:bodyPr anchorCtr="0" anchor="t" bIns="91425" lIns="91425" spcFirstLastPara="1" rIns="91425" wrap="square" tIns="91425">
            <a:spAutoFit/>
          </a:bodyPr>
          <a:lstStyle/>
          <a:p>
            <a:pPr algn="ctr">
              <a:buNone/>
            </a:pPr>
            <a:r>
              <a:rPr sz="1200" lang="en" b="1">
                <a:solidFill>
                  <a:schemeClr val="dk1"/>
                </a:solidFill>
              </a:rPr>
              <a:t>Chart:</a:t>
            </a:r>
            <a:r>
              <a:rPr sz="1200" lang="en">
                <a:solidFill>
                  <a:schemeClr val="dk1"/>
                </a:solidFill>
              </a:rPr>
              <a:t> TealComet, </a:t>
            </a:r>
            <a:r>
              <a:rPr sz="1200" lang="en" i="1" u="sng">
                <a:solidFill>
                  <a:schemeClr val="hlink"/>
                </a:solidFill>
                <a:hlinkClick r:id="rIdChartSource"/>
              </a:rPr>
              <a:t>Katakana Chart Seion Dakuon Yoon</a:t>
            </a:r>
            <a:r>
              <a:rPr sz="1200" lang="en">
                <a:solidFill>
                  <a:schemeClr val="dk1"/>
                </a:solidFill>
              </a:rPr>
              <a:t> — </a:t>
            </a:r>
            <a:r>
              <a:rPr sz="1200" lang="en" u="sng">
                <a:solidFill>
                  <a:schemeClr val="hlink"/>
                </a:solidFill>
                <a:hlinkClick r:id="rIdChartLicense"/>
              </a:rPr>
              <a:t>CC0 1.0</a:t>
            </a:r>
          </a:p>
          <a:p>
            <a:pPr algn="ctr">
              <a:buNone/>
            </a:pPr>
            <a:r>
              <a:rPr sz="1200" lang="en">
                <a:solidFill>
                  <a:schemeClr val="dk1"/>
                </a:solidFill>
              </a:rPr>
              <a:t>Wikimedia Commons · Cropped/resized from the original work</a:t>
            </a:r>
          </a:p>
        </p:txBody>
      </p:sp>
      <p:sp>
        <p:nvSpPr>
          <p:cNvPr id="3" name="Dakuten label">
            <a:extLst xmlns:a="http://schemas.openxmlformats.org/drawingml/2006/main">
              <a:ext uri="{FF2B5EF4-FFF2-40B4-BE49-F238E27FC236}">
                <a16:creationId xmlns:a16="http://schemas.microsoft.com/office/drawing/2014/main" id="{4FB0C056-7FDE-4ADF-ACB5-B3C8C06F619E}"/>
              </a:ext>
            </a:extLst>
          </p:cNvPr>
          <p:cNvSpPr>
            <a:spLocks xmlns:a="http://schemas.openxmlformats.org/drawingml/2006/main" noGrp="1"/>
          </p:cNvSpPr>
          <p:nvPr/>
        </p:nvSpPr>
        <p:spPr>
          <a:xfrm xmlns:a="http://schemas.openxmlformats.org/drawingml/2006/main">
            <a:off x="457200" y="11049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95959"/>
                </a:solidFill>
                <a:latin typeface="Arial"/>
                <a:ea typeface="Arial"/>
                <a:cs typeface="Arial"/>
              </a:defRPr>
            </a:pPr>
            <a:r>
              <a:rPr sz="1875" b="1">
                <a:solidFill>
                  <a:srgbClr val="595959"/>
                </a:solidFill>
                <a:latin typeface="Arial"/>
                <a:ea typeface="Arial"/>
                <a:cs typeface="Arial"/>
              </a:rPr>
              <a:t>Dakuten: two small strokes</a:t>
            </a:r>
          </a:p>
        </p:txBody>
      </p:sp>
      <p:sp>
        <p:nvSpPr>
          <p:cNvPr id="4" name="Ka becomes ga">
            <a:extLst xmlns:a="http://schemas.openxmlformats.org/drawingml/2006/main">
              <a:ext uri="{FF2B5EF4-FFF2-40B4-BE49-F238E27FC236}">
                <a16:creationId xmlns:a16="http://schemas.microsoft.com/office/drawing/2014/main" id="{CADD33A5-DE5F-43C6-B5FA-AABA72F537EA}"/>
              </a:ext>
            </a:extLst>
          </p:cNvPr>
          <p:cNvSpPr>
            <a:spLocks xmlns:a="http://schemas.openxmlformats.org/drawingml/2006/main" noGrp="1"/>
          </p:cNvSpPr>
          <p:nvPr/>
        </p:nvSpPr>
        <p:spPr>
          <a:xfrm xmlns:a="http://schemas.openxmlformats.org/drawingml/2006/main">
            <a:off x="457200" y="14478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525" b="0">
                <a:solidFill>
                  <a:srgbClr val="000000"/>
                </a:solidFill>
                <a:latin typeface="Noto Sans CJK JP"/>
                <a:ea typeface="Noto Sans CJK JP"/>
                <a:cs typeface="Noto Sans CJK JP"/>
              </a:defRPr>
            </a:pPr>
            <a:r>
              <a:rPr sz="3525" b="0">
                <a:solidFill>
                  <a:srgbClr val="000000"/>
                </a:solidFill>
                <a:latin typeface="Noto Sans CJK JP"/>
                <a:ea typeface="Noto Sans CJK JP"/>
                <a:cs typeface="Noto Sans CJK JP"/>
              </a:rPr>
              <a:t>カ + ゛ = ガ</a:t>
            </a:r>
          </a:p>
        </p:txBody>
      </p:sp>
      <p:sp>
        <p:nvSpPr>
          <p:cNvPr id="5" name="Ka ga romaji">
            <a:extLst xmlns:a="http://schemas.openxmlformats.org/drawingml/2006/main">
              <a:ext uri="{FF2B5EF4-FFF2-40B4-BE49-F238E27FC236}">
                <a16:creationId xmlns:a16="http://schemas.microsoft.com/office/drawing/2014/main" id="{284026F4-5DC7-442D-B1CB-169A622E3829}"/>
              </a:ext>
            </a:extLst>
          </p:cNvPr>
          <p:cNvSpPr>
            <a:spLocks xmlns:a="http://schemas.openxmlformats.org/drawingml/2006/main" noGrp="1"/>
          </p:cNvSpPr>
          <p:nvPr/>
        </p:nvSpPr>
        <p:spPr>
          <a:xfrm xmlns:a="http://schemas.openxmlformats.org/drawingml/2006/main">
            <a:off x="457200" y="21336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Arial"/>
                <a:ea typeface="Arial"/>
                <a:cs typeface="Arial"/>
              </a:defRPr>
            </a:pPr>
            <a:r>
              <a:rPr sz="1725" b="0">
                <a:solidFill>
                  <a:srgbClr val="000000"/>
                </a:solidFill>
                <a:latin typeface="Arial"/>
                <a:ea typeface="Arial"/>
                <a:cs typeface="Arial"/>
              </a:rPr>
              <a:t>ka                        ga</a:t>
            </a:r>
          </a:p>
        </p:txBody>
      </p:sp>
      <p:sp>
        <p:nvSpPr>
          <p:cNvPr id="6" name="Voiced rows">
            <a:extLst xmlns:a="http://schemas.openxmlformats.org/drawingml/2006/main">
              <a:ext uri="{FF2B5EF4-FFF2-40B4-BE49-F238E27FC236}">
                <a16:creationId xmlns:a16="http://schemas.microsoft.com/office/drawing/2014/main" id="{C5526238-5B44-45A6-ADAB-223B29710A45}"/>
              </a:ext>
            </a:extLst>
          </p:cNvPr>
          <p:cNvSpPr>
            <a:spLocks xmlns:a="http://schemas.openxmlformats.org/drawingml/2006/main" noGrp="1"/>
          </p:cNvSpPr>
          <p:nvPr/>
        </p:nvSpPr>
        <p:spPr>
          <a:xfrm xmlns:a="http://schemas.openxmlformats.org/drawingml/2006/main">
            <a:off x="457200" y="2552700"/>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Noto Sans CJK JP"/>
                <a:ea typeface="Noto Sans CJK JP"/>
                <a:cs typeface="Noto Sans CJK JP"/>
              </a:defRPr>
            </a:pPr>
            <a:r>
              <a:rPr sz="1725" b="0">
                <a:solidFill>
                  <a:srgbClr val="000000"/>
                </a:solidFill>
                <a:latin typeface="Noto Sans CJK JP"/>
                <a:ea typeface="Noto Sans CJK JP"/>
                <a:cs typeface="Noto Sans CJK JP"/>
              </a:rPr>
              <a:t>k → g    s → z</a:t>
            </a:r>
          </a:p>
          <a:p xmlns:a="http://schemas.openxmlformats.org/drawingml/2006/main">
            <a:pPr algn="ctr">
              <a:defRPr sz="1725" b="0">
                <a:solidFill>
                  <a:srgbClr val="000000"/>
                </a:solidFill>
                <a:latin typeface="Noto Sans CJK JP"/>
                <a:ea typeface="Noto Sans CJK JP"/>
                <a:cs typeface="Noto Sans CJK JP"/>
              </a:defRPr>
            </a:pPr>
            <a:r>
              <a:rPr sz="1725" b="0">
                <a:solidFill>
                  <a:srgbClr val="000000"/>
                </a:solidFill>
                <a:latin typeface="Noto Sans CJK JP"/>
                <a:ea typeface="Noto Sans CJK JP"/>
                <a:cs typeface="Noto Sans CJK JP"/>
              </a:rPr>
              <a:t>t → d    h → b</a:t>
            </a:r>
          </a:p>
          <a:p xmlns:a="http://schemas.openxmlformats.org/drawingml/2006/main">
            <a:pPr algn="ctr">
              <a:defRPr sz="1725" b="0">
                <a:solidFill>
                  <a:srgbClr val="000000"/>
                </a:solidFill>
                <a:latin typeface="Noto Sans CJK JP"/>
                <a:ea typeface="Noto Sans CJK JP"/>
                <a:cs typeface="Noto Sans CJK JP"/>
              </a:defRPr>
            </a:pPr>
            <a:r>
              <a:rPr sz="1725" b="0">
                <a:solidFill>
                  <a:srgbClr val="000000"/>
                </a:solidFill>
                <a:latin typeface="Noto Sans CJK JP"/>
                <a:ea typeface="Noto Sans CJK JP"/>
                <a:cs typeface="Noto Sans CJK JP"/>
              </a:rPr>
              <a:t>ジ / ヂ = ji   ズ / ヅ = zu</a:t>
            </a:r>
          </a:p>
        </p:txBody>
      </p:sp>
      <p:sp>
        <p:nvSpPr>
          <p:cNvPr id="7" name="Handakuten label">
            <a:extLst xmlns:a="http://schemas.openxmlformats.org/drawingml/2006/main">
              <a:ext uri="{FF2B5EF4-FFF2-40B4-BE49-F238E27FC236}">
                <a16:creationId xmlns:a16="http://schemas.microsoft.com/office/drawing/2014/main" id="{FED3EBBF-453C-4FB2-8FF1-CD6EAE71C7AA}"/>
              </a:ext>
            </a:extLst>
          </p:cNvPr>
          <p:cNvSpPr>
            <a:spLocks xmlns:a="http://schemas.openxmlformats.org/drawingml/2006/main" noGrp="1"/>
          </p:cNvSpPr>
          <p:nvPr/>
        </p:nvSpPr>
        <p:spPr>
          <a:xfrm xmlns:a="http://schemas.openxmlformats.org/drawingml/2006/main">
            <a:off x="457200" y="34194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95959"/>
                </a:solidFill>
                <a:latin typeface="Arial"/>
                <a:ea typeface="Arial"/>
                <a:cs typeface="Arial"/>
              </a:defRPr>
            </a:pPr>
            <a:r>
              <a:rPr sz="1875" b="1">
                <a:solidFill>
                  <a:srgbClr val="595959"/>
                </a:solidFill>
                <a:latin typeface="Arial"/>
                <a:ea typeface="Arial"/>
                <a:cs typeface="Arial"/>
              </a:rPr>
              <a:t>Handakuten: a small circle</a:t>
            </a:r>
          </a:p>
        </p:txBody>
      </p:sp>
      <p:sp>
        <p:nvSpPr>
          <p:cNvPr id="8" name="Ha becomes pa">
            <a:extLst xmlns:a="http://schemas.openxmlformats.org/drawingml/2006/main">
              <a:ext uri="{FF2B5EF4-FFF2-40B4-BE49-F238E27FC236}">
                <a16:creationId xmlns:a16="http://schemas.microsoft.com/office/drawing/2014/main" id="{B0C905E5-89AF-4292-BEC9-22CB2D760673}"/>
              </a:ext>
            </a:extLst>
          </p:cNvPr>
          <p:cNvSpPr>
            <a:spLocks xmlns:a="http://schemas.openxmlformats.org/drawingml/2006/main" noGrp="1"/>
          </p:cNvSpPr>
          <p:nvPr/>
        </p:nvSpPr>
        <p:spPr>
          <a:xfrm xmlns:a="http://schemas.openxmlformats.org/drawingml/2006/main">
            <a:off x="457200" y="376237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0">
                <a:solidFill>
                  <a:srgbClr val="000000"/>
                </a:solidFill>
                <a:latin typeface="Noto Sans CJK JP"/>
                <a:ea typeface="Noto Sans CJK JP"/>
                <a:cs typeface="Noto Sans CJK JP"/>
              </a:defRPr>
            </a:pPr>
            <a:r>
              <a:rPr sz="3300" b="0">
                <a:solidFill>
                  <a:srgbClr val="000000"/>
                </a:solidFill>
                <a:latin typeface="Noto Sans CJK JP"/>
                <a:ea typeface="Noto Sans CJK JP"/>
                <a:cs typeface="Noto Sans CJK JP"/>
              </a:rPr>
              <a:t>ハ + ゜ = パ</a:t>
            </a:r>
          </a:p>
        </p:txBody>
      </p:sp>
      <p:sp>
        <p:nvSpPr>
          <p:cNvPr id="9" name="Handakuten romaji">
            <a:extLst xmlns:a="http://schemas.openxmlformats.org/drawingml/2006/main">
              <a:ext uri="{FF2B5EF4-FFF2-40B4-BE49-F238E27FC236}">
                <a16:creationId xmlns:a16="http://schemas.microsoft.com/office/drawing/2014/main" id="{F61ACC0B-2794-49EE-A232-B054B5A5B762}"/>
              </a:ext>
            </a:extLst>
          </p:cNvPr>
          <p:cNvSpPr>
            <a:spLocks xmlns:a="http://schemas.openxmlformats.org/drawingml/2006/main" noGrp="1"/>
          </p:cNvSpPr>
          <p:nvPr/>
        </p:nvSpPr>
        <p:spPr>
          <a:xfrm xmlns:a="http://schemas.openxmlformats.org/drawingml/2006/main">
            <a:off x="457200" y="435292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000000"/>
                </a:solidFill>
                <a:latin typeface="Arial"/>
                <a:ea typeface="Arial"/>
                <a:cs typeface="Arial"/>
              </a:defRPr>
            </a:pPr>
            <a:r>
              <a:rPr sz="1500" b="0">
                <a:solidFill>
                  <a:srgbClr val="000000"/>
                </a:solidFill>
                <a:latin typeface="Arial"/>
                <a:ea typeface="Arial"/>
                <a:cs typeface="Arial"/>
              </a:rPr>
              <a:t>ha                        pa  (h row only)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0f805aaf7584402"/>
          <a:stretch xmlns:a="http://schemas.openxmlformats.org/drawingml/2006/main"/>
        </p:blipFill>
        <p:spPr>
          <a:xfrm xmlns:a="http://schemas.openxmlformats.org/drawingml/2006/main">
            <a:off x="5350777" y="1095375"/>
            <a:ext cx="2776321" cy="3352800"/>
          </a:xfrm>
          <a:prstGeom xmlns:a="http://schemas.openxmlformats.org/drawingml/2006/main" prst="rect">
            <a:avLst/>
          </a:prstGeom>
        </p:spPr>
      </p:pic>
    </p:spTree>
    <p:extLst>
      <p:ext uri="{BB962C8B-B14F-4D97-AF65-F5344CB8AC3E}">
        <p14:creationId xmlns:p14="http://schemas.microsoft.com/office/powerpoint/2010/main" val="193532192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 title">
            <a:extLst xmlns:a="http://schemas.openxmlformats.org/drawingml/2006/main">
              <a:ext uri="{FF2B5EF4-FFF2-40B4-BE49-F238E27FC236}">
                <a16:creationId xmlns:a16="http://schemas.microsoft.com/office/drawing/2014/main" id="{AF41426C-7F83-4828-82DC-1A7732260651}"/>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Small ャ・ュ・ョ: Combined Sounds</a:t>
            </a:r>
          </a:p>
        </p:txBody>
      </p:sp>
      <p:sp xmlns:a="http://schemas.openxmlformats.org/drawingml/2006/main" xmlns:r="http://schemas.openxmlformats.org/officeDocument/2006/relationships">
        <p:nvSpPr>
          <p:cNvPr id="2" name="Chart attribution"/>
          <p:cNvSpPr txBox="1"/>
          <p:nvPr/>
        </p:nvSpPr>
        <p:spPr>
          <a:xfrm>
            <a:off x="619125" y="4600575"/>
            <a:ext cx="7905750" cy="400050"/>
          </a:xfrm>
          <a:prstGeom prst="rect">
            <a:avLst/>
          </a:prstGeom>
          <a:noFill/>
          <a:ln>
            <a:noFill/>
          </a:ln>
        </p:spPr>
        <p:txBody>
          <a:bodyPr anchorCtr="0" anchor="t" bIns="91425" lIns="91425" spcFirstLastPara="1" rIns="91425" wrap="square" tIns="91425">
            <a:spAutoFit/>
          </a:bodyPr>
          <a:lstStyle/>
          <a:p>
            <a:pPr algn="ctr">
              <a:buNone/>
            </a:pPr>
            <a:r>
              <a:rPr sz="1200" lang="en" b="1">
                <a:solidFill>
                  <a:schemeClr val="dk1"/>
                </a:solidFill>
              </a:rPr>
              <a:t>Chart:</a:t>
            </a:r>
            <a:r>
              <a:rPr sz="1200" lang="en">
                <a:solidFill>
                  <a:schemeClr val="dk1"/>
                </a:solidFill>
              </a:rPr>
              <a:t> TealComet, </a:t>
            </a:r>
            <a:r>
              <a:rPr sz="1200" lang="en" i="1" u="sng">
                <a:solidFill>
                  <a:schemeClr val="hlink"/>
                </a:solidFill>
                <a:hlinkClick r:id="rIdChartSource"/>
              </a:rPr>
              <a:t>Katakana Chart Seion Dakuon Yoon</a:t>
            </a:r>
            <a:r>
              <a:rPr sz="1200" lang="en">
                <a:solidFill>
                  <a:schemeClr val="dk1"/>
                </a:solidFill>
              </a:rPr>
              <a:t> — </a:t>
            </a:r>
            <a:r>
              <a:rPr sz="1200" lang="en" u="sng">
                <a:solidFill>
                  <a:schemeClr val="hlink"/>
                </a:solidFill>
                <a:hlinkClick r:id="rIdChartLicense"/>
              </a:rPr>
              <a:t>CC0 1.0</a:t>
            </a:r>
          </a:p>
          <a:p>
            <a:pPr algn="ctr">
              <a:buNone/>
            </a:pPr>
            <a:r>
              <a:rPr sz="1200" lang="en">
                <a:solidFill>
                  <a:schemeClr val="dk1"/>
                </a:solidFill>
              </a:rPr>
              <a:t>Wikimedia Commons · Cropped/resized from the original work</a:t>
            </a:r>
          </a:p>
        </p:txBody>
      </p:sp>
      <p:sp>
        <p:nvSpPr>
          <p:cNvPr id="3" name="Yoon rule">
            <a:extLst xmlns:a="http://schemas.openxmlformats.org/drawingml/2006/main">
              <a:ext uri="{FF2B5EF4-FFF2-40B4-BE49-F238E27FC236}">
                <a16:creationId xmlns:a16="http://schemas.microsoft.com/office/drawing/2014/main" id="{3DD3B6D4-E379-4FEA-B14D-B7BC1417AD6C}"/>
              </a:ext>
            </a:extLst>
          </p:cNvPr>
          <p:cNvSpPr>
            <a:spLocks xmlns:a="http://schemas.openxmlformats.org/drawingml/2006/main" noGrp="1"/>
          </p:cNvSpPr>
          <p:nvPr/>
        </p:nvSpPr>
        <p:spPr>
          <a:xfrm xmlns:a="http://schemas.openxmlformats.org/drawingml/2006/main">
            <a:off x="476250" y="1133475"/>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Noto Sans CJK JP"/>
                <a:ea typeface="Noto Sans CJK JP"/>
                <a:cs typeface="Noto Sans CJK JP"/>
              </a:defRPr>
            </a:pPr>
            <a:r>
              <a:rPr sz="1875" b="0">
                <a:solidFill>
                  <a:srgbClr val="000000"/>
                </a:solidFill>
                <a:latin typeface="Noto Sans CJK JP"/>
                <a:ea typeface="Noto Sans CJK JP"/>
                <a:cs typeface="Noto Sans CJK JP"/>
              </a:rPr>
              <a:t>Add a small ャ, ュ, or ョ to an i-row kana.</a:t>
            </a:r>
          </a:p>
        </p:txBody>
      </p:sp>
      <p:sp>
        <p:nvSpPr>
          <p:cNvPr id="4" name="Kya combination">
            <a:extLst xmlns:a="http://schemas.openxmlformats.org/drawingml/2006/main">
              <a:ext uri="{FF2B5EF4-FFF2-40B4-BE49-F238E27FC236}">
                <a16:creationId xmlns:a16="http://schemas.microsoft.com/office/drawing/2014/main" id="{461D8DF5-A844-4E7C-9B17-9AB021B891FA}"/>
              </a:ext>
            </a:extLst>
          </p:cNvPr>
          <p:cNvSpPr>
            <a:spLocks xmlns:a="http://schemas.openxmlformats.org/drawingml/2006/main" noGrp="1"/>
          </p:cNvSpPr>
          <p:nvPr/>
        </p:nvSpPr>
        <p:spPr>
          <a:xfrm xmlns:a="http://schemas.openxmlformats.org/drawingml/2006/main">
            <a:off x="457200" y="1638300"/>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00" b="0">
                <a:solidFill>
                  <a:srgbClr val="000000"/>
                </a:solidFill>
                <a:latin typeface="Noto Sans CJK JP"/>
                <a:ea typeface="Noto Sans CJK JP"/>
                <a:cs typeface="Noto Sans CJK JP"/>
              </a:defRPr>
            </a:pPr>
            <a:r>
              <a:rPr sz="3600" b="0">
                <a:solidFill>
                  <a:srgbClr val="000000"/>
                </a:solidFill>
                <a:latin typeface="Noto Sans CJK JP"/>
                <a:ea typeface="Noto Sans CJK JP"/>
                <a:cs typeface="Noto Sans CJK JP"/>
              </a:rPr>
              <a:t>キ + ャ = キャ</a:t>
            </a:r>
          </a:p>
        </p:txBody>
      </p:sp>
      <p:sp>
        <p:nvSpPr>
          <p:cNvPr id="5" name="Yoon romaji">
            <a:extLst xmlns:a="http://schemas.openxmlformats.org/drawingml/2006/main">
              <a:ext uri="{FF2B5EF4-FFF2-40B4-BE49-F238E27FC236}">
                <a16:creationId xmlns:a16="http://schemas.microsoft.com/office/drawing/2014/main" id="{72024AEF-B1A8-48FD-BAB5-B5FA7DE3CB9D}"/>
              </a:ext>
            </a:extLst>
          </p:cNvPr>
          <p:cNvSpPr>
            <a:spLocks xmlns:a="http://schemas.openxmlformats.org/drawingml/2006/main" noGrp="1"/>
          </p:cNvSpPr>
          <p:nvPr/>
        </p:nvSpPr>
        <p:spPr>
          <a:xfrm xmlns:a="http://schemas.openxmlformats.org/drawingml/2006/main">
            <a:off x="457200" y="2333625"/>
            <a:ext cx="828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000000"/>
                </a:solidFill>
                <a:latin typeface="Arial"/>
                <a:ea typeface="Arial"/>
                <a:cs typeface="Arial"/>
              </a:defRPr>
            </a:pPr>
            <a:r>
              <a:rPr sz="1725" b="0">
                <a:solidFill>
                  <a:srgbClr val="000000"/>
                </a:solidFill>
                <a:latin typeface="Arial"/>
                <a:ea typeface="Arial"/>
                <a:cs typeface="Arial"/>
              </a:rPr>
              <a:t>ki        small ya        kya (one beat)</a:t>
            </a:r>
          </a:p>
        </p:txBody>
      </p:sp>
      <p:sp>
        <p:nvSpPr>
          <p:cNvPr id="6" name="Full-sized comparison">
            <a:extLst xmlns:a="http://schemas.openxmlformats.org/drawingml/2006/main">
              <a:ext uri="{FF2B5EF4-FFF2-40B4-BE49-F238E27FC236}">
                <a16:creationId xmlns:a16="http://schemas.microsoft.com/office/drawing/2014/main" id="{9C3945D9-4F27-493F-94B9-1D25697553F8}"/>
              </a:ext>
            </a:extLst>
          </p:cNvPr>
          <p:cNvSpPr>
            <a:spLocks xmlns:a="http://schemas.openxmlformats.org/drawingml/2006/main" noGrp="1"/>
          </p:cNvSpPr>
          <p:nvPr/>
        </p:nvSpPr>
        <p:spPr>
          <a:xfrm xmlns:a="http://schemas.openxmlformats.org/drawingml/2006/main">
            <a:off x="476250" y="30480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0">
                <a:solidFill>
                  <a:srgbClr val="000000"/>
                </a:solidFill>
                <a:latin typeface="Noto Sans CJK JP"/>
                <a:ea typeface="Noto Sans CJK JP"/>
                <a:cs typeface="Noto Sans CJK JP"/>
              </a:defRPr>
            </a:pPr>
            <a:r>
              <a:rPr sz="3300" b="0">
                <a:solidFill>
                  <a:srgbClr val="000000"/>
                </a:solidFill>
                <a:latin typeface="Noto Sans CJK JP"/>
                <a:ea typeface="Noto Sans CJK JP"/>
                <a:cs typeface="Noto Sans CJK JP"/>
              </a:rPr>
              <a:t>キヤ</a:t>
            </a:r>
          </a:p>
        </p:txBody>
      </p:sp>
      <p:sp>
        <p:nvSpPr>
          <p:cNvPr id="7" name="Two beats">
            <a:extLst xmlns:a="http://schemas.openxmlformats.org/drawingml/2006/main">
              <a:ext uri="{FF2B5EF4-FFF2-40B4-BE49-F238E27FC236}">
                <a16:creationId xmlns:a16="http://schemas.microsoft.com/office/drawing/2014/main" id="{C98E101B-8E1C-42FB-9999-0CE5683D2A61}"/>
              </a:ext>
            </a:extLst>
          </p:cNvPr>
          <p:cNvSpPr>
            <a:spLocks xmlns:a="http://schemas.openxmlformats.org/drawingml/2006/main" noGrp="1"/>
          </p:cNvSpPr>
          <p:nvPr/>
        </p:nvSpPr>
        <p:spPr>
          <a:xfrm xmlns:a="http://schemas.openxmlformats.org/drawingml/2006/main">
            <a:off x="476250" y="3676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ki-ya</a:t>
            </a:r>
          </a:p>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Two beats</a:t>
            </a:r>
          </a:p>
        </p:txBody>
      </p:sp>
      <p:sp>
        <p:nvSpPr>
          <p:cNvPr id="8" name="Small-sized comparison">
            <a:extLst xmlns:a="http://schemas.openxmlformats.org/drawingml/2006/main">
              <a:ext uri="{FF2B5EF4-FFF2-40B4-BE49-F238E27FC236}">
                <a16:creationId xmlns:a16="http://schemas.microsoft.com/office/drawing/2014/main" id="{383F1CEF-730E-4225-ACAD-FA7BF543EFF3}"/>
              </a:ext>
            </a:extLst>
          </p:cNvPr>
          <p:cNvSpPr>
            <a:spLocks xmlns:a="http://schemas.openxmlformats.org/drawingml/2006/main" noGrp="1"/>
          </p:cNvSpPr>
          <p:nvPr/>
        </p:nvSpPr>
        <p:spPr>
          <a:xfrm xmlns:a="http://schemas.openxmlformats.org/drawingml/2006/main">
            <a:off x="2619375" y="30480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0">
                <a:solidFill>
                  <a:srgbClr val="000000"/>
                </a:solidFill>
                <a:latin typeface="Noto Sans CJK JP"/>
                <a:ea typeface="Noto Sans CJK JP"/>
                <a:cs typeface="Noto Sans CJK JP"/>
              </a:defRPr>
            </a:pPr>
            <a:r>
              <a:rPr sz="3300" b="0">
                <a:solidFill>
                  <a:srgbClr val="000000"/>
                </a:solidFill>
                <a:latin typeface="Noto Sans CJK JP"/>
                <a:ea typeface="Noto Sans CJK JP"/>
                <a:cs typeface="Noto Sans CJK JP"/>
              </a:rPr>
              <a:t>キャ</a:t>
            </a:r>
          </a:p>
        </p:txBody>
      </p:sp>
      <p:sp>
        <p:nvSpPr>
          <p:cNvPr id="9" name="One beat">
            <a:extLst xmlns:a="http://schemas.openxmlformats.org/drawingml/2006/main">
              <a:ext uri="{FF2B5EF4-FFF2-40B4-BE49-F238E27FC236}">
                <a16:creationId xmlns:a16="http://schemas.microsoft.com/office/drawing/2014/main" id="{C12733AA-0A81-44EA-9A4C-D0960473C77F}"/>
              </a:ext>
            </a:extLst>
          </p:cNvPr>
          <p:cNvSpPr>
            <a:spLocks xmlns:a="http://schemas.openxmlformats.org/drawingml/2006/main" noGrp="1"/>
          </p:cNvSpPr>
          <p:nvPr/>
        </p:nvSpPr>
        <p:spPr>
          <a:xfrm xmlns:a="http://schemas.openxmlformats.org/drawingml/2006/main">
            <a:off x="2619375" y="3676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kya</a:t>
            </a:r>
          </a:p>
          <a:p xmlns:a="http://schemas.openxmlformats.org/drawingml/2006/main">
            <a:pPr algn="ctr">
              <a:defRPr sz="1800" b="0">
                <a:solidFill>
                  <a:srgbClr val="000000"/>
                </a:solidFill>
                <a:latin typeface="Arial"/>
                <a:ea typeface="Arial"/>
                <a:cs typeface="Arial"/>
              </a:defRPr>
            </a:pPr>
            <a:r>
              <a:rPr sz="1800" b="0">
                <a:solidFill>
                  <a:srgbClr val="000000"/>
                </a:solidFill>
                <a:latin typeface="Arial"/>
                <a:ea typeface="Arial"/>
                <a:cs typeface="Arial"/>
              </a:rPr>
              <a:t>One beat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9bb9fe3a1cb43a9"/>
          <a:stretch xmlns:a="http://schemas.openxmlformats.org/drawingml/2006/main"/>
        </p:blipFill>
        <p:spPr>
          <a:xfrm xmlns:a="http://schemas.openxmlformats.org/drawingml/2006/main">
            <a:off x="5190627" y="2857500"/>
            <a:ext cx="3096621" cy="1666875"/>
          </a:xfrm>
          <a:prstGeom xmlns:a="http://schemas.openxmlformats.org/drawingml/2006/main" prst="rect">
            <a:avLst/>
          </a:prstGeom>
        </p:spPr>
      </p:pic>
    </p:spTree>
    <p:extLst>
      <p:ext uri="{BB962C8B-B14F-4D97-AF65-F5344CB8AC3E}">
        <p14:creationId xmlns:p14="http://schemas.microsoft.com/office/powerpoint/2010/main" val="107785496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 title">
            <a:extLst xmlns:a="http://schemas.openxmlformats.org/drawingml/2006/main">
              <a:ext uri="{FF2B5EF4-FFF2-40B4-BE49-F238E27FC236}">
                <a16:creationId xmlns:a16="http://schemas.microsoft.com/office/drawing/2014/main" id="{6D2C7960-A511-4A6F-B91A-255255881A60}"/>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Small Vowels: More Loanword Sounds</a:t>
            </a:r>
          </a:p>
        </p:txBody>
      </p:sp>
      <p:sp>
        <p:nvSpPr>
          <p:cNvPr id="2" name="Small vowels intro">
            <a:extLst xmlns:a="http://schemas.openxmlformats.org/drawingml/2006/main">
              <a:ext uri="{FF2B5EF4-FFF2-40B4-BE49-F238E27FC236}">
                <a16:creationId xmlns:a16="http://schemas.microsoft.com/office/drawing/2014/main" id="{BCFE3135-4C4C-4DDF-AD95-71C5EB227329}"/>
              </a:ext>
            </a:extLst>
          </p:cNvPr>
          <p:cNvSpPr>
            <a:spLocks xmlns:a="http://schemas.openxmlformats.org/drawingml/2006/main" noGrp="1"/>
          </p:cNvSpPr>
          <p:nvPr/>
        </p:nvSpPr>
        <p:spPr>
          <a:xfrm xmlns:a="http://schemas.openxmlformats.org/drawingml/2006/main">
            <a:off x="428625" y="1114425"/>
            <a:ext cx="828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Noto Sans CJK JP"/>
                <a:ea typeface="Noto Sans CJK JP"/>
                <a:cs typeface="Noto Sans CJK JP"/>
              </a:defRPr>
            </a:pPr>
            <a:r>
              <a:rPr sz="1875" b="0">
                <a:solidFill>
                  <a:srgbClr val="000000"/>
                </a:solidFill>
                <a:latin typeface="Noto Sans CJK JP"/>
                <a:ea typeface="Noto Sans CJK JP"/>
                <a:cs typeface="Noto Sans CJK JP"/>
              </a:rPr>
              <a:t>Small ァ・ィ・ゥ・ェ・ォ create extra sound combinations.</a:t>
            </a:r>
          </a:p>
        </p:txBody>
      </p:sp>
      <p:sp>
        <p:nvSpPr>
          <p:cNvPr id="3" name="Ti combination">
            <a:extLst xmlns:a="http://schemas.openxmlformats.org/drawingml/2006/main">
              <a:ext uri="{FF2B5EF4-FFF2-40B4-BE49-F238E27FC236}">
                <a16:creationId xmlns:a16="http://schemas.microsoft.com/office/drawing/2014/main" id="{3E48EB60-E5DB-473A-8DF3-8FC5729D06F8}"/>
              </a:ext>
            </a:extLst>
          </p:cNvPr>
          <p:cNvSpPr>
            <a:spLocks xmlns:a="http://schemas.openxmlformats.org/drawingml/2006/main" noGrp="1"/>
          </p:cNvSpPr>
          <p:nvPr/>
        </p:nvSpPr>
        <p:spPr>
          <a:xfrm xmlns:a="http://schemas.openxmlformats.org/drawingml/2006/main">
            <a:off x="457200" y="16573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0">
                <a:solidFill>
                  <a:srgbClr val="000000"/>
                </a:solidFill>
                <a:latin typeface="Noto Sans CJK JP"/>
                <a:ea typeface="Noto Sans CJK JP"/>
                <a:cs typeface="Noto Sans CJK JP"/>
              </a:defRPr>
            </a:pPr>
            <a:r>
              <a:rPr sz="3150" b="0">
                <a:solidFill>
                  <a:srgbClr val="000000"/>
                </a:solidFill>
                <a:latin typeface="Noto Sans CJK JP"/>
                <a:ea typeface="Noto Sans CJK JP"/>
                <a:cs typeface="Noto Sans CJK JP"/>
              </a:rPr>
              <a:t>テ + ィ = ティ</a:t>
            </a:r>
          </a:p>
        </p:txBody>
      </p:sp>
      <p:sp>
        <p:nvSpPr>
          <p:cNvPr id="4" name="Ti romaji">
            <a:extLst xmlns:a="http://schemas.openxmlformats.org/drawingml/2006/main">
              <a:ext uri="{FF2B5EF4-FFF2-40B4-BE49-F238E27FC236}">
                <a16:creationId xmlns:a16="http://schemas.microsoft.com/office/drawing/2014/main" id="{B908BEB9-69C2-4744-BB31-55EB7DD1FC7E}"/>
              </a:ext>
            </a:extLst>
          </p:cNvPr>
          <p:cNvSpPr>
            <a:spLocks xmlns:a="http://schemas.openxmlformats.org/drawingml/2006/main" noGrp="1"/>
          </p:cNvSpPr>
          <p:nvPr/>
        </p:nvSpPr>
        <p:spPr>
          <a:xfrm xmlns:a="http://schemas.openxmlformats.org/drawingml/2006/main">
            <a:off x="457200" y="2266950"/>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000000"/>
                </a:solidFill>
                <a:latin typeface="Arial"/>
                <a:ea typeface="Arial"/>
                <a:cs typeface="Arial"/>
              </a:defRPr>
            </a:pPr>
            <a:r>
              <a:rPr sz="1650" b="0">
                <a:solidFill>
                  <a:srgbClr val="000000"/>
                </a:solidFill>
                <a:latin typeface="Arial"/>
                <a:ea typeface="Arial"/>
                <a:cs typeface="Arial"/>
              </a:rPr>
              <a:t>te        small i       ti</a:t>
            </a:r>
          </a:p>
        </p:txBody>
      </p:sp>
      <p:sp>
        <p:nvSpPr>
          <p:cNvPr id="5" name="Fa combination">
            <a:extLst xmlns:a="http://schemas.openxmlformats.org/drawingml/2006/main">
              <a:ext uri="{FF2B5EF4-FFF2-40B4-BE49-F238E27FC236}">
                <a16:creationId xmlns:a16="http://schemas.microsoft.com/office/drawing/2014/main" id="{48F25703-9057-4BD4-B4E0-7631A10673B5}"/>
              </a:ext>
            </a:extLst>
          </p:cNvPr>
          <p:cNvSpPr>
            <a:spLocks xmlns:a="http://schemas.openxmlformats.org/drawingml/2006/main" noGrp="1"/>
          </p:cNvSpPr>
          <p:nvPr/>
        </p:nvSpPr>
        <p:spPr>
          <a:xfrm xmlns:a="http://schemas.openxmlformats.org/drawingml/2006/main">
            <a:off x="4857750" y="16573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0">
                <a:solidFill>
                  <a:srgbClr val="000000"/>
                </a:solidFill>
                <a:latin typeface="Noto Sans CJK JP"/>
                <a:ea typeface="Noto Sans CJK JP"/>
                <a:cs typeface="Noto Sans CJK JP"/>
              </a:defRPr>
            </a:pPr>
            <a:r>
              <a:rPr sz="3150" b="0">
                <a:solidFill>
                  <a:srgbClr val="000000"/>
                </a:solidFill>
                <a:latin typeface="Noto Sans CJK JP"/>
                <a:ea typeface="Noto Sans CJK JP"/>
                <a:cs typeface="Noto Sans CJK JP"/>
              </a:rPr>
              <a:t>フ + ァ = ファ</a:t>
            </a:r>
          </a:p>
        </p:txBody>
      </p:sp>
      <p:sp>
        <p:nvSpPr>
          <p:cNvPr id="6" name="Fa romaji">
            <a:extLst xmlns:a="http://schemas.openxmlformats.org/drawingml/2006/main">
              <a:ext uri="{FF2B5EF4-FFF2-40B4-BE49-F238E27FC236}">
                <a16:creationId xmlns:a16="http://schemas.microsoft.com/office/drawing/2014/main" id="{26F98229-E53B-484B-82EB-54ECFE782A87}"/>
              </a:ext>
            </a:extLst>
          </p:cNvPr>
          <p:cNvSpPr>
            <a:spLocks xmlns:a="http://schemas.openxmlformats.org/drawingml/2006/main" noGrp="1"/>
          </p:cNvSpPr>
          <p:nvPr/>
        </p:nvSpPr>
        <p:spPr>
          <a:xfrm xmlns:a="http://schemas.openxmlformats.org/drawingml/2006/main">
            <a:off x="4857750" y="2266950"/>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000000"/>
                </a:solidFill>
                <a:latin typeface="Arial"/>
                <a:ea typeface="Arial"/>
                <a:cs typeface="Arial"/>
              </a:defRPr>
            </a:pPr>
            <a:r>
              <a:rPr sz="1650" b="0">
                <a:solidFill>
                  <a:srgbClr val="000000"/>
                </a:solidFill>
                <a:latin typeface="Arial"/>
                <a:ea typeface="Arial"/>
                <a:cs typeface="Arial"/>
              </a:rPr>
              <a:t>fu        small a       fa</a:t>
            </a:r>
          </a:p>
        </p:txBody>
      </p:sp>
      <p:sp>
        <p:nvSpPr>
          <p:cNvPr id="7" name="Common combinations 1">
            <a:extLst xmlns:a="http://schemas.openxmlformats.org/drawingml/2006/main">
              <a:ext uri="{FF2B5EF4-FFF2-40B4-BE49-F238E27FC236}">
                <a16:creationId xmlns:a16="http://schemas.microsoft.com/office/drawing/2014/main" id="{17CAF021-50AB-4694-85BC-7DA8CDA66AED}"/>
              </a:ext>
            </a:extLst>
          </p:cNvPr>
          <p:cNvSpPr>
            <a:spLocks xmlns:a="http://schemas.openxmlformats.org/drawingml/2006/main" noGrp="1"/>
          </p:cNvSpPr>
          <p:nvPr/>
        </p:nvSpPr>
        <p:spPr>
          <a:xfrm xmlns:a="http://schemas.openxmlformats.org/drawingml/2006/main">
            <a:off x="476250" y="2914650"/>
            <a:ext cx="819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000000"/>
                </a:solidFill>
                <a:latin typeface="Noto Sans CJK JP"/>
                <a:ea typeface="Noto Sans CJK JP"/>
                <a:cs typeface="Noto Sans CJK JP"/>
              </a:defRPr>
            </a:pPr>
            <a:r>
              <a:rPr sz="2325" b="0">
                <a:solidFill>
                  <a:srgbClr val="000000"/>
                </a:solidFill>
                <a:latin typeface="Noto Sans CJK JP"/>
                <a:ea typeface="Noto Sans CJK JP"/>
                <a:cs typeface="Noto Sans CJK JP"/>
              </a:rPr>
              <a:t>ティ ti     ディ di     トゥ tu</a:t>
            </a:r>
          </a:p>
        </p:txBody>
      </p:sp>
      <p:sp>
        <p:nvSpPr>
          <p:cNvPr id="8" name="Common combinations 2">
            <a:extLst xmlns:a="http://schemas.openxmlformats.org/drawingml/2006/main">
              <a:ext uri="{FF2B5EF4-FFF2-40B4-BE49-F238E27FC236}">
                <a16:creationId xmlns:a16="http://schemas.microsoft.com/office/drawing/2014/main" id="{15A7EE7E-8B4F-4D82-9C91-F84B63E68827}"/>
              </a:ext>
            </a:extLst>
          </p:cNvPr>
          <p:cNvSpPr>
            <a:spLocks xmlns:a="http://schemas.openxmlformats.org/drawingml/2006/main" noGrp="1"/>
          </p:cNvSpPr>
          <p:nvPr/>
        </p:nvSpPr>
        <p:spPr>
          <a:xfrm xmlns:a="http://schemas.openxmlformats.org/drawingml/2006/main">
            <a:off x="428625" y="3409950"/>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0">
                <a:solidFill>
                  <a:srgbClr val="000000"/>
                </a:solidFill>
                <a:latin typeface="Noto Sans CJK JP"/>
                <a:ea typeface="Noto Sans CJK JP"/>
                <a:cs typeface="Noto Sans CJK JP"/>
              </a:defRPr>
            </a:pPr>
            <a:r>
              <a:rPr sz="2250" b="0">
                <a:solidFill>
                  <a:srgbClr val="000000"/>
                </a:solidFill>
                <a:latin typeface="Noto Sans CJK JP"/>
                <a:ea typeface="Noto Sans CJK JP"/>
                <a:cs typeface="Noto Sans CJK JP"/>
              </a:rPr>
              <a:t>ファ fa    フィ fi    フェ fe    フォ fo</a:t>
            </a:r>
          </a:p>
        </p:txBody>
      </p:sp>
      <p:sp>
        <p:nvSpPr>
          <p:cNvPr id="9" name="Common combinations 3">
            <a:extLst xmlns:a="http://schemas.openxmlformats.org/drawingml/2006/main">
              <a:ext uri="{FF2B5EF4-FFF2-40B4-BE49-F238E27FC236}">
                <a16:creationId xmlns:a16="http://schemas.microsoft.com/office/drawing/2014/main" id="{31B30AC5-FAAA-45FB-9852-86C83480EC56}"/>
              </a:ext>
            </a:extLst>
          </p:cNvPr>
          <p:cNvSpPr>
            <a:spLocks xmlns:a="http://schemas.openxmlformats.org/drawingml/2006/main" noGrp="1"/>
          </p:cNvSpPr>
          <p:nvPr/>
        </p:nvSpPr>
        <p:spPr>
          <a:xfrm xmlns:a="http://schemas.openxmlformats.org/drawingml/2006/main">
            <a:off x="523875" y="39052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000000"/>
                </a:solidFill>
                <a:latin typeface="Noto Sans CJK JP"/>
                <a:ea typeface="Noto Sans CJK JP"/>
                <a:cs typeface="Noto Sans CJK JP"/>
              </a:defRPr>
            </a:pPr>
            <a:r>
              <a:rPr sz="2325" b="0">
                <a:solidFill>
                  <a:srgbClr val="000000"/>
                </a:solidFill>
                <a:latin typeface="Noto Sans CJK JP"/>
                <a:ea typeface="Noto Sans CJK JP"/>
                <a:cs typeface="Noto Sans CJK JP"/>
              </a:rPr>
              <a:t>ウィ wi    ウェ we    ウォ wo</a:t>
            </a:r>
          </a:p>
        </p:txBody>
      </p:sp>
      <p:sp>
        <p:nvSpPr>
          <p:cNvPr id="10" name="Small vowel tip">
            <a:extLst xmlns:a="http://schemas.openxmlformats.org/drawingml/2006/main">
              <a:ext uri="{FF2B5EF4-FFF2-40B4-BE49-F238E27FC236}">
                <a16:creationId xmlns:a16="http://schemas.microsoft.com/office/drawing/2014/main" id="{4B4174BE-F7CF-491D-A5B1-B640A944A01D}"/>
              </a:ext>
            </a:extLst>
          </p:cNvPr>
          <p:cNvSpPr>
            <a:spLocks xmlns:a="http://schemas.openxmlformats.org/drawingml/2006/main" noGrp="1"/>
          </p:cNvSpPr>
          <p:nvPr/>
        </p:nvSpPr>
        <p:spPr>
          <a:xfrm xmlns:a="http://schemas.openxmlformats.org/drawingml/2006/main">
            <a:off x="428625" y="4552950"/>
            <a:ext cx="828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000000"/>
                </a:solidFill>
                <a:latin typeface="Arial"/>
                <a:ea typeface="Arial"/>
                <a:cs typeface="Arial"/>
              </a:defRPr>
            </a:pPr>
            <a:r>
              <a:rPr sz="1650" b="0">
                <a:solidFill>
                  <a:srgbClr val="000000"/>
                </a:solidFill>
                <a:latin typeface="Arial"/>
                <a:ea typeface="Arial"/>
                <a:cs typeface="Arial"/>
              </a:rPr>
              <a:t>The small vowel combines with the preceding kana into one beat.</a:t>
            </a:r>
          </a:p>
        </p:txBody>
      </p:sp>
    </p:spTree>
    <p:extLst>
      <p:ext uri="{BB962C8B-B14F-4D97-AF65-F5344CB8AC3E}">
        <p14:creationId xmlns:p14="http://schemas.microsoft.com/office/powerpoint/2010/main" val="125139710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cept title">
            <a:extLst xmlns:a="http://schemas.openxmlformats.org/drawingml/2006/main">
              <a:ext uri="{FF2B5EF4-FFF2-40B4-BE49-F238E27FC236}">
                <a16:creationId xmlns:a16="http://schemas.microsoft.com/office/drawing/2014/main" id="{51371FA6-E93A-4B3E-A9BF-07D7F763EC71}"/>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ヴ and V-Sound Combinations</a:t>
            </a:r>
          </a:p>
        </p:txBody>
      </p:sp>
      <p:sp>
        <p:nvSpPr>
          <p:cNvPr id="2" name="Vu construction">
            <a:extLst xmlns:a="http://schemas.openxmlformats.org/drawingml/2006/main">
              <a:ext uri="{FF2B5EF4-FFF2-40B4-BE49-F238E27FC236}">
                <a16:creationId xmlns:a16="http://schemas.microsoft.com/office/drawing/2014/main" id="{DD68DBED-8A72-4BC6-8E0F-C33B32D4BB28}"/>
              </a:ext>
            </a:extLst>
          </p:cNvPr>
          <p:cNvSpPr>
            <a:spLocks xmlns:a="http://schemas.openxmlformats.org/drawingml/2006/main" noGrp="1"/>
          </p:cNvSpPr>
          <p:nvPr/>
        </p:nvSpPr>
        <p:spPr>
          <a:xfrm xmlns:a="http://schemas.openxmlformats.org/drawingml/2006/main">
            <a:off x="762000" y="115252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750" b="0">
                <a:solidFill>
                  <a:srgbClr val="000000"/>
                </a:solidFill>
                <a:latin typeface="Noto Sans CJK JP"/>
                <a:ea typeface="Noto Sans CJK JP"/>
                <a:cs typeface="Noto Sans CJK JP"/>
              </a:defRPr>
            </a:pPr>
            <a:r>
              <a:rPr sz="3750" b="0">
                <a:solidFill>
                  <a:srgbClr val="000000"/>
                </a:solidFill>
                <a:latin typeface="Noto Sans CJK JP"/>
                <a:ea typeface="Noto Sans CJK JP"/>
                <a:cs typeface="Noto Sans CJK JP"/>
              </a:rPr>
              <a:t>ウ + ゛ = ヴ</a:t>
            </a:r>
          </a:p>
        </p:txBody>
      </p:sp>
      <p:sp>
        <p:nvSpPr>
          <p:cNvPr id="3" name="Vu explanation">
            <a:extLst xmlns:a="http://schemas.openxmlformats.org/drawingml/2006/main">
              <a:ext uri="{FF2B5EF4-FFF2-40B4-BE49-F238E27FC236}">
                <a16:creationId xmlns:a16="http://schemas.microsoft.com/office/drawing/2014/main" id="{9B55AAD7-5C0E-4ECF-8C8F-A33A9E2D5927}"/>
              </a:ext>
            </a:extLst>
          </p:cNvPr>
          <p:cNvSpPr>
            <a:spLocks xmlns:a="http://schemas.openxmlformats.org/drawingml/2006/main" noGrp="1"/>
          </p:cNvSpPr>
          <p:nvPr/>
        </p:nvSpPr>
        <p:spPr>
          <a:xfrm xmlns:a="http://schemas.openxmlformats.org/drawingml/2006/main">
            <a:off x="428625" y="2009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Noto Sans CJK JP"/>
                <a:ea typeface="Noto Sans CJK JP"/>
                <a:cs typeface="Noto Sans CJK JP"/>
              </a:defRPr>
            </a:pPr>
            <a:r>
              <a:rPr sz="1875" b="0">
                <a:solidFill>
                  <a:srgbClr val="000000"/>
                </a:solidFill>
                <a:latin typeface="Noto Sans CJK JP"/>
                <a:ea typeface="Noto Sans CJK JP"/>
                <a:cs typeface="Noto Sans CJK JP"/>
              </a:rPr>
              <a:t>Dakuten on ウ creates ヴ, used for some foreign v sounds.</a:t>
            </a:r>
          </a:p>
        </p:txBody>
      </p:sp>
      <p:sp>
        <p:nvSpPr>
          <p:cNvPr id="4" name="Va construction">
            <a:extLst xmlns:a="http://schemas.openxmlformats.org/drawingml/2006/main">
              <a:ext uri="{FF2B5EF4-FFF2-40B4-BE49-F238E27FC236}">
                <a16:creationId xmlns:a16="http://schemas.microsoft.com/office/drawing/2014/main" id="{42D8A715-A175-4429-BAD0-A599818A3CA4}"/>
              </a:ext>
            </a:extLst>
          </p:cNvPr>
          <p:cNvSpPr>
            <a:spLocks xmlns:a="http://schemas.openxmlformats.org/drawingml/2006/main" noGrp="1"/>
          </p:cNvSpPr>
          <p:nvPr/>
        </p:nvSpPr>
        <p:spPr>
          <a:xfrm xmlns:a="http://schemas.openxmlformats.org/drawingml/2006/main">
            <a:off x="595312" y="26574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0">
                <a:solidFill>
                  <a:srgbClr val="000000"/>
                </a:solidFill>
                <a:latin typeface="Noto Sans CJK JP"/>
                <a:ea typeface="Noto Sans CJK JP"/>
                <a:cs typeface="Noto Sans CJK JP"/>
              </a:defRPr>
            </a:pPr>
            <a:r>
              <a:rPr sz="3375" b="0">
                <a:solidFill>
                  <a:srgbClr val="000000"/>
                </a:solidFill>
                <a:latin typeface="Noto Sans CJK JP"/>
                <a:ea typeface="Noto Sans CJK JP"/>
                <a:cs typeface="Noto Sans CJK JP"/>
              </a:rPr>
              <a:t>ヴ + ァ = ヴァ</a:t>
            </a:r>
          </a:p>
        </p:txBody>
      </p:sp>
      <p:sp>
        <p:nvSpPr>
          <p:cNvPr id="5" name="V sound family">
            <a:extLst xmlns:a="http://schemas.openxmlformats.org/drawingml/2006/main">
              <a:ext uri="{FF2B5EF4-FFF2-40B4-BE49-F238E27FC236}">
                <a16:creationId xmlns:a16="http://schemas.microsoft.com/office/drawing/2014/main" id="{4E40CFFF-F6C3-4C72-9002-CD2E04BC204B}"/>
              </a:ext>
            </a:extLst>
          </p:cNvPr>
          <p:cNvSpPr>
            <a:spLocks xmlns:a="http://schemas.openxmlformats.org/drawingml/2006/main" noGrp="1"/>
          </p:cNvSpPr>
          <p:nvPr/>
        </p:nvSpPr>
        <p:spPr>
          <a:xfrm xmlns:a="http://schemas.openxmlformats.org/drawingml/2006/main">
            <a:off x="428625" y="33813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0">
                <a:solidFill>
                  <a:srgbClr val="000000"/>
                </a:solidFill>
                <a:latin typeface="Noto Sans CJK JP"/>
                <a:ea typeface="Noto Sans CJK JP"/>
                <a:cs typeface="Noto Sans CJK JP"/>
              </a:defRPr>
            </a:pPr>
            <a:r>
              <a:rPr sz="2100" b="0">
                <a:solidFill>
                  <a:srgbClr val="000000"/>
                </a:solidFill>
                <a:latin typeface="Noto Sans CJK JP"/>
                <a:ea typeface="Noto Sans CJK JP"/>
                <a:cs typeface="Noto Sans CJK JP"/>
              </a:rPr>
              <a:t>ヴァ va    ヴィ vi    ヴ vu    ヴェ ve    ヴォ vo</a:t>
            </a:r>
          </a:p>
        </p:txBody>
      </p:sp>
      <p:sp>
        <p:nvSpPr>
          <p:cNvPr id="6" name="Violin example">
            <a:extLst xmlns:a="http://schemas.openxmlformats.org/drawingml/2006/main">
              <a:ext uri="{FF2B5EF4-FFF2-40B4-BE49-F238E27FC236}">
                <a16:creationId xmlns:a16="http://schemas.microsoft.com/office/drawing/2014/main" id="{BFFEEE12-755A-46AA-8F4E-08EAB9FB558F}"/>
              </a:ext>
            </a:extLst>
          </p:cNvPr>
          <p:cNvSpPr>
            <a:spLocks xmlns:a="http://schemas.openxmlformats.org/drawingml/2006/main" noGrp="1"/>
          </p:cNvSpPr>
          <p:nvPr/>
        </p:nvSpPr>
        <p:spPr>
          <a:xfrm xmlns:a="http://schemas.openxmlformats.org/drawingml/2006/main">
            <a:off x="428625" y="3990975"/>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0">
                <a:solidFill>
                  <a:srgbClr val="000000"/>
                </a:solidFill>
                <a:latin typeface="Noto Sans CJK JP"/>
                <a:ea typeface="Noto Sans CJK JP"/>
                <a:cs typeface="Noto Sans CJK JP"/>
              </a:defRPr>
            </a:pPr>
            <a:r>
              <a:rPr sz="2400" b="0">
                <a:solidFill>
                  <a:srgbClr val="000000"/>
                </a:solidFill>
                <a:latin typeface="Noto Sans CJK JP"/>
                <a:ea typeface="Noto Sans CJK JP"/>
                <a:cs typeface="Noto Sans CJK JP"/>
              </a:rPr>
              <a:t>ヴァイオリン / バイオリン</a:t>
            </a:r>
          </a:p>
        </p:txBody>
      </p:sp>
      <p:sp>
        <p:nvSpPr>
          <p:cNvPr id="7" name="Violin translation">
            <a:extLst xmlns:a="http://schemas.openxmlformats.org/drawingml/2006/main">
              <a:ext uri="{FF2B5EF4-FFF2-40B4-BE49-F238E27FC236}">
                <a16:creationId xmlns:a16="http://schemas.microsoft.com/office/drawing/2014/main" id="{D94D75C4-EA39-4C48-B397-0F576929E231}"/>
              </a:ext>
            </a:extLst>
          </p:cNvPr>
          <p:cNvSpPr>
            <a:spLocks xmlns:a="http://schemas.openxmlformats.org/drawingml/2006/main" noGrp="1"/>
          </p:cNvSpPr>
          <p:nvPr/>
        </p:nvSpPr>
        <p:spPr>
          <a:xfrm xmlns:a="http://schemas.openxmlformats.org/drawingml/2006/main">
            <a:off x="428625" y="4562475"/>
            <a:ext cx="828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000000"/>
                </a:solidFill>
                <a:latin typeface="Arial"/>
                <a:ea typeface="Arial"/>
                <a:cs typeface="Arial"/>
              </a:defRPr>
            </a:pPr>
            <a:r>
              <a:rPr sz="1650" b="0">
                <a:solidFill>
                  <a:srgbClr val="000000"/>
                </a:solidFill>
                <a:latin typeface="Arial"/>
                <a:ea typeface="Arial"/>
                <a:cs typeface="Arial"/>
              </a:rPr>
              <a:t>Both spellings mean “violin.”</a:t>
            </a:r>
          </a:p>
        </p:txBody>
      </p:sp>
    </p:spTree>
    <p:extLst>
      <p:ext uri="{BB962C8B-B14F-4D97-AF65-F5344CB8AC3E}">
        <p14:creationId xmlns:p14="http://schemas.microsoft.com/office/powerpoint/2010/main" val="173543266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 title">
            <a:extLst xmlns:a="http://schemas.openxmlformats.org/drawingml/2006/main">
              <a:ext uri="{FF2B5EF4-FFF2-40B4-BE49-F238E27FC236}">
                <a16:creationId xmlns:a16="http://schemas.microsoft.com/office/drawing/2014/main" id="{FE11602C-3350-4CCA-824F-D2EA705D3465}"/>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Long Vowels: The ー Mark</a:t>
            </a:r>
          </a:p>
        </p:txBody>
      </p:sp>
      <p:sp>
        <p:nvSpPr>
          <p:cNvPr id="2" name="Long vowel rule">
            <a:extLst xmlns:a="http://schemas.openxmlformats.org/drawingml/2006/main">
              <a:ext uri="{FF2B5EF4-FFF2-40B4-BE49-F238E27FC236}">
                <a16:creationId xmlns:a16="http://schemas.microsoft.com/office/drawing/2014/main" id="{CC2B597C-D04D-40D3-9EBC-8109B4E7C830}"/>
              </a:ext>
            </a:extLst>
          </p:cNvPr>
          <p:cNvSpPr>
            <a:spLocks xmlns:a="http://schemas.openxmlformats.org/drawingml/2006/main" noGrp="1"/>
          </p:cNvSpPr>
          <p:nvPr/>
        </p:nvSpPr>
        <p:spPr>
          <a:xfrm xmlns:a="http://schemas.openxmlformats.org/drawingml/2006/main">
            <a:off x="428625" y="11144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0">
                <a:solidFill>
                  <a:srgbClr val="000000"/>
                </a:solidFill>
                <a:latin typeface="Noto Sans CJK JP"/>
                <a:ea typeface="Noto Sans CJK JP"/>
                <a:cs typeface="Noto Sans CJK JP"/>
              </a:defRPr>
            </a:pPr>
            <a:r>
              <a:rPr sz="2025" b="0">
                <a:solidFill>
                  <a:srgbClr val="000000"/>
                </a:solidFill>
                <a:latin typeface="Noto Sans CJK JP"/>
                <a:ea typeface="Noto Sans CJK JP"/>
                <a:cs typeface="Noto Sans CJK JP"/>
              </a:rPr>
              <a:t>ー holds the preceding vowel for one extra beat.</a:t>
            </a:r>
          </a:p>
        </p:txBody>
      </p:sp>
      <p:sp>
        <p:nvSpPr>
          <p:cNvPr id="5" name="Long vowel cake">
            <a:extLst xmlns:a="http://schemas.openxmlformats.org/drawingml/2006/main">
              <a:ext uri="{FF2B5EF4-FFF2-40B4-BE49-F238E27FC236}">
                <a16:creationId xmlns:a16="http://schemas.microsoft.com/office/drawing/2014/main" id="{1837649C-9376-408F-A9CD-09FB388B8306}"/>
              </a:ext>
            </a:extLst>
          </p:cNvPr>
          <p:cNvSpPr>
            <a:spLocks xmlns:a="http://schemas.openxmlformats.org/drawingml/2006/main" noGrp="1"/>
          </p:cNvSpPr>
          <p:nvPr/>
        </p:nvSpPr>
        <p:spPr>
          <a:xfrm xmlns:a="http://schemas.openxmlformats.org/drawingml/2006/main">
            <a:off x="457200" y="31242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0">
                <a:solidFill>
                  <a:srgbClr val="000000"/>
                </a:solidFill>
                <a:latin typeface="Noto Sans CJK JP"/>
                <a:ea typeface="Noto Sans CJK JP"/>
                <a:cs typeface="Noto Sans CJK JP"/>
              </a:defRPr>
            </a:pPr>
            <a:r>
              <a:rPr sz="3150" b="0">
                <a:solidFill>
                  <a:srgbClr val="000000"/>
                </a:solidFill>
                <a:latin typeface="Noto Sans CJK JP"/>
                <a:ea typeface="Noto Sans CJK JP"/>
                <a:cs typeface="Noto Sans CJK JP"/>
              </a:rPr>
              <a:t>ケーキ</a:t>
            </a:r>
          </a:p>
        </p:txBody>
      </p:sp>
      <p:sp>
        <p:nvSpPr>
          <p:cNvPr id="6" name="Long vowel cheese">
            <a:extLst xmlns:a="http://schemas.openxmlformats.org/drawingml/2006/main">
              <a:ext uri="{FF2B5EF4-FFF2-40B4-BE49-F238E27FC236}">
                <a16:creationId xmlns:a16="http://schemas.microsoft.com/office/drawing/2014/main" id="{BEB6FFFE-C4F1-4A65-AC62-BB9BFC37DE65}"/>
              </a:ext>
            </a:extLst>
          </p:cNvPr>
          <p:cNvSpPr>
            <a:spLocks xmlns:a="http://schemas.openxmlformats.org/drawingml/2006/main" noGrp="1"/>
          </p:cNvSpPr>
          <p:nvPr/>
        </p:nvSpPr>
        <p:spPr>
          <a:xfrm xmlns:a="http://schemas.openxmlformats.org/drawingml/2006/main">
            <a:off x="3314700" y="31242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0">
                <a:solidFill>
                  <a:srgbClr val="000000"/>
                </a:solidFill>
                <a:latin typeface="Noto Sans CJK JP"/>
                <a:ea typeface="Noto Sans CJK JP"/>
                <a:cs typeface="Noto Sans CJK JP"/>
              </a:defRPr>
            </a:pPr>
            <a:r>
              <a:rPr sz="3150" b="0">
                <a:solidFill>
                  <a:srgbClr val="000000"/>
                </a:solidFill>
                <a:latin typeface="Noto Sans CJK JP"/>
                <a:ea typeface="Noto Sans CJK JP"/>
                <a:cs typeface="Noto Sans CJK JP"/>
              </a:rPr>
              <a:t>チーズ</a:t>
            </a:r>
          </a:p>
        </p:txBody>
      </p:sp>
      <p:sp>
        <p:nvSpPr>
          <p:cNvPr id="7" name="Long vowel coffee">
            <a:extLst xmlns:a="http://schemas.openxmlformats.org/drawingml/2006/main">
              <a:ext uri="{FF2B5EF4-FFF2-40B4-BE49-F238E27FC236}">
                <a16:creationId xmlns:a16="http://schemas.microsoft.com/office/drawing/2014/main" id="{3FF82206-8036-4181-BE69-5E56FBDF6A3E}"/>
              </a:ext>
            </a:extLst>
          </p:cNvPr>
          <p:cNvSpPr>
            <a:spLocks xmlns:a="http://schemas.openxmlformats.org/drawingml/2006/main" noGrp="1"/>
          </p:cNvSpPr>
          <p:nvPr/>
        </p:nvSpPr>
        <p:spPr>
          <a:xfrm xmlns:a="http://schemas.openxmlformats.org/drawingml/2006/main">
            <a:off x="6172200" y="31242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0">
                <a:solidFill>
                  <a:srgbClr val="000000"/>
                </a:solidFill>
                <a:latin typeface="Noto Sans CJK JP"/>
                <a:ea typeface="Noto Sans CJK JP"/>
                <a:cs typeface="Noto Sans CJK JP"/>
              </a:defRPr>
            </a:pPr>
            <a:r>
              <a:rPr sz="3150" b="0">
                <a:solidFill>
                  <a:srgbClr val="000000"/>
                </a:solidFill>
                <a:latin typeface="Noto Sans CJK JP"/>
                <a:ea typeface="Noto Sans CJK JP"/>
                <a:cs typeface="Noto Sans CJK JP"/>
              </a:rPr>
              <a:t>コーヒー</a:t>
            </a:r>
          </a:p>
        </p:txBody>
      </p:sp>
      <p:sp>
        <p:nvSpPr>
          <p:cNvPr id="8" name="Cake translation">
            <a:extLst xmlns:a="http://schemas.openxmlformats.org/drawingml/2006/main">
              <a:ext uri="{FF2B5EF4-FFF2-40B4-BE49-F238E27FC236}">
                <a16:creationId xmlns:a16="http://schemas.microsoft.com/office/drawing/2014/main" id="{0B24437F-1D75-49B6-A2EC-D409516A5C15}"/>
              </a:ext>
            </a:extLst>
          </p:cNvPr>
          <p:cNvSpPr>
            <a:spLocks xmlns:a="http://schemas.openxmlformats.org/drawingml/2006/main" noGrp="1"/>
          </p:cNvSpPr>
          <p:nvPr/>
        </p:nvSpPr>
        <p:spPr>
          <a:xfrm xmlns:a="http://schemas.openxmlformats.org/drawingml/2006/main">
            <a:off x="457200" y="38290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keeki</a:t>
            </a:r>
          </a:p>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cake</a:t>
            </a:r>
          </a:p>
        </p:txBody>
      </p:sp>
      <p:sp>
        <p:nvSpPr>
          <p:cNvPr id="9" name="Cheese translation">
            <a:extLst xmlns:a="http://schemas.openxmlformats.org/drawingml/2006/main">
              <a:ext uri="{FF2B5EF4-FFF2-40B4-BE49-F238E27FC236}">
                <a16:creationId xmlns:a16="http://schemas.microsoft.com/office/drawing/2014/main" id="{AD194C87-270E-4083-B485-55707D87D7A3}"/>
              </a:ext>
            </a:extLst>
          </p:cNvPr>
          <p:cNvSpPr>
            <a:spLocks xmlns:a="http://schemas.openxmlformats.org/drawingml/2006/main" noGrp="1"/>
          </p:cNvSpPr>
          <p:nvPr/>
        </p:nvSpPr>
        <p:spPr>
          <a:xfrm xmlns:a="http://schemas.openxmlformats.org/drawingml/2006/main">
            <a:off x="3314700" y="38290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chiizu</a:t>
            </a:r>
          </a:p>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cheese</a:t>
            </a:r>
          </a:p>
        </p:txBody>
      </p:sp>
      <p:sp>
        <p:nvSpPr>
          <p:cNvPr id="10" name="Coffee translation">
            <a:extLst xmlns:a="http://schemas.openxmlformats.org/drawingml/2006/main">
              <a:ext uri="{FF2B5EF4-FFF2-40B4-BE49-F238E27FC236}">
                <a16:creationId xmlns:a16="http://schemas.microsoft.com/office/drawing/2014/main" id="{A2202135-0454-4542-88C7-BFB97DA8C62C}"/>
              </a:ext>
            </a:extLst>
          </p:cNvPr>
          <p:cNvSpPr>
            <a:spLocks xmlns:a="http://schemas.openxmlformats.org/drawingml/2006/main" noGrp="1"/>
          </p:cNvSpPr>
          <p:nvPr/>
        </p:nvSpPr>
        <p:spPr>
          <a:xfrm xmlns:a="http://schemas.openxmlformats.org/drawingml/2006/main">
            <a:off x="6172200" y="38290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koohii</a:t>
            </a:r>
          </a:p>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coffee</a:t>
            </a:r>
          </a:p>
        </p:txBody>
      </p:sp>
      <p:sp>
        <p:nvSpPr>
          <p:cNvPr id="12" name="Cake timing ケ">
            <a:extLst xmlns:a="http://schemas.openxmlformats.org/drawingml/2006/main">
              <a:ext uri="{FF2B5EF4-FFF2-40B4-BE49-F238E27FC236}">
                <a16:creationId xmlns:a16="http://schemas.microsoft.com/office/drawing/2014/main" id="{6F98C0AB-EA1C-48AD-81D7-985B4F30C990}"/>
              </a:ext>
            </a:extLst>
          </p:cNvPr>
          <p:cNvSpPr>
            <a:spLocks xmlns:a="http://schemas.openxmlformats.org/drawingml/2006/main" noGrp="1"/>
          </p:cNvSpPr>
          <p:nvPr/>
        </p:nvSpPr>
        <p:spPr>
          <a:xfrm xmlns:a="http://schemas.openxmlformats.org/drawingml/2006/main">
            <a:off x="2014537" y="1704975"/>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975" b="0">
                <a:solidFill>
                  <a:srgbClr val="000000"/>
                </a:solidFill>
                <a:latin typeface="Noto Sans CJK JP"/>
                <a:ea typeface="Noto Sans CJK JP"/>
                <a:cs typeface="Noto Sans CJK JP"/>
              </a:defRPr>
            </a:pPr>
            <a:r>
              <a:rPr sz="3975" b="0">
                <a:solidFill>
                  <a:srgbClr val="000000"/>
                </a:solidFill>
                <a:latin typeface="Noto Sans CJK JP"/>
                <a:ea typeface="Noto Sans CJK JP"/>
                <a:cs typeface="Noto Sans CJK JP"/>
              </a:rPr>
              <a:t>ケ</a:t>
            </a:r>
          </a:p>
        </p:txBody>
      </p:sp>
      <p:sp>
        <p:nvSpPr>
          <p:cNvPr id="13" name="Cake timing ー">
            <a:extLst xmlns:a="http://schemas.openxmlformats.org/drawingml/2006/main">
              <a:ext uri="{FF2B5EF4-FFF2-40B4-BE49-F238E27FC236}">
                <a16:creationId xmlns:a16="http://schemas.microsoft.com/office/drawing/2014/main" id="{6F98C0AB-EA1C-48AD-81D7-985B4F30C990}"/>
              </a:ext>
            </a:extLst>
          </p:cNvPr>
          <p:cNvSpPr>
            <a:spLocks xmlns:a="http://schemas.openxmlformats.org/drawingml/2006/main" noGrp="1"/>
          </p:cNvSpPr>
          <p:nvPr/>
        </p:nvSpPr>
        <p:spPr>
          <a:xfrm xmlns:a="http://schemas.openxmlformats.org/drawingml/2006/main">
            <a:off x="3062287" y="1704975"/>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975" b="0">
                <a:solidFill>
                  <a:srgbClr val="000000"/>
                </a:solidFill>
                <a:latin typeface="Noto Sans CJK JP"/>
                <a:ea typeface="Noto Sans CJK JP"/>
                <a:cs typeface="Noto Sans CJK JP"/>
              </a:defRPr>
            </a:pPr>
            <a:r>
              <a:rPr sz="3975" b="0">
                <a:solidFill>
                  <a:srgbClr val="000000"/>
                </a:solidFill>
                <a:latin typeface="Noto Sans CJK JP"/>
                <a:ea typeface="Noto Sans CJK JP"/>
                <a:cs typeface="Noto Sans CJK JP"/>
              </a:rPr>
              <a:t>ー</a:t>
            </a:r>
          </a:p>
        </p:txBody>
      </p:sp>
      <p:sp>
        <p:nvSpPr>
          <p:cNvPr id="14" name="Cake timing キ">
            <a:extLst xmlns:a="http://schemas.openxmlformats.org/drawingml/2006/main">
              <a:ext uri="{FF2B5EF4-FFF2-40B4-BE49-F238E27FC236}">
                <a16:creationId xmlns:a16="http://schemas.microsoft.com/office/drawing/2014/main" id="{6F98C0AB-EA1C-48AD-81D7-985B4F30C990}"/>
              </a:ext>
            </a:extLst>
          </p:cNvPr>
          <p:cNvSpPr>
            <a:spLocks xmlns:a="http://schemas.openxmlformats.org/drawingml/2006/main" noGrp="1"/>
          </p:cNvSpPr>
          <p:nvPr/>
        </p:nvSpPr>
        <p:spPr>
          <a:xfrm xmlns:a="http://schemas.openxmlformats.org/drawingml/2006/main">
            <a:off x="4110037" y="1704975"/>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975" b="0">
                <a:solidFill>
                  <a:srgbClr val="000000"/>
                </a:solidFill>
                <a:latin typeface="Noto Sans CJK JP"/>
                <a:ea typeface="Noto Sans CJK JP"/>
                <a:cs typeface="Noto Sans CJK JP"/>
              </a:defRPr>
            </a:pPr>
            <a:r>
              <a:rPr sz="3975" b="0">
                <a:solidFill>
                  <a:srgbClr val="000000"/>
                </a:solidFill>
                <a:latin typeface="Noto Sans CJK JP"/>
                <a:ea typeface="Noto Sans CJK JP"/>
                <a:cs typeface="Noto Sans CJK JP"/>
              </a:rPr>
              <a:t>キ</a:t>
            </a:r>
          </a:p>
        </p:txBody>
      </p:sp>
      <p:sp>
        <p:nvSpPr>
          <p:cNvPr id="15" name="Cake beats ke">
            <a:extLst xmlns:a="http://schemas.openxmlformats.org/drawingml/2006/main">
              <a:ext uri="{FF2B5EF4-FFF2-40B4-BE49-F238E27FC236}">
                <a16:creationId xmlns:a16="http://schemas.microsoft.com/office/drawing/2014/main" id="{FD17D897-B40E-4AC6-B42A-01982E948421}"/>
              </a:ext>
            </a:extLst>
          </p:cNvPr>
          <p:cNvSpPr>
            <a:spLocks xmlns:a="http://schemas.openxmlformats.org/drawingml/2006/main" noGrp="1"/>
          </p:cNvSpPr>
          <p:nvPr/>
        </p:nvSpPr>
        <p:spPr>
          <a:xfrm xmlns:a="http://schemas.openxmlformats.org/drawingml/2006/main">
            <a:off x="2014537" y="244792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ke</a:t>
            </a:r>
          </a:p>
        </p:txBody>
      </p:sp>
      <p:sp>
        <p:nvSpPr>
          <p:cNvPr id="16" name="Cake beats e">
            <a:extLst xmlns:a="http://schemas.openxmlformats.org/drawingml/2006/main">
              <a:ext uri="{FF2B5EF4-FFF2-40B4-BE49-F238E27FC236}">
                <a16:creationId xmlns:a16="http://schemas.microsoft.com/office/drawing/2014/main" id="{FD17D897-B40E-4AC6-B42A-01982E948421}"/>
              </a:ext>
            </a:extLst>
          </p:cNvPr>
          <p:cNvSpPr>
            <a:spLocks xmlns:a="http://schemas.openxmlformats.org/drawingml/2006/main" noGrp="1"/>
          </p:cNvSpPr>
          <p:nvPr/>
        </p:nvSpPr>
        <p:spPr>
          <a:xfrm xmlns:a="http://schemas.openxmlformats.org/drawingml/2006/main">
            <a:off x="3062287" y="244792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e</a:t>
            </a:r>
          </a:p>
        </p:txBody>
      </p:sp>
      <p:sp>
        <p:nvSpPr>
          <p:cNvPr id="17" name="Cake beats ki">
            <a:extLst xmlns:a="http://schemas.openxmlformats.org/drawingml/2006/main">
              <a:ext uri="{FF2B5EF4-FFF2-40B4-BE49-F238E27FC236}">
                <a16:creationId xmlns:a16="http://schemas.microsoft.com/office/drawing/2014/main" id="{FD17D897-B40E-4AC6-B42A-01982E948421}"/>
              </a:ext>
            </a:extLst>
          </p:cNvPr>
          <p:cNvSpPr>
            <a:spLocks xmlns:a="http://schemas.openxmlformats.org/drawingml/2006/main" noGrp="1"/>
          </p:cNvSpPr>
          <p:nvPr/>
        </p:nvSpPr>
        <p:spPr>
          <a:xfrm xmlns:a="http://schemas.openxmlformats.org/drawingml/2006/main">
            <a:off x="4110037" y="244792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ki</a:t>
            </a:r>
          </a:p>
        </p:txBody>
      </p:sp>
      <p:sp>
        <p:nvSpPr>
          <p:cNvPr id="18" name="Total cake beats">
            <a:extLst xmlns:a="http://schemas.openxmlformats.org/drawingml/2006/main">
              <a:ext uri="{FF2B5EF4-FFF2-40B4-BE49-F238E27FC236}">
                <a16:creationId xmlns:a16="http://schemas.microsoft.com/office/drawing/2014/main" id="{FD17D897-B40E-4AC6-B42A-01982E948421}"/>
              </a:ext>
            </a:extLst>
          </p:cNvPr>
          <p:cNvSpPr>
            <a:spLocks xmlns:a="http://schemas.openxmlformats.org/drawingml/2006/main" noGrp="1"/>
          </p:cNvSpPr>
          <p:nvPr/>
        </p:nvSpPr>
        <p:spPr>
          <a:xfrm xmlns:a="http://schemas.openxmlformats.org/drawingml/2006/main">
            <a:off x="5224462" y="24479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 3 beats</a:t>
            </a:r>
          </a:p>
        </p:txBody>
      </p:sp>
    </p:spTree>
    <p:extLst>
      <p:ext uri="{BB962C8B-B14F-4D97-AF65-F5344CB8AC3E}">
        <p14:creationId xmlns:p14="http://schemas.microsoft.com/office/powerpoint/2010/main" val="95569898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ncept title">
            <a:extLst xmlns:a="http://schemas.openxmlformats.org/drawingml/2006/main">
              <a:ext uri="{FF2B5EF4-FFF2-40B4-BE49-F238E27FC236}">
                <a16:creationId xmlns:a16="http://schemas.microsoft.com/office/drawing/2014/main" id="{BD7BE50F-A13E-411C-868D-0AEA8CB6360B}"/>
              </a:ext>
            </a:extLst>
          </p:cNvPr>
          <p:cNvSpPr>
            <a:spLocks xmlns:a="http://schemas.openxmlformats.org/drawingml/2006/main" noGrp="1"/>
          </p:cNvSpPr>
          <p:nvPr/>
        </p:nvSpPr>
        <p:spPr>
          <a:xfrm xmlns:a="http://schemas.openxmlformats.org/drawingml/2006/main">
            <a:off x="428625" y="3619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595959"/>
                </a:solidFill>
                <a:latin typeface="Arial"/>
                <a:ea typeface="Arial"/>
                <a:cs typeface="Arial"/>
              </a:defRPr>
            </a:pPr>
            <a:r>
              <a:rPr sz="2625" b="1">
                <a:solidFill>
                  <a:srgbClr val="595959"/>
                </a:solidFill>
                <a:latin typeface="Arial"/>
                <a:ea typeface="Arial"/>
                <a:cs typeface="Arial"/>
              </a:rPr>
              <a:t>Small ッ: A Consonant Hold</a:t>
            </a:r>
          </a:p>
        </p:txBody>
      </p:sp>
      <p:sp>
        <p:nvSpPr>
          <p:cNvPr id="2" name="Small tsu size contrast">
            <a:extLst xmlns:a="http://schemas.openxmlformats.org/drawingml/2006/main">
              <a:ext uri="{FF2B5EF4-FFF2-40B4-BE49-F238E27FC236}">
                <a16:creationId xmlns:a16="http://schemas.microsoft.com/office/drawing/2014/main" id="{00A78A5D-6DD9-4407-A515-1FA3BADBFE8D}"/>
              </a:ext>
            </a:extLst>
          </p:cNvPr>
          <p:cNvSpPr>
            <a:spLocks xmlns:a="http://schemas.openxmlformats.org/drawingml/2006/main" noGrp="1"/>
          </p:cNvSpPr>
          <p:nvPr/>
        </p:nvSpPr>
        <p:spPr>
          <a:xfrm xmlns:a="http://schemas.openxmlformats.org/drawingml/2006/main">
            <a:off x="381000" y="1133475"/>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0">
                <a:solidFill>
                  <a:srgbClr val="000000"/>
                </a:solidFill>
                <a:latin typeface="Noto Sans CJK JP"/>
                <a:ea typeface="Noto Sans CJK JP"/>
                <a:cs typeface="Noto Sans CJK JP"/>
              </a:defRPr>
            </a:pPr>
            <a:r>
              <a:rPr sz="2625" b="0">
                <a:solidFill>
                  <a:srgbClr val="000000"/>
                </a:solidFill>
                <a:latin typeface="Noto Sans CJK JP"/>
                <a:ea typeface="Noto Sans CJK JP"/>
                <a:cs typeface="Noto Sans CJK JP"/>
              </a:rPr>
              <a:t>ツ tsu     /     ッ consonant hold</a:t>
            </a:r>
          </a:p>
        </p:txBody>
      </p:sp>
      <p:sp>
        <p:nvSpPr>
          <p:cNvPr id="3" name="Consonant hold rule">
            <a:extLst xmlns:a="http://schemas.openxmlformats.org/drawingml/2006/main">
              <a:ext uri="{FF2B5EF4-FFF2-40B4-BE49-F238E27FC236}">
                <a16:creationId xmlns:a16="http://schemas.microsoft.com/office/drawing/2014/main" id="{231B0502-5EB4-4B35-9422-16696F7397B5}"/>
              </a:ext>
            </a:extLst>
          </p:cNvPr>
          <p:cNvSpPr>
            <a:spLocks xmlns:a="http://schemas.openxmlformats.org/drawingml/2006/main" noGrp="1"/>
          </p:cNvSpPr>
          <p:nvPr/>
        </p:nvSpPr>
        <p:spPr>
          <a:xfrm xmlns:a="http://schemas.openxmlformats.org/drawingml/2006/main">
            <a:off x="404812" y="1714500"/>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00" b="0">
                <a:solidFill>
                  <a:srgbClr val="000000"/>
                </a:solidFill>
                <a:latin typeface="Noto Sans CJK JP"/>
                <a:ea typeface="Noto Sans CJK JP"/>
                <a:cs typeface="Noto Sans CJK JP"/>
              </a:defRPr>
            </a:pPr>
            <a:r>
              <a:rPr sz="1700" b="0">
                <a:solidFill>
                  <a:srgbClr val="000000"/>
                </a:solidFill>
                <a:latin typeface="Noto Sans CJK JP"/>
                <a:ea typeface="Noto Sans CJK JP"/>
                <a:cs typeface="Noto Sans CJK JP"/>
              </a:rPr>
              <a:t>Small ッ makes the next consonant longer.
In romaji, we usually show this by doubling the consonant.</a:t>
            </a:r>
          </a:p>
        </p:txBody>
      </p:sp>
      <p:sp>
        <p:nvSpPr>
          <p:cNvPr id="6" name="Cup example">
            <a:extLst xmlns:a="http://schemas.openxmlformats.org/drawingml/2006/main">
              <a:ext uri="{FF2B5EF4-FFF2-40B4-BE49-F238E27FC236}">
                <a16:creationId xmlns:a16="http://schemas.microsoft.com/office/drawing/2014/main" id="{0A907393-B7C7-4294-9ABD-4885DD7D2BC7}"/>
              </a:ext>
            </a:extLst>
          </p:cNvPr>
          <p:cNvSpPr>
            <a:spLocks xmlns:a="http://schemas.openxmlformats.org/drawingml/2006/main" noGrp="1"/>
          </p:cNvSpPr>
          <p:nvPr/>
        </p:nvSpPr>
        <p:spPr>
          <a:xfrm xmlns:a="http://schemas.openxmlformats.org/drawingml/2006/main">
            <a:off x="457200" y="37338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0">
                <a:solidFill>
                  <a:srgbClr val="000000"/>
                </a:solidFill>
                <a:latin typeface="Noto Sans CJK JP"/>
                <a:ea typeface="Noto Sans CJK JP"/>
                <a:cs typeface="Noto Sans CJK JP"/>
              </a:defRPr>
            </a:pPr>
            <a:r>
              <a:rPr sz="3000" b="0">
                <a:solidFill>
                  <a:srgbClr val="000000"/>
                </a:solidFill>
                <a:latin typeface="Noto Sans CJK JP"/>
                <a:ea typeface="Noto Sans CJK JP"/>
                <a:cs typeface="Noto Sans CJK JP"/>
              </a:rPr>
              <a:t>カップ</a:t>
            </a:r>
          </a:p>
        </p:txBody>
      </p:sp>
      <p:sp>
        <p:nvSpPr>
          <p:cNvPr id="7" name="Cup translation">
            <a:extLst xmlns:a="http://schemas.openxmlformats.org/drawingml/2006/main">
              <a:ext uri="{FF2B5EF4-FFF2-40B4-BE49-F238E27FC236}">
                <a16:creationId xmlns:a16="http://schemas.microsoft.com/office/drawing/2014/main" id="{F770E27E-E121-48F2-8A9B-46D940495604}"/>
              </a:ext>
            </a:extLst>
          </p:cNvPr>
          <p:cNvSpPr>
            <a:spLocks xmlns:a="http://schemas.openxmlformats.org/drawingml/2006/main" noGrp="1"/>
          </p:cNvSpPr>
          <p:nvPr/>
        </p:nvSpPr>
        <p:spPr>
          <a:xfrm xmlns:a="http://schemas.openxmlformats.org/drawingml/2006/main">
            <a:off x="457200" y="439102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kappu = cup</a:t>
            </a:r>
          </a:p>
        </p:txBody>
      </p:sp>
      <p:sp>
        <p:nvSpPr>
          <p:cNvPr id="8" name="Bed example">
            <a:extLst xmlns:a="http://schemas.openxmlformats.org/drawingml/2006/main">
              <a:ext uri="{FF2B5EF4-FFF2-40B4-BE49-F238E27FC236}">
                <a16:creationId xmlns:a16="http://schemas.microsoft.com/office/drawing/2014/main" id="{CE738C46-7F0D-439E-956F-F3CF5B80BBE8}"/>
              </a:ext>
            </a:extLst>
          </p:cNvPr>
          <p:cNvSpPr>
            <a:spLocks xmlns:a="http://schemas.openxmlformats.org/drawingml/2006/main" noGrp="1"/>
          </p:cNvSpPr>
          <p:nvPr/>
        </p:nvSpPr>
        <p:spPr>
          <a:xfrm xmlns:a="http://schemas.openxmlformats.org/drawingml/2006/main">
            <a:off x="4857750" y="37338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0">
                <a:solidFill>
                  <a:srgbClr val="000000"/>
                </a:solidFill>
                <a:latin typeface="Noto Sans CJK JP"/>
                <a:ea typeface="Noto Sans CJK JP"/>
                <a:cs typeface="Noto Sans CJK JP"/>
              </a:defRPr>
            </a:pPr>
            <a:r>
              <a:rPr sz="3000" b="0">
                <a:solidFill>
                  <a:srgbClr val="000000"/>
                </a:solidFill>
                <a:latin typeface="Noto Sans CJK JP"/>
                <a:ea typeface="Noto Sans CJK JP"/>
                <a:cs typeface="Noto Sans CJK JP"/>
              </a:rPr>
              <a:t>ベッド</a:t>
            </a:r>
          </a:p>
        </p:txBody>
      </p:sp>
      <p:sp>
        <p:nvSpPr>
          <p:cNvPr id="9" name="Bed translation">
            <a:extLst xmlns:a="http://schemas.openxmlformats.org/drawingml/2006/main">
              <a:ext uri="{FF2B5EF4-FFF2-40B4-BE49-F238E27FC236}">
                <a16:creationId xmlns:a16="http://schemas.microsoft.com/office/drawing/2014/main" id="{61862A67-704E-480C-A472-5AC344CB8AA1}"/>
              </a:ext>
            </a:extLst>
          </p:cNvPr>
          <p:cNvSpPr>
            <a:spLocks xmlns:a="http://schemas.openxmlformats.org/drawingml/2006/main" noGrp="1"/>
          </p:cNvSpPr>
          <p:nvPr/>
        </p:nvSpPr>
        <p:spPr>
          <a:xfrm xmlns:a="http://schemas.openxmlformats.org/drawingml/2006/main">
            <a:off x="4857750" y="439102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beddo = bed</a:t>
            </a:r>
          </a:p>
        </p:txBody>
      </p:sp>
      <p:sp>
        <p:nvSpPr>
          <p:cNvPr id="11" name="Cup timing カ">
            <a:extLst xmlns:a="http://schemas.openxmlformats.org/drawingml/2006/main">
              <a:ext uri="{FF2B5EF4-FFF2-40B4-BE49-F238E27FC236}">
                <a16:creationId xmlns:a16="http://schemas.microsoft.com/office/drawing/2014/main" id="{BA8069EC-35E9-4229-868B-AF6E27300791}"/>
              </a:ext>
            </a:extLst>
          </p:cNvPr>
          <p:cNvSpPr>
            <a:spLocks xmlns:a="http://schemas.openxmlformats.org/drawingml/2006/main" noGrp="1"/>
          </p:cNvSpPr>
          <p:nvPr/>
        </p:nvSpPr>
        <p:spPr>
          <a:xfrm xmlns:a="http://schemas.openxmlformats.org/drawingml/2006/main">
            <a:off x="2014537" y="2400300"/>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825" b="0">
                <a:solidFill>
                  <a:srgbClr val="000000"/>
                </a:solidFill>
                <a:latin typeface="Noto Sans CJK JP"/>
                <a:ea typeface="Noto Sans CJK JP"/>
                <a:cs typeface="Noto Sans CJK JP"/>
              </a:defRPr>
            </a:pPr>
            <a:r>
              <a:rPr sz="3825" b="0">
                <a:solidFill>
                  <a:srgbClr val="000000"/>
                </a:solidFill>
                <a:latin typeface="Noto Sans CJK JP"/>
                <a:ea typeface="Noto Sans CJK JP"/>
                <a:cs typeface="Noto Sans CJK JP"/>
              </a:rPr>
              <a:t>カ</a:t>
            </a:r>
          </a:p>
        </p:txBody>
      </p:sp>
      <p:sp>
        <p:nvSpPr>
          <p:cNvPr id="12" name="Cup timing ッ">
            <a:extLst xmlns:a="http://schemas.openxmlformats.org/drawingml/2006/main">
              <a:ext uri="{FF2B5EF4-FFF2-40B4-BE49-F238E27FC236}">
                <a16:creationId xmlns:a16="http://schemas.microsoft.com/office/drawing/2014/main" id="{BA8069EC-35E9-4229-868B-AF6E27300791}"/>
              </a:ext>
            </a:extLst>
          </p:cNvPr>
          <p:cNvSpPr>
            <a:spLocks xmlns:a="http://schemas.openxmlformats.org/drawingml/2006/main" noGrp="1"/>
          </p:cNvSpPr>
          <p:nvPr/>
        </p:nvSpPr>
        <p:spPr>
          <a:xfrm xmlns:a="http://schemas.openxmlformats.org/drawingml/2006/main">
            <a:off x="3062287" y="2400300"/>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825" b="0">
                <a:solidFill>
                  <a:srgbClr val="000000"/>
                </a:solidFill>
                <a:latin typeface="Noto Sans CJK JP"/>
                <a:ea typeface="Noto Sans CJK JP"/>
                <a:cs typeface="Noto Sans CJK JP"/>
              </a:defRPr>
            </a:pPr>
            <a:r>
              <a:rPr sz="3825" b="0">
                <a:solidFill>
                  <a:srgbClr val="000000"/>
                </a:solidFill>
                <a:latin typeface="Noto Sans CJK JP"/>
                <a:ea typeface="Noto Sans CJK JP"/>
                <a:cs typeface="Noto Sans CJK JP"/>
              </a:rPr>
              <a:t>ッ</a:t>
            </a:r>
          </a:p>
        </p:txBody>
      </p:sp>
      <p:sp>
        <p:nvSpPr>
          <p:cNvPr id="13" name="Cup timing プ">
            <a:extLst xmlns:a="http://schemas.openxmlformats.org/drawingml/2006/main">
              <a:ext uri="{FF2B5EF4-FFF2-40B4-BE49-F238E27FC236}">
                <a16:creationId xmlns:a16="http://schemas.microsoft.com/office/drawing/2014/main" id="{BA8069EC-35E9-4229-868B-AF6E27300791}"/>
              </a:ext>
            </a:extLst>
          </p:cNvPr>
          <p:cNvSpPr>
            <a:spLocks xmlns:a="http://schemas.openxmlformats.org/drawingml/2006/main" noGrp="1"/>
          </p:cNvSpPr>
          <p:nvPr/>
        </p:nvSpPr>
        <p:spPr>
          <a:xfrm xmlns:a="http://schemas.openxmlformats.org/drawingml/2006/main">
            <a:off x="4110037" y="2400300"/>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825" b="0">
                <a:solidFill>
                  <a:srgbClr val="000000"/>
                </a:solidFill>
                <a:latin typeface="Noto Sans CJK JP"/>
                <a:ea typeface="Noto Sans CJK JP"/>
                <a:cs typeface="Noto Sans CJK JP"/>
              </a:defRPr>
            </a:pPr>
            <a:r>
              <a:rPr sz="3825" b="0">
                <a:solidFill>
                  <a:srgbClr val="000000"/>
                </a:solidFill>
                <a:latin typeface="Noto Sans CJK JP"/>
                <a:ea typeface="Noto Sans CJK JP"/>
                <a:cs typeface="Noto Sans CJK JP"/>
              </a:rPr>
              <a:t>プ</a:t>
            </a:r>
          </a:p>
        </p:txBody>
      </p:sp>
      <p:sp>
        <p:nvSpPr>
          <p:cNvPr id="14" name="Cup beats ka">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2014537" y="315277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ka</a:t>
            </a:r>
          </a:p>
        </p:txBody>
      </p:sp>
      <p:sp>
        <p:nvSpPr>
          <p:cNvPr id="15" name="Cup beats hold">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3062287" y="315277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hold</a:t>
            </a:r>
          </a:p>
        </p:txBody>
      </p:sp>
      <p:sp>
        <p:nvSpPr>
          <p:cNvPr id="16" name="Cup beats pu">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4110037" y="315277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pu</a:t>
            </a:r>
          </a:p>
        </p:txBody>
      </p:sp>
      <p:sp>
        <p:nvSpPr>
          <p:cNvPr id="17" name="Total cup beats">
            <a:extLst xmlns:a="http://schemas.openxmlformats.org/drawingml/2006/main">
              <a:ext uri="{FF2B5EF4-FFF2-40B4-BE49-F238E27FC236}">
                <a16:creationId xmlns:a16="http://schemas.microsoft.com/office/drawing/2014/main" id="{64BAB625-54CE-4100-8AD5-684A908A6570}"/>
              </a:ext>
            </a:extLst>
          </p:cNvPr>
          <p:cNvSpPr>
            <a:spLocks xmlns:a="http://schemas.openxmlformats.org/drawingml/2006/main" noGrp="1"/>
          </p:cNvSpPr>
          <p:nvPr/>
        </p:nvSpPr>
        <p:spPr>
          <a:xfrm xmlns:a="http://schemas.openxmlformats.org/drawingml/2006/main">
            <a:off x="5224462" y="31527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 3 beats</a:t>
            </a:r>
          </a:p>
        </p:txBody>
      </p:sp>
    </p:spTree>
    <p:extLst>
      <p:ext uri="{BB962C8B-B14F-4D97-AF65-F5344CB8AC3E}">
        <p14:creationId xmlns:p14="http://schemas.microsoft.com/office/powerpoint/2010/main" val="462696839"/>
      </p:ext>
    </p:extLst>
  </p:cSld>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1200"/>
              </a:spcAft>
              <a:buNone/>
            </a:pPr>
            <a:r>
              <a:rPr lang="en" sz="3000">
                <a:solidFill>
                  <a:srgbClr val="000000"/>
                </a:solidFill>
                <a:latin typeface="Arial"/>
              </a:rPr>
              <a:t>Sources &amp; Attribution</a:t>
            </a:r>
            <a:endParaRPr/>
          </a:p>
        </p:txBody>
      </p:sp>
      <p:sp>
        <p:nvSpPr>
          <p:cNvPr id="174" name="Google Shape;174;p26"/>
          <p:cNvSpPr txBox="1"/>
          <p:nvPr>
            <p:ph idx="1" type="body"/>
          </p:nvPr>
        </p:nvSpPr>
        <p:spPr>
          <a:xfrm>
            <a:off x="311700" y="572700"/>
            <a:ext cx="8520600" cy="13500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1200"/>
              </a:spcBef>
              <a:spcAft>
                <a:spcPts val="1200"/>
              </a:spcAft>
              <a:buNone/>
            </a:pPr>
            <a:r>
              <a:rPr b="1" lang="en" sz="1100">
                <a:solidFill>
                  <a:schemeClr val="dk1"/>
                </a:solidFill>
              </a:rPr>
              <a:t>Katakana Chart: Seion, Dakuon and Yoon</a:t>
            </a:r>
            <a:br>
              <a:rPr b="1" lang="en" sz="1100">
                <a:solidFill>
                  <a:schemeClr val="dk1"/>
                </a:solidFill>
              </a:rPr>
            </a:br>
            <a:r>
              <a:rPr lang="en" sz="1100">
                <a:solidFill>
                  <a:schemeClr val="dk1"/>
                </a:solidFill>
              </a:rPr>
              <a:t>TealComet, 2024</a:t>
            </a:r>
            <a:br>
              <a:rPr lang="en" sz="1100">
                <a:solidFill>
                  <a:schemeClr val="dk1"/>
                </a:solidFill>
              </a:rPr>
            </a:br>
            <a:r>
              <a:rPr lang="en" sz="1100">
                <a:solidFill>
                  <a:schemeClr val="dk1"/>
                </a:solidFill>
              </a:rPr>
              <a:t>“Katakana Chart Seion Dakuon Yoon.png”</a:t>
            </a:r>
            <a:br>
              <a:rPr lang="en" sz="1100">
                <a:solidFill>
                  <a:schemeClr val="dk1"/>
                </a:solidFill>
              </a:rPr>
            </a:br>
            <a:r>
              <a:rPr lang="en" sz="1100">
                <a:solidFill>
                  <a:schemeClr val="dk1"/>
                </a:solidFill>
              </a:rPr>
              <a:t>Released under </a:t>
            </a:r>
            <a:r>
              <a:rPr b="1" lang="en" sz="1100">
                <a:solidFill>
                  <a:schemeClr val="dk1"/>
                </a:solidFill>
              </a:rPr>
              <a:t>CC0 1.0 (Public Domain Dedication)</a:t>
            </a:r>
            <a:br>
              <a:rPr lang="en" sz="1100">
                <a:solidFill>
                  <a:schemeClr val="dk1"/>
                </a:solidFill>
              </a:rPr>
            </a:br>
            <a:r>
              <a:rPr lang="en" sz="1100">
                <a:solidFill>
                  <a:schemeClr val="dk1"/>
                </a:solidFill>
              </a:rPr>
              <a:t>Source: Wikimedia Commons</a:t>
            </a:r>
            <a:br>
              <a:rPr lang="en" sz="1100">
                <a:solidFill>
                  <a:schemeClr val="dk1"/>
                </a:solidFill>
              </a:rPr>
            </a:br>
            <a:r>
              <a:rPr lang="en" sz="1100" u="sng">
                <a:solidFill>
                  <a:schemeClr val="hlink"/>
                </a:solidFill>
                <a:hlinkClick r:id="rId3"/>
              </a:rPr>
              <a:t>https://commons.wikimedia.org/wiki/File:Katakana_Chart_Seion_Dakuon_Yoon.png</a:t>
            </a:r>
            <a:br>
              <a:rPr lang="en" sz="1100">
                <a:solidFill>
                  <a:schemeClr val="dk1"/>
                </a:solidFill>
              </a:rPr>
            </a:br>
            <a:r>
              <a:rPr i="1" lang="en" sz="1100">
                <a:solidFill>
                  <a:schemeClr val="dk1"/>
                </a:solidFill>
              </a:rPr>
              <a:t>Chart sections in this presentation are cropped and resized from this work.</a:t>
            </a:r>
            <a:endParaRPr b="1" sz="1100">
              <a:solidFill>
                <a:schemeClr val="dk1"/>
              </a:solidFill>
            </a:endParaRPr>
          </a:p>
        </p:txBody>
      </p:sp>
      <p:pic>
        <p:nvPicPr>
          <p:cNvPr id="175" name="Google Shape;175;p26"/>
          <p:cNvPicPr preferRelativeResize="0"/>
          <p:nvPr/>
        </p:nvPicPr>
        <p:blipFill>
          <a:blip r:embed="rId4">
            <a:alphaModFix/>
          </a:blip>
          <a:stretch>
            <a:fillRect/>
          </a:stretch>
        </p:blipFill>
        <p:spPr>
          <a:xfrm>
            <a:off x="1822000" y="1950000"/>
            <a:ext cx="5500000" cy="3093750"/>
          </a:xfrm>
          <a:prstGeom prst="rect">
            <a:avLst/>
          </a:prstGeom>
          <a:noFill/>
          <a:ln>
            <a:noFill/>
          </a:ln>
        </p:spPr>
      </p:pic>
    </p:spTree>
  </p:cSld>
  <p:clrMapOvr>
    <a:masterClrMapping/>
  </p:clrMapOvr>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Vowels</ns0:t>
            </ns0:r>
          </ns0:p>
        </p:txBody>
      </p:sp>
      <p:sp>
        <p:nvSpPr>
          <p:cNvPr id="2" name="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A</ns0:t>
            </ns0:r>
          </ns0:p>
        </p:txBody>
      </p:sp>
      <p:pic xmlns:a="http://schemas.openxmlformats.org/drawingml/2006/main" xmlns:r="http://schemas.openxmlformats.org/officeDocument/2006/relationships">
        <p:nvPicPr>
          <p:cNvPr id="20" name="Google Shape;67;p15"/>
          <p:cNvPicPr preferRelativeResize="0"/>
          <p:nvPr/>
        </p:nvPicPr>
        <p:blipFill>
          <a:blip r:embed="rIdImage0">
            <a:alphaModFix/>
          </a:blip>
          <a:stretch>
            <a:fillRect/>
          </a:stretch>
        </p:blipFill>
        <p:spPr>
          <a:xfrm>
            <a:off x="642938" y="2241415"/>
            <a:ext cx="1381125" cy="1851295"/>
          </a:xfrm>
          <a:prstGeom prst="rect">
            <a:avLst/>
          </a:prstGeom>
          <a:noFill/>
          <a:ln>
            <a:noFill/>
          </a:ln>
        </p:spPr>
      </p:pic>
      <p:sp>
        <p:nvSpPr>
          <p:cNvPr id="3" name="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I</ns0:t>
            </ns0:r>
          </ns0:p>
        </p:txBody>
      </p:sp>
      <p:pic xmlns:a="http://schemas.openxmlformats.org/drawingml/2006/main" xmlns:r="http://schemas.openxmlformats.org/officeDocument/2006/relationships">
        <p:nvPicPr>
          <p:cNvPr id="21" name="Google Shape;80;p16"/>
          <p:cNvPicPr preferRelativeResize="0"/>
          <p:nvPr/>
        </p:nvPicPr>
        <p:blipFill>
          <a:blip r:embed="rIdImage1">
            <a:alphaModFix/>
          </a:blip>
          <a:stretch>
            <a:fillRect/>
          </a:stretch>
        </p:blipFill>
        <p:spPr>
          <a:xfrm>
            <a:off x="2262188" y="2119709"/>
            <a:ext cx="1381125" cy="2094706"/>
          </a:xfrm>
          <a:prstGeom prst="rect">
            <a:avLst/>
          </a:prstGeom>
          <a:noFill/>
          <a:ln>
            <a:noFill/>
          </a:ln>
        </p:spPr>
      </p:pic>
      <p:sp>
        <p:nvSpPr>
          <p:cNvPr id="4" name="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U</ns0:t>
            </ns0:r>
          </ns0:p>
        </p:txBody>
      </p:sp>
      <p:pic xmlns:a="http://schemas.openxmlformats.org/drawingml/2006/main" xmlns:r="http://schemas.openxmlformats.org/officeDocument/2006/relationships">
        <p:nvPicPr>
          <p:cNvPr id="22" name="Google Shape;90;p17"/>
          <p:cNvPicPr preferRelativeResize="0"/>
          <p:nvPr/>
        </p:nvPicPr>
        <p:blipFill>
          <a:blip r:embed="rIdImage2">
            <a:alphaModFix/>
          </a:blip>
          <a:stretch>
            <a:fillRect/>
          </a:stretch>
        </p:blipFill>
        <p:spPr>
          <a:xfrm>
            <a:off x="3881438" y="2160212"/>
            <a:ext cx="1381125" cy="2013701"/>
          </a:xfrm>
          <a:prstGeom prst="rect">
            <a:avLst/>
          </a:prstGeom>
          <a:noFill/>
          <a:ln>
            <a:noFill/>
          </a:ln>
        </p:spPr>
      </p:pic>
      <p:sp>
        <p:nvSpPr>
          <p:cNvPr id="5" name="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E</ns0:t>
            </ns0:r>
          </ns0:p>
        </p:txBody>
      </p:sp>
      <p:pic xmlns:a="http://schemas.openxmlformats.org/drawingml/2006/main" xmlns:r="http://schemas.openxmlformats.org/officeDocument/2006/relationships">
        <p:nvPicPr>
          <p:cNvPr id="23" name="Google Shape;100;p18"/>
          <p:cNvPicPr preferRelativeResize="0"/>
          <p:nvPr/>
        </p:nvPicPr>
        <p:blipFill>
          <a:blip r:embed="rIdImage3">
            <a:alphaModFix/>
          </a:blip>
          <a:stretch>
            <a:fillRect/>
          </a:stretch>
        </p:blipFill>
        <p:spPr>
          <a:xfrm>
            <a:off x="5500688" y="2205587"/>
            <a:ext cx="1381125" cy="1922951"/>
          </a:xfrm>
          <a:prstGeom prst="rect">
            <a:avLst/>
          </a:prstGeom>
          <a:noFill/>
          <a:ln>
            <a:noFill/>
          </a:ln>
        </p:spPr>
      </p:pic>
      <p:sp>
        <p:nvSpPr>
          <p:cNvPr id="6" name="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O</ns0:t>
            </ns0:r>
          </ns0:p>
        </p:txBody>
      </p:sp>
      <p:pic xmlns:a="http://schemas.openxmlformats.org/drawingml/2006/main" xmlns:r="http://schemas.openxmlformats.org/officeDocument/2006/relationships">
        <p:nvPicPr>
          <p:cNvPr id="24" name="Google Shape;110;p19"/>
          <p:cNvPicPr preferRelativeResize="0"/>
          <p:nvPr/>
        </p:nvPicPr>
        <p:blipFill>
          <a:blip r:embed="rIdImage4">
            <a:alphaModFix/>
          </a:blip>
          <a:stretch>
            <a:fillRect/>
          </a:stretch>
        </p:blipFill>
        <p:spPr>
          <a:xfrm>
            <a:off x="7119938" y="2179027"/>
            <a:ext cx="1381125" cy="1976071"/>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K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K row</ns0:t>
            </ns0:r>
          </ns0:p>
        </p:txBody>
      </p:sp>
      <p:sp>
        <p:nvSpPr>
          <p:cNvPr id="2" name="K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Ka</ns0:t>
            </ns0:r>
          </ns0:p>
        </p:txBody>
      </p:sp>
      <p:pic xmlns:a="http://schemas.openxmlformats.org/drawingml/2006/main" xmlns:r="http://schemas.openxmlformats.org/officeDocument/2006/relationships">
        <p:nvPicPr>
          <p:cNvPr id="20" name="Google Shape;120;p20"/>
          <p:cNvPicPr preferRelativeResize="0"/>
          <p:nvPr/>
        </p:nvPicPr>
        <p:blipFill>
          <a:blip r:embed="rIdImage0">
            <a:alphaModFix/>
          </a:blip>
          <a:stretch>
            <a:fillRect/>
          </a:stretch>
        </p:blipFill>
        <p:spPr>
          <a:xfrm>
            <a:off x="642938" y="2268385"/>
            <a:ext cx="1381125" cy="1797354"/>
          </a:xfrm>
          <a:prstGeom prst="rect">
            <a:avLst/>
          </a:prstGeom>
          <a:noFill/>
          <a:ln>
            <a:noFill/>
          </a:ln>
        </p:spPr>
      </p:pic>
      <p:sp>
        <p:nvSpPr>
          <p:cNvPr id="3" name="K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Ki</ns0:t>
            </ns0:r>
          </ns0:p>
        </p:txBody>
      </p:sp>
      <p:pic xmlns:a="http://schemas.openxmlformats.org/drawingml/2006/main" xmlns:r="http://schemas.openxmlformats.org/officeDocument/2006/relationships">
        <p:nvPicPr>
          <p:cNvPr id="21" name="Google Shape;130;p21"/>
          <p:cNvPicPr preferRelativeResize="0"/>
          <p:nvPr/>
        </p:nvPicPr>
        <p:blipFill>
          <a:blip r:embed="rIdImage1">
            <a:alphaModFix/>
          </a:blip>
          <a:stretch>
            <a:fillRect/>
          </a:stretch>
        </p:blipFill>
        <p:spPr>
          <a:xfrm>
            <a:off x="2262188" y="2214562"/>
            <a:ext cx="1381125" cy="1905000"/>
          </a:xfrm>
          <a:prstGeom prst="rect">
            <a:avLst/>
          </a:prstGeom>
          <a:noFill/>
          <a:ln>
            <a:noFill/>
          </a:ln>
        </p:spPr>
      </p:pic>
      <p:sp>
        <p:nvSpPr>
          <p:cNvPr id="4" name="K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Ku</ns0:t>
            </ns0:r>
          </ns0:p>
        </p:txBody>
      </p:sp>
      <p:pic xmlns:a="http://schemas.openxmlformats.org/drawingml/2006/main" xmlns:r="http://schemas.openxmlformats.org/officeDocument/2006/relationships">
        <p:nvPicPr>
          <p:cNvPr id="22" name="Google Shape;140;p22"/>
          <p:cNvPicPr preferRelativeResize="0"/>
          <p:nvPr/>
        </p:nvPicPr>
        <p:blipFill>
          <a:blip r:embed="rIdImage2">
            <a:alphaModFix/>
          </a:blip>
          <a:stretch>
            <a:fillRect/>
          </a:stretch>
        </p:blipFill>
        <p:spPr>
          <a:xfrm>
            <a:off x="3881438" y="2179027"/>
            <a:ext cx="1381125" cy="1976071"/>
          </a:xfrm>
          <a:prstGeom prst="rect">
            <a:avLst/>
          </a:prstGeom>
          <a:noFill/>
          <a:ln>
            <a:noFill/>
          </a:ln>
        </p:spPr>
      </p:pic>
      <p:sp>
        <p:nvSpPr>
          <p:cNvPr id="5" name="K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Ke</ns0:t>
            </ns0:r>
          </ns0:p>
        </p:txBody>
      </p:sp>
      <p:pic xmlns:a="http://schemas.openxmlformats.org/drawingml/2006/main" xmlns:r="http://schemas.openxmlformats.org/officeDocument/2006/relationships">
        <p:nvPicPr>
          <p:cNvPr id="23" name="Google Shape;150;p23"/>
          <p:cNvPicPr preferRelativeResize="0"/>
          <p:nvPr/>
        </p:nvPicPr>
        <p:blipFill>
          <a:blip r:embed="rIdImage3">
            <a:alphaModFix/>
          </a:blip>
          <a:stretch>
            <a:fillRect/>
          </a:stretch>
        </p:blipFill>
        <p:spPr>
          <a:xfrm>
            <a:off x="5500688" y="2194963"/>
            <a:ext cx="1381125" cy="1944199"/>
          </a:xfrm>
          <a:prstGeom prst="rect">
            <a:avLst/>
          </a:prstGeom>
          <a:noFill/>
          <a:ln>
            <a:noFill/>
          </a:ln>
        </p:spPr>
      </p:pic>
      <p:sp>
        <p:nvSpPr>
          <p:cNvPr id="6" name="K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Ko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296765"/>
            <a:ext cx="1381125" cy="1740596"/>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S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S row</ns0:t>
            </ns0:r>
          </ns0:p>
        </p:txBody>
      </p:sp>
      <p:sp>
        <p:nvSpPr>
          <p:cNvPr id="2" name="S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64733"/>
            <a:ext cx="1381125" cy="1604660"/>
          </a:xfrm>
          <a:prstGeom prst="rect">
            <a:avLst/>
          </a:prstGeom>
          <a:noFill/>
          <a:ln>
            <a:noFill/>
          </a:ln>
        </p:spPr>
      </p:pic>
      <p:sp>
        <p:nvSpPr>
          <p:cNvPr id="3" name="S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Shi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58001"/>
            <a:ext cx="1381125" cy="1618123"/>
          </a:xfrm>
          <a:prstGeom prst="rect">
            <a:avLst/>
          </a:prstGeom>
          <a:noFill/>
          <a:ln>
            <a:noFill/>
          </a:ln>
        </p:spPr>
      </p:pic>
      <p:sp>
        <p:nvSpPr>
          <p:cNvPr id="4" name="S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67464"/>
            <a:ext cx="1381125" cy="1599197"/>
          </a:xfrm>
          <a:prstGeom prst="rect">
            <a:avLst/>
          </a:prstGeom>
          <a:noFill/>
          <a:ln>
            <a:noFill/>
          </a:ln>
        </p:spPr>
      </p:pic>
      <p:sp>
        <p:nvSpPr>
          <p:cNvPr id="5" name="S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68098"/>
            <a:ext cx="1381125" cy="1597930"/>
          </a:xfrm>
          <a:prstGeom prst="rect">
            <a:avLst/>
          </a:prstGeom>
          <a:noFill/>
          <a:ln>
            <a:noFill/>
          </a:ln>
        </p:spPr>
      </p:pic>
      <p:sp>
        <p:nvSpPr>
          <p:cNvPr id="6" name="S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So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68098"/>
            <a:ext cx="1381125" cy="159793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T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T row</ns0:t>
            </ns0:r>
          </ns0:p>
        </p:txBody>
      </p:sp>
      <p:sp>
        <p:nvSpPr>
          <p:cNvPr id="2" name="T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C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Chi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Ts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Tsu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T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T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To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N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N row</ns0:t>
            </ns0:r>
          </ns0:p>
        </p:txBody>
      </p:sp>
      <p:sp>
        <p:nvSpPr>
          <p:cNvPr id="2" name="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N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N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N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N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H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H row</ns0:t>
            </ns0:r>
          </ns0:p>
        </p:txBody>
      </p:sp>
      <p:sp>
        <p:nvSpPr>
          <p:cNvPr id="2" name="H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H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F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Fu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H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H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Ho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M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M row</ns0:t>
            </ns0:r>
          </ns0:p>
        </p:txBody>
      </p:sp>
      <p:sp>
        <p:nvSpPr>
          <p:cNvPr id="2" name="M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M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M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M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Mo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Y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Y row</ns0:t>
            </ns0:r>
          </ns0:p>
        </p:txBody>
      </p:sp>
      <p:sp>
        <p:nvSpPr>
          <p:cNvPr id="2" name="Y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Ya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2262188" y="2320702"/>
            <a:ext cx="1381125" cy="1692720"/>
          </a:xfrm>
          <a:prstGeom prst="rect">
            <a:avLst/>
          </a:prstGeom>
          <a:noFill/>
          <a:ln>
            <a:noFill/>
          </a:ln>
        </p:spPr>
      </p:pic>
      <p:sp>
        <p:nvSpPr>
          <p:cNvPr id="3" name="Y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Yu</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3881438" y="2333335"/>
            <a:ext cx="1381125" cy="1667456"/>
          </a:xfrm>
          <a:prstGeom prst="rect">
            <a:avLst/>
          </a:prstGeom>
          <a:noFill/>
          <a:ln>
            <a:noFill/>
          </a:ln>
        </p:spPr>
      </p:pic>
      <p:sp>
        <p:nvSpPr>
          <p:cNvPr id="4" name="Y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Yo</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550068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R ro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R row</ns0:t>
            </ns0:r>
          </ns0:p>
        </p:txBody>
      </p:sp>
      <p:sp>
        <p:nvSpPr>
          <p:cNvPr id="2" name="R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642938" y="2320702"/>
            <a:ext cx="1381125" cy="1692720"/>
          </a:xfrm>
          <a:prstGeom prst="rect">
            <a:avLst/>
          </a:prstGeom>
          <a:noFill/>
          <a:ln>
            <a:noFill/>
          </a:ln>
        </p:spPr>
      </p:pic>
      <p:sp>
        <p:nvSpPr>
          <p:cNvPr id="3" name="R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Ri</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2262188" y="2333335"/>
            <a:ext cx="1381125" cy="1667456"/>
          </a:xfrm>
          <a:prstGeom prst="rect">
            <a:avLst/>
          </a:prstGeom>
          <a:noFill/>
          <a:ln>
            <a:noFill/>
          </a:ln>
        </p:spPr>
      </p:pic>
      <p:sp>
        <p:nvSpPr>
          <p:cNvPr id="4" name="R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Ru</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3881438" y="2333335"/>
            <a:ext cx="1381125" cy="1667456"/>
          </a:xfrm>
          <a:prstGeom prst="rect">
            <a:avLst/>
          </a:prstGeom>
          <a:noFill/>
          <a:ln>
            <a:noFill/>
          </a:ln>
        </p:spPr>
      </p:pic>
      <p:sp>
        <p:nvSpPr>
          <p:cNvPr id="5" name="R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Re</ns0:t>
            </ns0:r>
          </ns0:p>
        </p:txBody>
      </p:sp>
      <p:pic xmlns:a="http://schemas.openxmlformats.org/drawingml/2006/main" xmlns:r="http://schemas.openxmlformats.org/officeDocument/2006/relationships">
        <p:nvPicPr>
          <p:cNvPr id="23" name="Google Shape;160;p24"/>
          <p:cNvPicPr preferRelativeResize="0"/>
          <p:nvPr/>
        </p:nvPicPr>
        <p:blipFill>
          <a:blip r:embed="rIdImage3">
            <a:alphaModFix/>
          </a:blip>
          <a:stretch>
            <a:fillRect/>
          </a:stretch>
        </p:blipFill>
        <p:spPr>
          <a:xfrm>
            <a:off x="5500688" y="2329124"/>
            <a:ext cx="1381125" cy="1675877"/>
          </a:xfrm>
          <a:prstGeom prst="rect">
            <a:avLst/>
          </a:prstGeom>
          <a:noFill/>
          <a:ln>
            <a:noFill/>
          </a:ln>
        </p:spPr>
      </p:pic>
      <p:sp>
        <p:nvSpPr>
          <p:cNvPr id="6" name="R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0961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Ro</ns0:t>
            </ns0:r>
          </ns0:p>
        </p:txBody>
      </p:sp>
      <p:pic xmlns:a="http://schemas.openxmlformats.org/drawingml/2006/main" xmlns:r="http://schemas.openxmlformats.org/officeDocument/2006/relationships">
        <p:nvPicPr>
          <p:cNvPr id="24" name="Google Shape;160;p24"/>
          <p:cNvPicPr preferRelativeResize="0"/>
          <p:nvPr/>
        </p:nvPicPr>
        <p:blipFill>
          <a:blip r:embed="rIdImage4">
            <a:alphaModFix/>
          </a:blip>
          <a:stretch>
            <a:fillRect/>
          </a:stretch>
        </p:blipFill>
        <p:spPr>
          <a:xfrm>
            <a:off x="7119938" y="2329124"/>
            <a:ext cx="1381125" cy="1675877"/>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W row and final 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W row and final N</ns0:t>
            </ns0:r>
          </ns0:p>
        </p:txBody>
      </p:sp>
      <p:sp>
        <p:nvSpPr>
          <p:cNvPr id="2" name="W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383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Wa</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2262188" y="2325832"/>
            <a:ext cx="1381125" cy="1682461"/>
          </a:xfrm>
          <a:prstGeom prst="rect">
            <a:avLst/>
          </a:prstGeom>
          <a:noFill/>
          <a:ln>
            <a:noFill/>
          </a:ln>
        </p:spPr>
      </p:pic>
      <p:sp>
        <p:nvSpPr>
          <p:cNvPr id="3" name="W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Wo</ns0:t>
            </ns0:r>
          </ns0:p>
        </p:txBody>
      </p:sp>
      <p:pic xmlns:a="http://schemas.openxmlformats.org/drawingml/2006/main" xmlns:r="http://schemas.openxmlformats.org/officeDocument/2006/relationships">
        <p:nvPicPr>
          <p:cNvPr id="21" name="Google Shape;160;p24"/>
          <p:cNvPicPr preferRelativeResize="0"/>
          <p:nvPr/>
        </p:nvPicPr>
        <p:blipFill>
          <a:blip r:embed="rIdImage1">
            <a:alphaModFix/>
          </a:blip>
          <a:stretch>
            <a:fillRect/>
          </a:stretch>
        </p:blipFill>
        <p:spPr>
          <a:xfrm>
            <a:off x="3881438" y="2334202"/>
            <a:ext cx="1381125" cy="1665720"/>
          </a:xfrm>
          <a:prstGeom prst="rect">
            <a:avLst/>
          </a:prstGeom>
          <a:noFill/>
          <a:ln>
            <a:noFill/>
          </a:ln>
        </p:spPr>
      </p:pic>
      <p:sp>
        <p:nvSpPr>
          <p:cNvPr id="4" nam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ns0:t>
            </ns0:r>
          </ns0:p>
        </p:txBody>
      </p:sp>
      <p:pic xmlns:a="http://schemas.openxmlformats.org/drawingml/2006/main" xmlns:r="http://schemas.openxmlformats.org/officeDocument/2006/relationships">
        <p:nvPicPr>
          <p:cNvPr id="22" name="Google Shape;160;p24"/>
          <p:cNvPicPr preferRelativeResize="0"/>
          <p:nvPr/>
        </p:nvPicPr>
        <p:blipFill>
          <a:blip r:embed="rIdImage2">
            <a:alphaModFix/>
          </a:blip>
          <a:stretch>
            <a:fillRect/>
          </a:stretch>
        </p:blipFill>
        <p:spPr>
          <a:xfrm>
            <a:off x="5500688" y="2320702"/>
            <a:ext cx="1381125" cy="169272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asic Katakana: Final 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Basic Katakana: Final N</ns0:t>
            </ns0:r>
          </ns0:p>
        </p:txBody>
      </p:sp>
      <p:sp>
        <p:nvSpPr>
          <p:cNvPr id="2" nam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57625" y="1238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rPr>
              <ns0:t>N</ns0:t>
            </ns0:r>
          </ns0:p>
        </p:txBody>
      </p:sp>
      <p:pic xmlns:a="http://schemas.openxmlformats.org/drawingml/2006/main" xmlns:r="http://schemas.openxmlformats.org/officeDocument/2006/relationships">
        <p:nvPicPr>
          <p:cNvPr id="20" name="Google Shape;160;p24"/>
          <p:cNvPicPr preferRelativeResize="0"/>
          <p:nvPr/>
        </p:nvPicPr>
        <p:blipFill>
          <a:blip r:embed="rIdImage0">
            <a:alphaModFix/>
          </a:blip>
          <a:stretch>
            <a:fillRect/>
          </a:stretch>
        </p:blipFill>
        <p:spPr>
          <a:xfrm>
            <a:off x="3881438" y="2320702"/>
            <a:ext cx="1381125" cy="1692720"/>
          </a:xfrm>
          <a:prstGeom prst="rect">
            <a:avLst/>
          </a:prstGeom>
          <a:noFill/>
          <a:ln>
            <a:noFill/>
          </a:ln>
        </p:spPr>
      </p:pic>
      <p:sp xmlns:a="http://schemas.openxmlformats.org/drawingml/2006/main" xmlns:r="http://schemas.openxmlformats.org/officeDocument/2006/relationships">
        <p:nvSpPr>
          <p:cNvPr id="3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About This Work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333375"/>
            <a:ext cx="803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About This Workbook</ns0:t>
            </ns0:r>
          </ns0:p>
        </p:txBody>
      </p:sp>
      <p:sp>
        <p:nvSpPr>
          <p:cNvPr id="2" name="Katakana Together is a free, openly licensed resource for beginning learners, teachers, and study group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000125"/>
            <a:ext cx="7905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A free, openly licensed resource for individual learners, study groups, and classrooms. You’re welcome to edit, share, and reupload it under the included license terms.
See slide 90, “Sharing and Adapting This Workbook,” for details.</ns0:t>
            </ns0:r>
          </ns0:p>
        </p:txBody>
      </p:sp>
      <p:sp>
        <p:nvSpPr>
          <p:cNvPr id="3" name="Learn one row at a ti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1717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Learn one row at a time</ns0:t>
            </ns0:r>
          </ns0:p>
        </p:txBody>
      </p:sp>
      <p:sp>
        <p:nvSpPr>
          <p:cNvPr id="4" name="Start with the row overview. Then practice each character using its pronunciation, stroke order, and mnemonic illustratio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628900"/>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000" b="0">
                <ns0:solidFill>
                  <ns0:srgbClr val="000000"/>
                </ns0:solidFill>
                <ns0:latin typeface="Arial"/>
              </ns0:rPr>
              <ns0:t>Start with the row overview. Then practice each character using its pronunciation, stroke order, and mnemonic illustration.</ns0:t>
            </ns0:r>
          </ns0:p>
        </p:txBody>
      </p:sp>
      <p:sp>
        <p:nvSpPr>
          <p:cNvPr id="5" name="Practice the sound ru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6195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Practice the sound rules</ns0:t>
            </ns0:r>
          </ns0:p>
        </p:txBody>
      </p:sp>
      <p:sp>
        <p:nvSpPr>
          <p:cNvPr id="6" name="After the 46 basic characters, explore small kana, sound changes, long vowels, and the final review. Instructor answers are in the review slide’s not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04812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After the 46 basic characters, explore small kana, sound changes, long vowels, and the final review.</ns0:t>
            </ns0:r>
          </ns0:p>
        </p:txBody>
      </p:sp>
    </p:spTree>
    <p:extLst>
      <p:ext uri="{BB962C8B-B14F-4D97-AF65-F5344CB8AC3E}">
        <p14:creationId xmlns:p14="http://schemas.microsoft.com/office/powerpoint/2010/main" val="193532192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haring and Adapting This Work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333375"/>
            <a:ext cx="803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Sharing and Adapting This Workbook</ns0:t>
            </ns0:r>
          </ns0:p>
        </p:txBody>
      </p:sp>
      <p:sp>
        <p:nvSpPr>
          <p:cNvPr id="2" name="Original contributions by Soreasan / ソレアサン are licensed under Creative Commons Attribution-ShareAlike 4.0 International (CC BY-SA 4.0).">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095375"/>
            <a:ext cx="790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Original contributions by Soreasan / ソレアサン are licensed under Creative Commons Attribution-ShareAlike 4.0 International (CC BY-SA 4.0).</ns0:t>
            </ns0:r>
          </ns0:p>
        </p:txBody>
      </p:sp>
      <p:sp>
        <p:nvSpPr>
          <p:cNvPr id="3" name="You may copy, share, teach from, and adapt those contributions, including for commercial use, under the license term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019300"/>
            <a:ext cx="7905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You may copy, share, teach from, and adapt those contributions, including for commercial use, under the license terms.</ns0:t>
            </ns0:r>
          </ns0:p>
        </p:txBody>
      </p:sp>
      <p:sp>
        <p:nvSpPr>
          <p:cNvPr id="4" name="Keep the credits and license links. Identify your changes. Share adaptations under CC BY-SA 4.0 or a permitted compatible license. Do not add restrictions that conflict with the licens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819400"/>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Keep the credits and license links. Identify your changes. Share adaptations under CC BY-SA 4.0 or a permitted compatible license. Do not add restrictions that conflict with the license.</ns0:t>
            </ns0:r>
          </ns0:p>
        </p:txBody>
      </p:sp>
      <p:sp>
        <p:nvSpPr>
          <p:cNvPr id="5" name="Third-party artwork retains its credited license. Preserve the source, creator, license, and cropping/resizing notices when reusing it. See the Sources &amp; Attribution slid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914775"/>
            <a:ext cx="790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Third-party artwork retains its credited license. Preserve the source, creator, license, and cropping/resizing notices when reusing it. See the Sources &amp; Attribution slides.</ns0:t>
            </ns0:r>
          </ns0:p>
        </p:txBody>
      </p:sp>
      <p:sp>
        <p:nvSpPr>
          <p:cNvPr id="6" name="creativecommons.org/licenses/by-sa/4.0/">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743450"/>
            <a:ext cx="790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u="sng">
                <ns0:solidFill>
                  <ns0:srgbClr val="0097A7"/>
                </ns0:solidFill>
                <ns0:latin typeface="Arial"/>
                <ns0:hlinkClick xmlns:ns1="http://schemas.openxmlformats.org/officeDocument/2006/relationships" ns1:id="rIdLicense"/>
              </ns0:rPr>
              <ns0:t>creativecommons.org/licenses/by-sa/4.0/</ns0:t>
            </ns0:r>
          </ns0:p>
        </p:txBody>
      </p:sp>
    </p:spTree>
    <p:extLst>
      <p:ext uri="{BB962C8B-B14F-4D97-AF65-F5344CB8AC3E}">
        <p14:creationId xmlns:p14="http://schemas.microsoft.com/office/powerpoint/2010/main" val="193532192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Project Not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333375"/>
            <a:ext cx="803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Project Notes</ns0:t>
            </ns0:r>
          </ns0:p>
        </p:txBody>
      </p:sp>
      <p:sp>
        <p:nvSpPr>
          <p:cNvPr id="2" name="Independent projec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1430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Independent project</ns0:t>
            </ns0:r>
          </ns0:p>
        </p:txBody>
      </p:sp>
      <p:sp>
        <p:nvSpPr>
          <p:cNvPr id="3" name="Independent project noti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1581150"/>
            <a:ext cx="790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ea typeface="Noto Sans CJK JP"/>
              </ns0:rPr>
              <ns0:t>This workbook is an independent personal project created by
Soreasan / ソレアサン.</ns0:t>
            </ns0:r>
          </ns0:p>
        </p:txBody>
      </p:sp>
      <p:sp>
        <p:nvSpPr>
          <p:cNvPr id="4" name="Please direct questions, corrections, and concerns about this workbook to the creato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2571750"/>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Please direct questions, corrections, and concerns about this workbook to the creator.</ns0:t>
            </ns0:r>
          </ns0:p>
        </p:txBody>
      </p:sp>
      <p:sp>
        <p:nvSpPr>
          <p:cNvPr id="5" name="AI assistan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3147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1">
                <ns0:solidFill>
                  <ns0:srgbClr val="000000"/>
                </ns0:solidFill>
                <ns0:latin typeface="Arial"/>
              </ns0:rPr>
              <ns0:t>AI assistance</ns0:t>
            </ns0:r>
          </ns0:p>
        </p:txBody>
      </p:sp>
      <p:sp>
        <p:nvSpPr>
          <p:cNvPr id="6" name="AI tools assisted with slide organization, layout, and drafting. Artwork sources are credited separately.">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752850"/>
            <a:ext cx="790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900" b="0">
                <ns0:solidFill>
                  <ns0:srgbClr val="000000"/>
                </ns0:solidFill>
                <ns0:latin typeface="Arial"/>
              </ns0:rPr>
              <ns0:t>AI tools assisted with slide organization, layout, and drafting. Artwork sources are credited separately.</ns0:t>
            </ns0:r>
          </ns0:p>
        </p:txBody>
      </p:sp>
      <p:sp>
        <p:nvSpPr>
          <p:cNvPr id="7" name="Provided as-is, without warranties. Please review the material before teaching or adapting i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55295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rPr>
              <ns0:t>Provided as-is, without warranties. Please review the material before teaching or adapting it.</ns0:t>
            </ns0:r>
          </ns0:p>
        </p:txBody>
      </p:sp>
    </p:spTree>
    <p:extLst>
      <p:ext uri="{BB962C8B-B14F-4D97-AF65-F5344CB8AC3E}">
        <p14:creationId xmlns:p14="http://schemas.microsoft.com/office/powerpoint/2010/main" val="193532192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Katakana at a Glan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52450" y="285750"/>
            <a:ext cx="8039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ea typeface="Noto Sans CJK JP"/>
              </ns0:rPr>
              <ns0:t>Katakana at a Glance</ns0:t>
            </ns0:r>
          </ns0:p>
        </p:txBody>
      </p:sp>
      <p:sp>
        <p:nvSpPr>
          <p:cNvPr id="3" name="Basic kataka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9525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900" b="1">
                <ns0:solidFill>
                  <ns0:srgbClr val="595959"/>
                </ns0:solidFill>
                <ns0:latin typeface="Arial"/>
                <ns0:ea typeface="Noto Sans CJK JP"/>
              </ns0:rPr>
              <ns0:t>Basic katakana</ns0:t>
            </ns0:r>
          </ns0:p>
        </p:txBody>
      </p:sp>
      <p:sp>
        <p:nvSpPr>
          <p:cNvPr id="10" nam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
            </ns0:r>
          </ns0:p>
        </p:txBody>
      </p:sp>
      <p:sp>
        <p:nvSpPr>
          <p:cNvPr id="11" name="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k</ns0:t>
            </ns0:r>
          </ns0:p>
        </p:txBody>
      </p:sp>
      <p:sp>
        <p:nvSpPr>
          <p:cNvPr id="12" nam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s</ns0:t>
            </ns0:r>
          </ns0:p>
        </p:txBody>
      </p:sp>
      <p:sp>
        <p:nvSpPr>
          <p:cNvPr id="13" name="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t</ns0:t>
            </ns0:r>
          </ns0:p>
        </p:txBody>
      </p:sp>
      <p:sp>
        <p:nvSpPr>
          <p:cNvPr id="14" nam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n</ns0:t>
            </ns0:r>
          </ns0:p>
        </p:txBody>
      </p:sp>
      <p:sp>
        <p:nvSpPr>
          <p:cNvPr id="15" name="h">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h</ns0:t>
            </ns0:r>
          </ns0:p>
        </p:txBody>
      </p:sp>
      <p:sp>
        <p:nvSpPr>
          <p:cNvPr id="16" name="m">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m</ns0:t>
            </ns0:r>
          </ns0:p>
        </p:txBody>
      </p:sp>
      <p:sp>
        <p:nvSpPr>
          <p:cNvPr id="17" name="y">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y</ns0:t>
            </ns0:r>
          </ns0:p>
        </p:txBody>
      </p:sp>
      <p:sp>
        <p:nvSpPr>
          <p:cNvPr id="18" nam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r</ns0:t>
            </ns0:r>
          </ns0:p>
        </p:txBody>
      </p:sp>
      <p:sp>
        <p:nvSpPr>
          <p:cNvPr id="19" name="w">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67200" y="1333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200" b="0">
                <ns0:solidFill>
                  <ns0:srgbClr val="000000"/>
                </ns0:solidFill>
                <ns0:latin typeface="Arial"/>
                <ns0:ea typeface="Noto Sans CJK JP"/>
              </ns0:rPr>
              <ns0:t>w</ns0:t>
            </ns0:r>
          </ns0:p>
        </p:txBody>
      </p:sp>
      <p:sp>
        <p:nvSpPr>
          <p:cNvPr id="30" name="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167640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a</ns0:t>
            </ns0:r>
          </ns0:p>
        </p:txBody>
      </p:sp>
      <p:sp>
        <p:nvSpPr>
          <p:cNvPr id="40" name="ア">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ア</ns0:t>
            </ns0:r>
          </ns0:p>
        </p:txBody>
      </p:sp>
      <p:sp>
        <p:nvSpPr>
          <p:cNvPr id="41" name="カ">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カ</ns0:t>
            </ns0:r>
          </ns0:p>
        </p:txBody>
      </p:sp>
      <p:sp>
        <p:nvSpPr>
          <p:cNvPr id="42" name="サ">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サ</ns0:t>
            </ns0:r>
          </ns0:p>
        </p:txBody>
      </p:sp>
      <p:sp>
        <p:nvSpPr>
          <p:cNvPr id="43" name="タ">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タ</ns0:t>
            </ns0:r>
          </ns0:p>
        </p:txBody>
      </p:sp>
      <p:sp>
        <p:nvSpPr>
          <p:cNvPr id="44" name="ナ">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ナ</ns0:t>
            </ns0:r>
          </ns0:p>
        </p:txBody>
      </p:sp>
      <p:sp>
        <p:nvSpPr>
          <p:cNvPr id="45" name="ハ">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ハ</ns0:t>
            </ns0:r>
          </ns0:p>
        </p:txBody>
      </p:sp>
      <p:sp>
        <p:nvSpPr>
          <p:cNvPr id="46" name="マ">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マ</ns0:t>
            </ns0:r>
          </ns0:p>
        </p:txBody>
      </p:sp>
      <p:sp>
        <p:nvSpPr>
          <p:cNvPr id="47" name="ヤ">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ヤ</ns0:t>
            </ns0:r>
          </ns0:p>
        </p:txBody>
      </p:sp>
      <p:sp>
        <p:nvSpPr>
          <p:cNvPr id="48" name="ラ">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ラ</ns0:t>
            </ns0:r>
          </ns0:p>
        </p:txBody>
      </p:sp>
      <p:sp>
        <p:nvSpPr>
          <p:cNvPr id="49" name="ワ">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67200" y="1619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ワ</ns0:t>
            </ns0:r>
          </ns0:p>
        </p:txBody>
      </p:sp>
      <p:sp>
        <p:nvSpPr>
          <p:cNvPr id="31" name="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03835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i</ns0:t>
            </ns0:r>
          </ns0:p>
        </p:txBody>
      </p:sp>
      <p:sp>
        <p:nvSpPr>
          <p:cNvPr id="50" name="イ">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イ</ns0:t>
            </ns0:r>
          </ns0:p>
        </p:txBody>
      </p:sp>
      <p:sp>
        <p:nvSpPr>
          <p:cNvPr id="51" name="キ">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キ</ns0:t>
            </ns0:r>
          </ns0:p>
        </p:txBody>
      </p:sp>
      <p:sp>
        <p:nvSpPr>
          <p:cNvPr id="52" name="シ">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シ</ns0:t>
            </ns0:r>
          </ns0:p>
        </p:txBody>
      </p:sp>
      <p:sp>
        <p:nvSpPr>
          <p:cNvPr id="53" name="チ">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チ</ns0:t>
            </ns0:r>
          </ns0:p>
        </p:txBody>
      </p:sp>
      <p:sp>
        <p:nvSpPr>
          <p:cNvPr id="54" name="ニ">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ニ</ns0:t>
            </ns0:r>
          </ns0:p>
        </p:txBody>
      </p:sp>
      <p:sp>
        <p:nvSpPr>
          <p:cNvPr id="55" name="ヒ">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ヒ</ns0:t>
            </ns0:r>
          </ns0:p>
        </p:txBody>
      </p:sp>
      <p:sp>
        <p:nvSpPr>
          <p:cNvPr id="56" name="ミ">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ミ</ns0:t>
            </ns0:r>
          </ns0:p>
        </p:txBody>
      </p:sp>
      <p:sp>
        <p:nvSpPr>
          <p:cNvPr id="58" name="リ">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1981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リ</ns0:t>
            </ns0:r>
          </ns0:p>
        </p:txBody>
      </p:sp>
      <p:sp>
        <p:nvSpPr>
          <p:cNvPr id="32" name="u">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40030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u</ns0:t>
            </ns0:r>
          </ns0:p>
        </p:txBody>
      </p:sp>
      <p:sp>
        <p:nvSpPr>
          <p:cNvPr id="60" name="ウ">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ウ</ns0:t>
            </ns0:r>
          </ns0:p>
        </p:txBody>
      </p:sp>
      <p:sp>
        <p:nvSpPr>
          <p:cNvPr id="61" name="ク">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ク</ns0:t>
            </ns0:r>
          </ns0:p>
        </p:txBody>
      </p:sp>
      <p:sp>
        <p:nvSpPr>
          <p:cNvPr id="62" name="ス">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ス</ns0:t>
            </ns0:r>
          </ns0:p>
        </p:txBody>
      </p:sp>
      <p:sp>
        <p:nvSpPr>
          <p:cNvPr id="63" name="ツ">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ツ</ns0:t>
            </ns0:r>
          </ns0:p>
        </p:txBody>
      </p:sp>
      <p:sp>
        <p:nvSpPr>
          <p:cNvPr id="64" name="ヌ">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ヌ</ns0:t>
            </ns0:r>
          </ns0:p>
        </p:txBody>
      </p:sp>
      <p:sp>
        <p:nvSpPr>
          <p:cNvPr id="65" name="フ">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フ</ns0:t>
            </ns0:r>
          </ns0:p>
        </p:txBody>
      </p:sp>
      <p:sp>
        <p:nvSpPr>
          <p:cNvPr id="66" name="ム">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ム</ns0:t>
            </ns0:r>
          </ns0:p>
        </p:txBody>
      </p:sp>
      <p:sp>
        <p:nvSpPr>
          <p:cNvPr id="67" name="ユ">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ユ</ns0:t>
            </ns0:r>
          </ns0:p>
        </p:txBody>
      </p:sp>
      <p:sp>
        <p:nvSpPr>
          <p:cNvPr id="68" name="ル">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23431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ル</ns0:t>
            </ns0:r>
          </ns0:p>
        </p:txBody>
      </p:sp>
      <p:sp>
        <p:nvSpPr>
          <p:cNvPr id="33" name="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76225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e</ns0:t>
            </ns0:r>
          </ns0:p>
        </p:txBody>
      </p:sp>
      <p:sp>
        <p:nvSpPr>
          <p:cNvPr id="7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エ</ns0:t>
            </ns0:r>
          </ns0:p>
        </p:txBody>
      </p:sp>
      <p:sp>
        <p:nvSpPr>
          <p:cNvPr id="71" name="ケ">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ケ</ns0:t>
            </ns0:r>
          </ns0:p>
        </p:txBody>
      </p:sp>
      <p:sp>
        <p:nvSpPr>
          <p:cNvPr id="72" name="セ">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セ</ns0:t>
            </ns0:r>
          </ns0:p>
        </p:txBody>
      </p:sp>
      <p:sp>
        <p:nvSpPr>
          <p:cNvPr id="73" name="テ">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テ</ns0:t>
            </ns0:r>
          </ns0:p>
        </p:txBody>
      </p:sp>
      <p:sp>
        <p:nvSpPr>
          <p:cNvPr id="74" name="ネ">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ネ</ns0:t>
            </ns0:r>
          </ns0:p>
        </p:txBody>
      </p:sp>
      <p:sp>
        <p:nvSpPr>
          <p:cNvPr id="75" name="ヘ">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ヘ</ns0:t>
            </ns0:r>
          </ns0:p>
        </p:txBody>
      </p:sp>
      <p:sp>
        <p:nvSpPr>
          <p:cNvPr id="76" name="メ">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メ</ns0:t>
            </ns0:r>
          </ns0:p>
        </p:txBody>
      </p:sp>
      <p:sp>
        <p:nvSpPr>
          <p:cNvPr id="78" name="レ">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27051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レ</ns0:t>
            </ns0:r>
          </ns0:p>
        </p:txBody>
      </p:sp>
      <p:sp>
        <p:nvSpPr>
          <p:cNvPr id="34" name="o">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124200"/>
            <a:ext cx="22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300" b="0">
                <ns0:solidFill>
                  <ns0:srgbClr val="000000"/>
                </ns0:solidFill>
                <ns0:latin typeface="Arial"/>
                <ns0:ea typeface="Noto Sans CJK JP"/>
              </ns0:rPr>
              <ns0:t>o</ns0:t>
            </ns0:r>
          </ns0:p>
        </p:txBody>
      </p:sp>
      <p:sp>
        <p:nvSpPr>
          <p:cNvPr id="80" name="オ">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オ</ns0:t>
            </ns0:r>
          </ns0:p>
        </p:txBody>
      </p:sp>
      <p:sp>
        <p:nvSpPr>
          <p:cNvPr id="81" name="コ">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668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コ</ns0:t>
            </ns0:r>
          </ns0:p>
        </p:txBody>
      </p:sp>
      <p:sp>
        <p:nvSpPr>
          <p:cNvPr id="82" name="ソ">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668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ソ</ns0:t>
            </ns0:r>
          </ns0:p>
        </p:txBody>
      </p:sp>
      <p:sp>
        <p:nvSpPr>
          <p:cNvPr id="83" name="ト">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8669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ト</ns0:t>
            </ns0:r>
          </ns0:p>
        </p:txBody>
      </p:sp>
      <p:sp>
        <p:nvSpPr>
          <p:cNvPr id="84" name="ノ">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2669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ノ</ns0:t>
            </ns0:r>
          </ns0:p>
        </p:txBody>
      </p:sp>
      <p:sp>
        <p:nvSpPr>
          <p:cNvPr id="85" name="ホ">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670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ホ</ns0:t>
            </ns0:r>
          </ns0:p>
        </p:txBody>
      </p:sp>
      <p:sp>
        <p:nvSpPr>
          <p:cNvPr id="86" name="モ">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670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モ</ns0:t>
            </ns0:r>
          </ns0:p>
        </p:txBody>
      </p:sp>
      <p:sp>
        <p:nvSpPr>
          <p:cNvPr id="87" name="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4671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ヨ</ns0:t>
            </ns0:r>
          </ns0:p>
        </p:txBody>
      </p:sp>
      <p:sp>
        <p:nvSpPr>
          <p:cNvPr id="88" name="ロ">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86715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ロ</ns0:t>
            </ns0:r>
          </ns0:p>
        </p:txBody>
      </p:sp>
      <p:sp>
        <p:nvSpPr>
          <p:cNvPr id="89" name="ヲ">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67200" y="3067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200" b="0">
                <ns0:solidFill>
                  <ns0:srgbClr val="000000"/>
                </ns0:solidFill>
                <ns0:latin typeface="Arial"/>
                <ns0:ea typeface="Noto Sans CJK JP"/>
              </ns0:rPr>
              <ns0:t>ヲ</ns0:t>
            </ns0:r>
          </ns0:p>
        </p:txBody>
      </p:sp>
      <p:sp>
        <p:nvSpPr>
          <p:cNvPr id="100" name="ン  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42950" y="3543300"/>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900" b="0">
                <ns0:solidFill>
                  <ns0:srgbClr val="000000"/>
                </ns0:solidFill>
                <ns0:latin typeface="Arial"/>
                <ns0:ea typeface="Noto Sans CJK JP"/>
              </ns0:rPr>
              <ns0:t>ン  n</ns0:t>
            </ns0:r>
          </ns0:p>
        </p:txBody>
      </p:sp>
      <p:sp>
        <p:nvSpPr>
          <p:cNvPr id="101" name="Dakuten ゛ and handakuten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048250" y="9525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900" b="1">
                <ns0:solidFill>
                  <ns0:srgbClr val="595959"/>
                </ns0:solidFill>
                <ns0:latin typeface="Arial"/>
                <ns0:ea typeface="Noto Sans CJK JP"/>
              </ns0:rPr>
              <ns0:t>Dakuten ゛ and handakuten ゜</ns0:t>
            </ns0:r>
          </ns0:p>
        </p:txBody>
      </p:sp>
      <p:sp>
        <p:nvSpPr>
          <p:cNvPr id="110" name="ガ ギ グ ゲ ゴ   (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13525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ガ ギ グ ゲ ゴ   (g)</ns0:t>
            </ns0:r>
          </ns0:p>
        </p:txBody>
      </p:sp>
      <p:sp>
        <p:nvSpPr>
          <p:cNvPr id="111" name="ザ ジ ズ ゼ ゾ   (z / j)">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166687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ザ ジ ズ ゼ ゾ   (z / j)</ns0:t>
            </ns0:r>
          </ns0:p>
        </p:txBody>
      </p:sp>
      <p:sp>
        <p:nvSpPr>
          <p:cNvPr id="112" name="ダ ヂ ヅ デ ド   (d / j / z)">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198120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ダ ヂ ヅ デ ド   (d / j / z)</ns0:t>
            </ns0:r>
          </ns0:p>
        </p:txBody>
      </p:sp>
      <p:sp>
        <p:nvSpPr>
          <p:cNvPr id="113" name="バ ビ ブ ベ ボ   (b)">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229552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バ ビ ブ ベ ボ   (b)</ns0:t>
            </ns0:r>
          </ns0:p>
        </p:txBody>
      </p:sp>
      <p:sp>
        <p:nvSpPr>
          <p:cNvPr id="114" name="パ ピ プ ペ ポ   (p)">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26098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0">
                <ns0:solidFill>
                  <ns0:srgbClr val="000000"/>
                </ns0:solidFill>
                <ns0:latin typeface="Arial"/>
                <ns0:ea typeface="Noto Sans CJK JP"/>
              </ns0:rPr>
              <ns0:t>パ ピ プ ペ ポ   (p)</ns0:t>
            </ns0:r>
          </ns0:p>
        </p:txBody>
      </p:sp>
      <p:sp>
        <p:nvSpPr>
          <p:cNvPr id="120" name="Small ャ・ュ・ョ combination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048250" y="30194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750" b="1">
                <ns0:solidFill>
                  <ns0:srgbClr val="595959"/>
                </ns0:solidFill>
                <ns0:latin typeface="Arial"/>
                <ns0:ea typeface="Noto Sans CJK JP"/>
              </ns0:rPr>
              <ns0:t>Small ャ・ュ・ョ combinations</ns0:t>
            </ns0:r>
          </ns0:p>
        </p:txBody>
      </p:sp>
      <p:sp>
        <p:nvSpPr>
          <p:cNvPr id="130" name="キャ キュ キョ     シャ シュ ショ">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3623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キャ キュ キョ     シャ シュ ショ</ns0:t>
            </ns0:r>
          </ns0:p>
        </p:txBody>
      </p:sp>
      <p:sp>
        <p:nvSpPr>
          <p:cNvPr id="131" name="チャ チュ チョ     ニャ ニュ ニョ">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5528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チャ チュ チョ     ニャ ニュ ニョ</ns0:t>
            </ns0:r>
          </ns0:p>
        </p:txBody>
      </p:sp>
      <p:sp>
        <p:nvSpPr>
          <p:cNvPr id="132" name="ヒャ ヒュ ヒョ     ミャ ミュ ミョ">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7433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ヒャ ヒュ ヒョ     ミャ ミュ ミョ</ns0:t>
            </ns0:r>
          </ns0:p>
        </p:txBody>
      </p:sp>
      <p:sp>
        <p:nvSpPr>
          <p:cNvPr id="133" name="リャ リュ リョ     ギャ ギュ ギョ">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39338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リャ リュ リョ     ギャ ギュ ギョ</ns0:t>
            </ns0:r>
          </ns0:p>
        </p:txBody>
      </p:sp>
      <p:sp>
        <p:nvSpPr>
          <p:cNvPr id="134" name="ジャ ジュ ジョ     ビャ ビュ ビョ">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41243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ジャ ジュ ジョ     ビャ ビュ ビョ</ns0:t>
            </ns0:r>
          </ns0:p>
        </p:txBody>
      </p:sp>
      <p:sp>
        <p:nvSpPr>
          <p:cNvPr id="135" name="ピャ ピュ ピョ">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143500" y="43148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300" b="0">
                <ns0:solidFill>
                  <ns0:srgbClr val="000000"/>
                </ns0:solidFill>
                <ns0:latin typeface="Arial"/>
                <ns0:ea typeface="Noto Sans CJK JP"/>
              </ns0:rPr>
              <ns0:t>ピャ ピュ ピョ</ns0:t>
            </ns0:r>
          </ns0:p>
        </p:txBody>
      </p:sp>
      <p:sp xmlns:a="http://schemas.openxmlformats.org/drawingml/2006/main" xmlns:r="http://schemas.openxmlformats.org/officeDocument/2006/relationships">
        <p:nvSpPr>
          <p:cNvPr id="150" name="Chart attribution"/>
          <p:cNvSpPr txBox="1"/>
          <p:nvPr/>
        </p:nvSpPr>
        <p:spPr>
          <a:xfrm>
            <a:off x="619125" y="4667250"/>
            <a:ext cx="7905750" cy="342900"/>
          </a:xfrm>
          <a:prstGeom prst="rect">
            <a:avLst/>
          </a:prstGeom>
          <a:noFill/>
          <a:ln>
            <a:noFill/>
          </a:ln>
        </p:spPr>
        <p:txBody>
          <a:bodyPr anchorCtr="0" anchor="t" bIns="0" lIns="91425" spcFirstLastPara="1" rIns="91425" wrap="square" tIns="0">
            <a:spAutoFit/>
          </a:bodyPr>
          <a:lstStyle/>
          <a:p>
            <a:pPr algn="ctr">
              <a:buNone/>
            </a:pPr>
            <a:r>
              <a:rPr sz="1050" lang="en" b="1">
                <a:solidFill>
                  <a:schemeClr val="dk1"/>
                </a:solidFill>
              </a:rPr>
              <a:t>Chart:</a:t>
            </a:r>
            <a:r>
              <a:rPr sz="1050" lang="en">
                <a:solidFill>
                  <a:schemeClr val="dk1"/>
                </a:solidFill>
              </a:rPr>
              <a:t> TealComet, </a:t>
            </a:r>
            <a:r>
              <a:rPr sz="1050" lang="en" i="1" u="sng">
                <a:solidFill>
                  <a:schemeClr val="hlink"/>
                </a:solidFill>
                <a:hlinkClick r:id="rIdChartSource"/>
              </a:rPr>
              <a:t>Katakana Chart Seion Dakuon Yoon</a:t>
            </a:r>
            <a:r>
              <a:rPr sz="1050" lang="en">
                <a:solidFill>
                  <a:schemeClr val="dk1"/>
                </a:solidFill>
              </a:rPr>
              <a:t> — </a:t>
            </a:r>
            <a:r>
              <a:rPr sz="1050" lang="en" u="sng">
                <a:solidFill>
                  <a:schemeClr val="hlink"/>
                </a:solidFill>
                <a:hlinkClick r:id="rIdChartLicense"/>
              </a:rPr>
              <a:t>CC0 1.0</a:t>
            </a:r>
          </a:p>
          <a:p>
            <a:pPr algn="ctr">
              <a:buNone/>
            </a:pPr>
            <a:r>
              <a:rPr sz="1050" lang="en">
                <a:solidFill>
                  <a:schemeClr val="dk1"/>
                </a:solidFill>
              </a:rPr>
              <a:t>Wikimedia Commons · Adapted layout; basic-row positions corrected; common combinations shown</a:t>
            </a:r>
          </a:p>
        </p:txBody>
      </p:sp>
    </p:spTree>
    <p:extLst>
      <p:ext uri="{BB962C8B-B14F-4D97-AF65-F5344CB8AC3E}">
        <p14:creationId xmlns:p14="http://schemas.microsoft.com/office/powerpoint/2010/main" val="193532192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Katakana Sound Ru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ea typeface="Noto Sans CJK JP"/>
              </ns0:rPr>
              <ns0:t>Katakana Sound Rules</ns0:t>
            </ns0:r>
          </ns0:p>
        </p:txBody>
      </p:sp>
      <p:sp>
        <p:nvSpPr>
          <p:cNvPr id="10" name="ハ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29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ハ + ゛</ns0:t>
            </ns0:r>
          </ns0:p>
        </p:txBody>
      </p:sp>
      <p:sp>
        <p:nvSpPr>
          <p:cNvPr id="20" name="バ">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バ</ns0:t>
            </ns0:r>
          </ns0:p>
        </p:txBody>
      </p:sp>
      <p:sp>
        <p:nvSpPr>
          <p:cNvPr id="30" name="b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ba</ns0:t>
            </ns0:r>
          </ns0:p>
        </p:txBody>
      </p:sp>
      <p:sp>
        <p:nvSpPr>
          <p:cNvPr id="40" name="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Dakuten</ns0:t>
            </ns0:r>
          </ns0:p>
        </p:txBody>
      </p:sp>
      <p:sp>
        <p:nvSpPr>
          <p:cNvPr id="11" name="ハ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6384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ハ + ゜</ns0:t>
            </ns0:r>
          </ns0:p>
        </p:txBody>
      </p:sp>
      <p:sp>
        <p:nvSpPr>
          <p:cNvPr id="21" name="パ">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パ</ns0:t>
            </ns0:r>
          </ns0:p>
        </p:txBody>
      </p:sp>
      <p:sp>
        <p:nvSpPr>
          <p:cNvPr id="31" name="p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pa</ns0:t>
            </ns0:r>
          </ns0:p>
        </p:txBody>
      </p:sp>
      <p:sp>
        <p:nvSpPr>
          <p:cNvPr id="41" name="Han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Handakuten</ns0:t>
            </ns0:r>
          </ns0:p>
        </p:txBody>
      </p:sp>
      <p:sp>
        <p:nvSpPr>
          <p:cNvPr id="12" name="キ + small 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キ + small ャ</ns0:t>
            </ns0:r>
          </ns0:p>
        </p:txBody>
      </p:sp>
      <p:sp>
        <p:nvSpPr>
          <p:cNvPr id="22" name="キ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キャ</ns0:t>
            </ns0:r>
          </ns0:p>
        </p:txBody>
      </p:sp>
      <p:sp>
        <p:nvSpPr>
          <p:cNvPr id="32" name="ky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kya</ns0:t>
            </ns0:r>
          </ns0:p>
        </p:txBody>
      </p:sp>
      <p:sp>
        <p:nvSpPr>
          <p:cNvPr id="42" name="Combined soun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Combined sounds</ns0:t>
            </ns0:r>
          </ns0:p>
        </p:txBody>
      </p:sp>
      <p:sp>
        <p:nvSpPr>
          <p:cNvPr id="13" name="テ + small 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16192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テ + small ィ</ns0:t>
            </ns0:r>
          </ns0:p>
        </p:txBody>
      </p:sp>
      <p:sp>
        <p:nvSpPr>
          <p:cNvPr id="23" name="テ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2190750"/>
            <a:ext cx="200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5100" b="0">
                <ns0:solidFill>
                  <ns0:srgbClr val="000000"/>
                </ns0:solidFill>
                <ns0:latin typeface="Arial"/>
                <ns0:ea typeface="Noto Sans CJK JP"/>
              </ns0:rPr>
              <ns0:t>ティ</ns0:t>
            </ns0:r>
          </ns0:p>
        </p:txBody>
      </p:sp>
      <p:sp>
        <p:nvSpPr>
          <p:cNvPr id="33" name="ti">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31908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ti</ns0:t>
            </ns0:r>
          </ns0:p>
        </p:txBody>
      </p:sp>
      <p:sp>
        <p:nvSpPr>
          <p:cNvPr id="43" name="Loanword soun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37147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1">
                <ns0:solidFill>
                  <ns0:srgbClr val="595959"/>
                </ns0:solidFill>
                <ns0:latin typeface="Arial"/>
                <ns0:ea typeface="Noto Sans CJK JP"/>
              </ns0:rPr>
              <ns0:t>Loanword sounds</ns0:t>
            </ns0:r>
          </ns0:p>
        </p:txBody>
      </p:sp>
      <p:sp>
        <p:nvSpPr>
          <p:cNvPr id="50" name="Also in this section: long vowels ー and small ッ">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4619625"/>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Also in this section: long vowels ー and small ッ</ns0:t>
            </ns0:r>
          </ns0:p>
        </p:txBody>
      </p:sp>
    </p:spTree>
    <p:extLst>
      <p:ext uri="{BB962C8B-B14F-4D97-AF65-F5344CB8AC3E}">
        <p14:creationId xmlns:p14="http://schemas.microsoft.com/office/powerpoint/2010/main" val="1935321925"/>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About &amp; Credit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3333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000" b="1">
                <ns0:solidFill>
                  <ns0:srgbClr val="595959"/>
                </ns0:solidFill>
                <ns0:latin typeface="Arial"/>
              </ns0:rPr>
              <ns0:t>About &amp; Credits</ns0:t>
            </ns0:r>
          </ns0:p>
        </p:txBody>
      </p:sp>
      <p:sp>
        <p:nvSpPr>
          <p:cNvPr id="10" name="Project Not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1">
                <ns0:solidFill>
                  <ns0:srgbClr val="595959"/>
                </ns0:solidFill>
                <ns0:latin typeface="Arial"/>
              </ns0:rPr>
              <ns0:t>Project Notes</ns0:t>
            </ns0:r>
          </ns0:p>
        </p:txBody>
      </p:sp>
      <p:sp>
        <p:nvSpPr>
          <p:cNvPr id="20" name="About the creator&#10;and AI assistanc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304800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About the creator
and AI assistance</ns0:t>
            </ns0:r>
          </ns0:p>
        </p:txBody>
      </p:sp>
      <p:sp>
        <p:nvSpPr>
          <p:cNvPr id="11" name="Sharing &amp;&#10;Licensing">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286125"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1">
                <ns0:solidFill>
                  <ns0:srgbClr val="595959"/>
                </ns0:solidFill>
                <ns0:latin typeface="Arial"/>
              </ns0:rPr>
              <ns0:t>Sharing &amp;
Licensing</ns0:t>
            </ns0:r>
          </ns0:p>
        </p:txBody>
      </p:sp>
      <p:sp>
        <p:nvSpPr>
          <p:cNvPr id="21" name="How to reuse and&#10;adapt the workbook">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286125" y="304800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How to reuse and
adapt the workbook</ns0:t>
            </ns0:r>
          </ns0:p>
        </p:txBody>
      </p:sp>
      <p:sp>
        <p:nvSpPr>
          <p:cNvPr id="12" name="Sources &amp;&#10;Attributio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048375" y="19050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1">
                <ns0:solidFill>
                  <ns0:srgbClr val="595959"/>
                </ns0:solidFill>
                <ns0:latin typeface="Arial"/>
              </ns0:rPr>
              <ns0:t>Sources &amp;
Attribution</ns0:t>
            </ns0:r>
          </ns0:p>
        </p:txBody>
      </p:sp>
      <p:sp>
        <p:nvSpPr>
          <p:cNvPr id="22" name="Artwork creators&#10;and original sourc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048375" y="3048000"/>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800" b="0">
                <ns0:solidFill>
                  <ns0:srgbClr val="000000"/>
                </ns0:solidFill>
                <ns0:latin typeface="Arial"/>
              </ns0:rPr>
              <ns0:t>Artwork creators
and original sources</ns0:t>
            </ns0:r>
          </ns0:p>
        </p:txBody>
      </p:sp>
    </p:spTree>
    <p:extLst>
      <p:ext uri="{BB962C8B-B14F-4D97-AF65-F5344CB8AC3E}">
        <p14:creationId xmlns:p14="http://schemas.microsoft.com/office/powerpoint/2010/main" val="1935321925"/>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Vowels</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pic xmlns:a="http://schemas.openxmlformats.org/drawingml/2006/main" xmlns:r="http://schemas.openxmlformats.org/officeDocument/2006/relationships">
        <p:nvPicPr>
          <p:cNvPr id="150" name="Stroke order ア"/>
          <p:cNvPicPr preferRelativeResize="0"/>
          <p:nvPr/>
        </p:nvPicPr>
        <p:blipFill>
          <a:blip r:embed="rIdStroke0">
            <a:alphaModFix/>
          </a:blip>
          <a:stretch>
            <a:fillRect/>
          </a:stretch>
        </p:blipFill>
        <p:spPr>
          <a:xfrm>
            <a:off x="933704" y="952500"/>
            <a:ext cx="704342" cy="944118"/>
          </a:xfrm>
          <a:prstGeom prst="rect">
            <a:avLst/>
          </a:prstGeom>
          <a:noFill/>
          <a:ln>
            <a:noFill/>
          </a:ln>
        </p:spPr>
      </p:pic>
      <p:pic xmlns:a="http://schemas.openxmlformats.org/drawingml/2006/main" xmlns:r="http://schemas.openxmlformats.org/officeDocument/2006/relationships">
        <p:nvPicPr>
          <p:cNvPr id="151" name="Stroke order イ"/>
          <p:cNvPicPr preferRelativeResize="0"/>
          <p:nvPr/>
        </p:nvPicPr>
        <p:blipFill>
          <a:blip r:embed="rIdStroke1">
            <a:alphaModFix/>
          </a:blip>
          <a:stretch>
            <a:fillRect/>
          </a:stretch>
        </p:blipFill>
        <p:spPr>
          <a:xfrm>
            <a:off x="2641503" y="952500"/>
            <a:ext cx="622495" cy="944118"/>
          </a:xfrm>
          <a:prstGeom prst="rect">
            <a:avLst/>
          </a:prstGeom>
          <a:noFill/>
          <a:ln>
            <a:noFill/>
          </a:ln>
        </p:spPr>
      </p:pic>
      <p:pic xmlns:a="http://schemas.openxmlformats.org/drawingml/2006/main" xmlns:r="http://schemas.openxmlformats.org/officeDocument/2006/relationships">
        <p:nvPicPr>
          <p:cNvPr id="152" name="Stroke order ウ"/>
          <p:cNvPicPr preferRelativeResize="0"/>
          <p:nvPr/>
        </p:nvPicPr>
        <p:blipFill>
          <a:blip r:embed="rIdStroke2">
            <a:alphaModFix/>
          </a:blip>
          <a:stretch>
            <a:fillRect/>
          </a:stretch>
        </p:blipFill>
        <p:spPr>
          <a:xfrm>
            <a:off x="4295857" y="952500"/>
            <a:ext cx="647537" cy="944118"/>
          </a:xfrm>
          <a:prstGeom prst="rect">
            <a:avLst/>
          </a:prstGeom>
          <a:noFill/>
          <a:ln>
            <a:noFill/>
          </a:ln>
        </p:spPr>
      </p:pic>
      <p:pic xmlns:a="http://schemas.openxmlformats.org/drawingml/2006/main" xmlns:r="http://schemas.openxmlformats.org/officeDocument/2006/relationships">
        <p:nvPicPr>
          <p:cNvPr id="153" name="Stroke order エ"/>
          <p:cNvPicPr preferRelativeResize="0"/>
          <p:nvPr/>
        </p:nvPicPr>
        <p:blipFill>
          <a:blip r:embed="rIdStroke3">
            <a:alphaModFix/>
          </a:blip>
          <a:stretch>
            <a:fillRect/>
          </a:stretch>
        </p:blipFill>
        <p:spPr>
          <a:xfrm>
            <a:off x="5947452" y="952500"/>
            <a:ext cx="678095" cy="944118"/>
          </a:xfrm>
          <a:prstGeom prst="rect">
            <a:avLst/>
          </a:prstGeom>
          <a:noFill/>
          <a:ln>
            <a:noFill/>
          </a:ln>
        </p:spPr>
      </p:pic>
      <p:pic xmlns:a="http://schemas.openxmlformats.org/drawingml/2006/main" xmlns:r="http://schemas.openxmlformats.org/officeDocument/2006/relationships">
        <p:nvPicPr>
          <p:cNvPr id="154" name="Stroke order オ"/>
          <p:cNvPicPr preferRelativeResize="0"/>
          <p:nvPr/>
        </p:nvPicPr>
        <p:blipFill>
          <a:blip r:embed="rIdStroke4">
            <a:alphaModFix/>
          </a:blip>
          <a:stretch>
            <a:fillRect/>
          </a:stretch>
        </p:blipFill>
        <p:spPr>
          <a:xfrm>
            <a:off x="7623441" y="952500"/>
            <a:ext cx="659868" cy="944118"/>
          </a:xfrm>
          <a:prstGeom prst="rect">
            <a:avLst/>
          </a:prstGeom>
          <a:noFill/>
          <a:ln>
            <a:noFill/>
          </a:ln>
        </p:spPr>
      </p:pic>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spTree>
    <p:extLst>
      <p:ext uri="{BB962C8B-B14F-4D97-AF65-F5344CB8AC3E}">
        <p14:creationId xmlns:p14="http://schemas.microsoft.com/office/powerpoint/2010/main" val="193532192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476375" y="1524000"/>
            <a:ext cx="914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エ</ns0:t>
            </ns0:r>
          </ns0:p>
        </p:txBody>
      </p:sp>
      <p:sp>
        <p:nvSpPr>
          <p:cNvPr id="30" name="Romaji answer box"/>
          <p:cNvSpPr/>
          <p:nvPr/>
        </p:nvSpPr>
        <p:spPr>
          <ns0:xfrm xmlns:ns0="http://schemas.openxmlformats.org/drawingml/2006/main">
            <ns0:off x="1476375" y="2619375"/>
            <ns0:ext cx="914400" cy="9144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1" name="ア">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71750" y="1524000"/>
            <a:ext cx="914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ア</ns0:t>
            </ns0:r>
          </ns0:p>
        </p:txBody>
      </p:sp>
      <p:sp>
        <p:nvSpPr>
          <p:cNvPr id="31" name="Romaji answer box"/>
          <p:cNvSpPr/>
          <p:nvPr/>
        </p:nvSpPr>
        <p:spPr>
          <ns4:xfrm xmlns:ns4="http://schemas.openxmlformats.org/drawingml/2006/main">
            <ns4:off x="2571750" y="2619375"/>
            <ns4:ext cx="914400" cy="914400"/>
          </ns4:xfrm>
          <ns5:prstGeom xmlns:ns5="http://schemas.openxmlformats.org/drawingml/2006/main" prst="rect">
            <ns5:avLst/>
          </ns5:prstGeom>
          <ns6:noFill xmlns:ns6="http://schemas.openxmlformats.org/drawingml/2006/main"/>
          <ns7:ln xmlns:ns7="http://schemas.openxmlformats.org/drawingml/2006/main" w="12700">
            <ns7:solidFill>
              <ns7:srgbClr val="777777"/>
            </ns7:solidFill>
          </ns7:ln>
        </p:spPr>
      </p:sp>
      <p:sp>
        <p:nvSpPr>
          <p:cNvPr id="20"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285875" y="3714750"/>
            <a:ext cx="2390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air</ns0:t>
            </ns0:r>
          </ns0:p>
        </p:txBody>
      </p:sp>
      <p:sp>
        <p:nvSpPr>
          <p:cNvPr id="15" name="ア">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667375" y="1524000"/>
            <a:ext cx="914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ア</ns0:t>
            </ns0:r>
          </ns0:p>
        </p:txBody>
      </p:sp>
      <p:sp>
        <p:nvSpPr>
          <p:cNvPr id="32" name="Romaji answer box"/>
          <p:cNvSpPr/>
          <p:nvPr/>
        </p:nvSpPr>
        <p:spPr>
          <ns8:xfrm xmlns:ns8="http://schemas.openxmlformats.org/drawingml/2006/main">
            <ns8:off x="5667375" y="2619375"/>
            <ns8:ext cx="914400" cy="914400"/>
          </ns8:xfrm>
          <ns9:prstGeom xmlns:ns9="http://schemas.openxmlformats.org/drawingml/2006/main" prst="rect">
            <ns9:avLst/>
          </ns9:prstGeom>
          <ns10:noFill xmlns:ns10="http://schemas.openxmlformats.org/drawingml/2006/main"/>
          <ns11:ln xmlns:ns11="http://schemas.openxmlformats.org/drawingml/2006/main" w="12700">
            <ns11:solidFill>
              <ns11:srgbClr val="777777"/>
            </ns11:solidFill>
          </ns11:ln>
        </p:spPr>
      </p:sp>
      <p:sp>
        <p:nvSpPr>
          <p:cNvPr id="16" name="イ">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62750" y="1524000"/>
            <a:ext cx="914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イ</ns0:t>
            </ns0:r>
          </ns0:p>
        </p:txBody>
      </p:sp>
      <p:sp>
        <p:nvSpPr>
          <p:cNvPr id="33" name="Romaji answer box"/>
          <p:cNvSpPr/>
          <p:nvPr/>
        </p:nvSpPr>
        <p:spPr>
          <ns12:xfrm xmlns:ns12="http://schemas.openxmlformats.org/drawingml/2006/main">
            <ns12:off x="6762750" y="2619375"/>
            <ns12:ext cx="914400" cy="914400"/>
          </ns12:xfrm>
          <ns13:prstGeom xmlns:ns13="http://schemas.openxmlformats.org/drawingml/2006/main" prst="rect">
            <ns13:avLst/>
          </ns13:prstGeom>
          <ns14:noFill xmlns:ns14="http://schemas.openxmlformats.org/drawingml/2006/main"/>
          <ns15:ln xmlns:ns15="http://schemas.openxmlformats.org/drawingml/2006/main" w="12700">
            <ns15:solidFill>
              <ns15:srgbClr val="777777"/>
            </ns15:solidFill>
          </ns15:ln>
        </p:spPr>
      </p:sp>
      <p:sp>
        <p:nvSpPr>
          <p:cNvPr id="21" name="ey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476875" y="3714750"/>
            <a:ext cx="2390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eye</ns0:t>
            </ns0:r>
          </ns0:p>
        </p:txBody>
      </p:sp>
    </p:spTree>
    <p:extLst>
      <p:ext uri="{BB962C8B-B14F-4D97-AF65-F5344CB8AC3E}">
        <p14:creationId xmlns:p14="http://schemas.microsoft.com/office/powerpoint/2010/main" val="1935321925"/>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K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20;p20"/>
          <p:cNvPicPr preferRelativeResize="0"/>
          <p:nvPr/>
        </p:nvPicPr>
        <p:blipFill>
          <a:blip r:embed="rIdStroke0">
            <a:alphaModFix/>
          </a:blip>
          <a:stretch>
            <a:fillRect/>
          </a:stretch>
        </p:blipFill>
        <p:spPr>
          <a:xfrm>
            <a:off x="923574" y="952500"/>
            <a:ext cx="724602" cy="942975"/>
          </a:xfrm>
          <a:prstGeom prst="rect">
            <a:avLst/>
          </a:prstGeom>
          <a:noFill/>
          <a:ln>
            <a:noFill/>
          </a:ln>
        </p:spPr>
      </p:pic>
      <p:pic xmlns:a="http://schemas.openxmlformats.org/drawingml/2006/main" xmlns:r="http://schemas.openxmlformats.org/officeDocument/2006/relationships">
        <p:nvPicPr>
          <p:cNvPr id="151" name="Google Shape;130;p21"/>
          <p:cNvPicPr preferRelativeResize="0"/>
          <p:nvPr/>
        </p:nvPicPr>
        <p:blipFill>
          <a:blip r:embed="rIdStroke1">
            <a:alphaModFix/>
          </a:blip>
          <a:stretch>
            <a:fillRect/>
          </a:stretch>
        </p:blipFill>
        <p:spPr>
          <a:xfrm>
            <a:off x="2610922" y="952500"/>
            <a:ext cx="683657" cy="942975"/>
          </a:xfrm>
          <a:prstGeom prst="rect">
            <a:avLst/>
          </a:prstGeom>
          <a:noFill/>
          <a:ln>
            <a:noFill/>
          </a:ln>
        </p:spPr>
      </p:pic>
      <p:pic xmlns:a="http://schemas.openxmlformats.org/drawingml/2006/main" xmlns:r="http://schemas.openxmlformats.org/officeDocument/2006/relationships">
        <p:nvPicPr>
          <p:cNvPr id="152" name="Google Shape;140;p22"/>
          <p:cNvPicPr preferRelativeResize="0"/>
          <p:nvPr/>
        </p:nvPicPr>
        <p:blipFill>
          <a:blip r:embed="rIdStroke2">
            <a:alphaModFix/>
          </a:blip>
          <a:stretch>
            <a:fillRect/>
          </a:stretch>
        </p:blipFill>
        <p:spPr>
          <a:xfrm>
            <a:off x="4290091" y="952500"/>
            <a:ext cx="659069" cy="942975"/>
          </a:xfrm>
          <a:prstGeom prst="rect">
            <a:avLst/>
          </a:prstGeom>
          <a:noFill/>
          <a:ln>
            <a:noFill/>
          </a:ln>
        </p:spPr>
      </p:pic>
      <p:pic xmlns:a="http://schemas.openxmlformats.org/drawingml/2006/main" xmlns:r="http://schemas.openxmlformats.org/officeDocument/2006/relationships">
        <p:nvPicPr>
          <p:cNvPr id="153" name="Google Shape;150;p23"/>
          <p:cNvPicPr preferRelativeResize="0"/>
          <p:nvPr/>
        </p:nvPicPr>
        <p:blipFill>
          <a:blip r:embed="rIdStroke3">
            <a:alphaModFix/>
          </a:blip>
          <a:stretch>
            <a:fillRect/>
          </a:stretch>
        </p:blipFill>
        <p:spPr>
          <a:xfrm>
            <a:off x="5951564" y="952500"/>
            <a:ext cx="669873"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79260" y="952500"/>
            <a:ext cx="748230"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S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880067" y="952500"/>
            <a:ext cx="811615"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50319" y="952500"/>
            <a:ext cx="804862"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12431" y="952500"/>
            <a:ext cx="814388"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78983" y="952500"/>
            <a:ext cx="815034"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45858" y="952500"/>
            <a:ext cx="815034"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T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N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H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M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Y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2590800"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2590800"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2590800"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3314700"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2952750"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2590800"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2590800"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2590800"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2590800"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3314700"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2952750"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2590800"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4257675"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4257675"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4257675"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4981575"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4619625"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4257675"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4257675"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4257675"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4257675"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4981575"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4619625"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4257675"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5924550"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5924550"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5924550"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6648450"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6286500"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5924550"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5924550"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5924550"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5924550"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6648450"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6286500"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5924550"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2568054"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5897937"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R row</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923925"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923925"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923925"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1647825"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1285875"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923925"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923925"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923925"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923925"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1647825"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1285875"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923925"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2590800"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2590800"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2590800"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3314700"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2952750"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2590800"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2590800"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2590800"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2590800"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3314700"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2952750"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2590800"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4257675"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4257675"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4257675"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4981575"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4619625"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4257675"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4257675"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4257675"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4257675"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4981575"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4619625"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4257675"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p:nvSpPr>
          <p:cNvPr id="43" name="Writing guide"/>
          <p:cNvSpPr/>
          <p:nvPr/>
        </p:nvSpPr>
        <p:spPr>
          <ns108:xfrm xmlns:ns108="http://schemas.openxmlformats.org/drawingml/2006/main">
            <ns108:off x="5924550" y="1952625"/>
            <ns108:ext cx="723900" cy="0"/>
          </ns108:xfrm>
          <ns109:prstGeom xmlns:ns109="http://schemas.openxmlformats.org/drawingml/2006/main" prst="line">
            <ns109:avLst/>
          </ns109:prstGeom>
          <ns110:ln xmlns:ns110="http://schemas.openxmlformats.org/drawingml/2006/main" w="9525">
            <ns110:solidFill>
              <ns110:srgbClr val="777777"/>
            </ns110:solidFill>
          </ns110:ln>
        </p:spPr>
      </p:sp>
      <p:sp>
        <p:nvSpPr>
          <p:cNvPr id="44" name="Writing guide"/>
          <p:cNvSpPr/>
          <p:nvPr/>
        </p:nvSpPr>
        <p:spPr>
          <ns111:xfrm xmlns:ns111="http://schemas.openxmlformats.org/drawingml/2006/main">
            <ns111:off x="5924550" y="2676525"/>
            <ns111:ext cx="723900" cy="0"/>
          </ns111:xfrm>
          <ns112:prstGeom xmlns:ns112="http://schemas.openxmlformats.org/drawingml/2006/main" prst="line">
            <ns112:avLst/>
          </ns112:prstGeom>
          <ns113:ln xmlns:ns113="http://schemas.openxmlformats.org/drawingml/2006/main" w="9525">
            <ns113:solidFill>
              <ns113:srgbClr val="777777"/>
            </ns113:solidFill>
          </ns113:ln>
        </p:spPr>
      </p:sp>
      <p:sp>
        <p:nvSpPr>
          <p:cNvPr id="45" name="Writing guide"/>
          <p:cNvSpPr/>
          <p:nvPr/>
        </p:nvSpPr>
        <p:spPr>
          <ns114:xfrm xmlns:ns114="http://schemas.openxmlformats.org/drawingml/2006/main">
            <ns114:off x="5924550" y="1952625"/>
            <ns114:ext cx="0" cy="723900"/>
          </ns114:xfrm>
          <ns115:prstGeom xmlns:ns115="http://schemas.openxmlformats.org/drawingml/2006/main" prst="line">
            <ns115:avLst/>
          </ns115:prstGeom>
          <ns116:ln xmlns:ns116="http://schemas.openxmlformats.org/drawingml/2006/main" w="9525">
            <ns116:solidFill>
              <ns116:srgbClr val="777777"/>
            </ns116:solidFill>
          </ns116:ln>
        </p:spPr>
      </p:sp>
      <p:sp>
        <p:nvSpPr>
          <p:cNvPr id="46" name="Writing guide"/>
          <p:cNvSpPr/>
          <p:nvPr/>
        </p:nvSpPr>
        <p:spPr>
          <ns117:xfrm xmlns:ns117="http://schemas.openxmlformats.org/drawingml/2006/main">
            <ns117:off x="6648450" y="1952625"/>
            <ns117:ext cx="0" cy="723900"/>
          </ns117:xfrm>
          <ns118:prstGeom xmlns:ns118="http://schemas.openxmlformats.org/drawingml/2006/main" prst="line">
            <ns118:avLst/>
          </ns118:prstGeom>
          <ns119:ln xmlns:ns119="http://schemas.openxmlformats.org/drawingml/2006/main" w="9525">
            <ns119:solidFill>
              <ns119:srgbClr val="777777"/>
            </ns119:solidFill>
          </ns119:ln>
        </p:spPr>
      </p:sp>
      <p:sp>
        <p:nvSpPr>
          <p:cNvPr id="47" name="Writing guide"/>
          <p:cNvSpPr/>
          <p:nvPr/>
        </p:nvSpPr>
        <p:spPr>
          <ns120:xfrm xmlns:ns120="http://schemas.openxmlformats.org/drawingml/2006/main">
            <ns120:off x="6286500" y="1952625"/>
            <ns120:ext cx="0" cy="723900"/>
          </ns120:xfrm>
          <ns121:prstGeom xmlns:ns121="http://schemas.openxmlformats.org/drawingml/2006/main" prst="line">
            <ns121:avLst/>
          </ns121:prstGeom>
          <ns122:ln xmlns:ns122="http://schemas.openxmlformats.org/drawingml/2006/main" w="6350">
            <ns122:solidFill>
              <ns122:srgbClr val="D5D5D5"/>
            </ns122:solidFill>
          </ns122:ln>
        </p:spPr>
      </p:sp>
      <p:sp>
        <p:nvSpPr>
          <p:cNvPr id="48" name="Writing guide"/>
          <p:cNvSpPr/>
          <p:nvPr/>
        </p:nvSpPr>
        <p:spPr>
          <ns123:xfrm xmlns:ns123="http://schemas.openxmlformats.org/drawingml/2006/main">
            <ns123:off x="5924550" y="2314575"/>
            <ns123:ext cx="723900" cy="0"/>
          </ns123:xfrm>
          <ns124:prstGeom xmlns:ns124="http://schemas.openxmlformats.org/drawingml/2006/main" prst="line">
            <ns124:avLst/>
          </ns124:prstGeom>
          <ns125:ln xmlns:ns125="http://schemas.openxmlformats.org/drawingml/2006/main" w="6350">
            <ns125:solidFill>
              <ns125:srgbClr val="D5D5D5"/>
            </ns125:solidFill>
          </ns125:ln>
        </p:spPr>
      </p:sp>
      <p:sp>
        <p:nvSpPr>
          <p:cNvPr id="49" name="Writing guide"/>
          <p:cNvSpPr/>
          <p:nvPr/>
        </p:nvSpPr>
        <p:spPr>
          <ns126:xfrm xmlns:ns126="http://schemas.openxmlformats.org/drawingml/2006/main">
            <ns126:off x="5924550" y="2790825"/>
            <ns126:ext cx="723900" cy="0"/>
          </ns126:xfrm>
          <ns127:prstGeom xmlns:ns127="http://schemas.openxmlformats.org/drawingml/2006/main" prst="line">
            <ns127:avLst/>
          </ns127:prstGeom>
          <ns128:ln xmlns:ns128="http://schemas.openxmlformats.org/drawingml/2006/main" w="9525">
            <ns128:solidFill>
              <ns128:srgbClr val="777777"/>
            </ns128:solidFill>
          </ns128:ln>
        </p:spPr>
      </p:sp>
      <p:sp>
        <p:nvSpPr>
          <p:cNvPr id="50" name="Writing guide"/>
          <p:cNvSpPr/>
          <p:nvPr/>
        </p:nvSpPr>
        <p:spPr>
          <ns129:xfrm xmlns:ns129="http://schemas.openxmlformats.org/drawingml/2006/main">
            <ns129:off x="5924550" y="3514725"/>
            <ns129:ext cx="723900" cy="0"/>
          </ns129:xfrm>
          <ns130:prstGeom xmlns:ns130="http://schemas.openxmlformats.org/drawingml/2006/main" prst="line">
            <ns130:avLst/>
          </ns130:prstGeom>
          <ns131:ln xmlns:ns131="http://schemas.openxmlformats.org/drawingml/2006/main" w="9525">
            <ns131:solidFill>
              <ns131:srgbClr val="777777"/>
            </ns131:solidFill>
          </ns131:ln>
        </p:spPr>
      </p:sp>
      <p:sp>
        <p:nvSpPr>
          <p:cNvPr id="51" name="Writing guide"/>
          <p:cNvSpPr/>
          <p:nvPr/>
        </p:nvSpPr>
        <p:spPr>
          <ns132:xfrm xmlns:ns132="http://schemas.openxmlformats.org/drawingml/2006/main">
            <ns132:off x="5924550" y="2790825"/>
            <ns132:ext cx="0" cy="723900"/>
          </ns132:xfrm>
          <ns133:prstGeom xmlns:ns133="http://schemas.openxmlformats.org/drawingml/2006/main" prst="line">
            <ns133:avLst/>
          </ns133:prstGeom>
          <ns134:ln xmlns:ns134="http://schemas.openxmlformats.org/drawingml/2006/main" w="9525">
            <ns134:solidFill>
              <ns134:srgbClr val="777777"/>
            </ns134:solidFill>
          </ns134:ln>
        </p:spPr>
      </p:sp>
      <p:sp>
        <p:nvSpPr>
          <p:cNvPr id="52" name="Writing guide"/>
          <p:cNvSpPr/>
          <p:nvPr/>
        </p:nvSpPr>
        <p:spPr>
          <ns135:xfrm xmlns:ns135="http://schemas.openxmlformats.org/drawingml/2006/main">
            <ns135:off x="6648450" y="2790825"/>
            <ns135:ext cx="0" cy="723900"/>
          </ns135:xfrm>
          <ns136:prstGeom xmlns:ns136="http://schemas.openxmlformats.org/drawingml/2006/main" prst="line">
            <ns136:avLst/>
          </ns136:prstGeom>
          <ns137:ln xmlns:ns137="http://schemas.openxmlformats.org/drawingml/2006/main" w="9525">
            <ns137:solidFill>
              <ns137:srgbClr val="777777"/>
            </ns137:solidFill>
          </ns137:ln>
        </p:spPr>
      </p:sp>
      <p:sp>
        <p:nvSpPr>
          <p:cNvPr id="53" name="Writing guide"/>
          <p:cNvSpPr/>
          <p:nvPr/>
        </p:nvSpPr>
        <p:spPr>
          <ns138:xfrm xmlns:ns138="http://schemas.openxmlformats.org/drawingml/2006/main">
            <ns138:off x="6286500" y="2790825"/>
            <ns138:ext cx="0" cy="723900"/>
          </ns138:xfrm>
          <ns139:prstGeom xmlns:ns139="http://schemas.openxmlformats.org/drawingml/2006/main" prst="line">
            <ns139:avLst/>
          </ns139:prstGeom>
          <ns140:ln xmlns:ns140="http://schemas.openxmlformats.org/drawingml/2006/main" w="6350">
            <ns140:solidFill>
              <ns140:srgbClr val="D5D5D5"/>
            </ns140:solidFill>
          </ns140:ln>
        </p:spPr>
      </p:sp>
      <p:sp>
        <p:nvSpPr>
          <p:cNvPr id="54" name="Writing guide"/>
          <p:cNvSpPr/>
          <p:nvPr/>
        </p:nvSpPr>
        <p:spPr>
          <ns141:xfrm xmlns:ns141="http://schemas.openxmlformats.org/drawingml/2006/main">
            <ns141:off x="5924550" y="3152775"/>
            <ns141:ext cx="723900" cy="0"/>
          </ns141:xfrm>
          <ns142:prstGeom xmlns:ns142="http://schemas.openxmlformats.org/drawingml/2006/main" prst="line">
            <ns142:avLst/>
          </ns142:prstGeom>
          <ns143:ln xmlns:ns143="http://schemas.openxmlformats.org/drawingml/2006/main" w="6350">
            <ns143:solidFill>
              <ns143:srgbClr val="D5D5D5"/>
            </ns143:solidFill>
          </ns143:ln>
        </p:spPr>
      </p:sp>
      <p:sp>
        <p:nvSpPr>
          <p:cNvPr id="56" name="Writing guide"/>
          <p:cNvSpPr/>
          <p:nvPr/>
        </p:nvSpPr>
        <p:spPr>
          <ns144:xfrm xmlns:ns144="http://schemas.openxmlformats.org/drawingml/2006/main">
            <ns144:off x="7591425" y="1952625"/>
            <ns144:ext cx="723900" cy="0"/>
          </ns144:xfrm>
          <ns145:prstGeom xmlns:ns145="http://schemas.openxmlformats.org/drawingml/2006/main" prst="line">
            <ns145:avLst/>
          </ns145:prstGeom>
          <ns146:ln xmlns:ns146="http://schemas.openxmlformats.org/drawingml/2006/main" w="9525">
            <ns146:solidFill>
              <ns146:srgbClr val="777777"/>
            </ns146:solidFill>
          </ns146:ln>
        </p:spPr>
      </p:sp>
      <p:sp>
        <p:nvSpPr>
          <p:cNvPr id="57" name="Writing guide"/>
          <p:cNvSpPr/>
          <p:nvPr/>
        </p:nvSpPr>
        <p:spPr>
          <ns147:xfrm xmlns:ns147="http://schemas.openxmlformats.org/drawingml/2006/main">
            <ns147:off x="7591425" y="2676525"/>
            <ns147:ext cx="723900" cy="0"/>
          </ns147:xfrm>
          <ns148:prstGeom xmlns:ns148="http://schemas.openxmlformats.org/drawingml/2006/main" prst="line">
            <ns148:avLst/>
          </ns148:prstGeom>
          <ns149:ln xmlns:ns149="http://schemas.openxmlformats.org/drawingml/2006/main" w="9525">
            <ns149:solidFill>
              <ns149:srgbClr val="777777"/>
            </ns149:solidFill>
          </ns149:ln>
        </p:spPr>
      </p:sp>
      <p:sp>
        <p:nvSpPr>
          <p:cNvPr id="58" name="Writing guide"/>
          <p:cNvSpPr/>
          <p:nvPr/>
        </p:nvSpPr>
        <p:spPr>
          <ns150:xfrm xmlns:ns150="http://schemas.openxmlformats.org/drawingml/2006/main">
            <ns150:off x="7591425" y="1952625"/>
            <ns150:ext cx="0" cy="723900"/>
          </ns150:xfrm>
          <ns151:prstGeom xmlns:ns151="http://schemas.openxmlformats.org/drawingml/2006/main" prst="line">
            <ns151:avLst/>
          </ns151:prstGeom>
          <ns152:ln xmlns:ns152="http://schemas.openxmlformats.org/drawingml/2006/main" w="9525">
            <ns152:solidFill>
              <ns152:srgbClr val="777777"/>
            </ns152:solidFill>
          </ns152:ln>
        </p:spPr>
      </p:sp>
      <p:sp>
        <p:nvSpPr>
          <p:cNvPr id="59" name="Writing guide"/>
          <p:cNvSpPr/>
          <p:nvPr/>
        </p:nvSpPr>
        <p:spPr>
          <ns153:xfrm xmlns:ns153="http://schemas.openxmlformats.org/drawingml/2006/main">
            <ns153:off x="8315325" y="1952625"/>
            <ns153:ext cx="0" cy="723900"/>
          </ns153:xfrm>
          <ns154:prstGeom xmlns:ns154="http://schemas.openxmlformats.org/drawingml/2006/main" prst="line">
            <ns154:avLst/>
          </ns154:prstGeom>
          <ns155:ln xmlns:ns155="http://schemas.openxmlformats.org/drawingml/2006/main" w="9525">
            <ns155:solidFill>
              <ns155:srgbClr val="777777"/>
            </ns155:solidFill>
          </ns155:ln>
        </p:spPr>
      </p:sp>
      <p:sp>
        <p:nvSpPr>
          <p:cNvPr id="60" name="Writing guide"/>
          <p:cNvSpPr/>
          <p:nvPr/>
        </p:nvSpPr>
        <p:spPr>
          <ns156:xfrm xmlns:ns156="http://schemas.openxmlformats.org/drawingml/2006/main">
            <ns156:off x="7953375" y="1952625"/>
            <ns156:ext cx="0" cy="723900"/>
          </ns156:xfrm>
          <ns157:prstGeom xmlns:ns157="http://schemas.openxmlformats.org/drawingml/2006/main" prst="line">
            <ns157:avLst/>
          </ns157:prstGeom>
          <ns158:ln xmlns:ns158="http://schemas.openxmlformats.org/drawingml/2006/main" w="6350">
            <ns158:solidFill>
              <ns158:srgbClr val="D5D5D5"/>
            </ns158:solidFill>
          </ns158:ln>
        </p:spPr>
      </p:sp>
      <p:sp>
        <p:nvSpPr>
          <p:cNvPr id="61" name="Writing guide"/>
          <p:cNvSpPr/>
          <p:nvPr/>
        </p:nvSpPr>
        <p:spPr>
          <ns159:xfrm xmlns:ns159="http://schemas.openxmlformats.org/drawingml/2006/main">
            <ns159:off x="7591425" y="2314575"/>
            <ns159:ext cx="723900" cy="0"/>
          </ns159:xfrm>
          <ns160:prstGeom xmlns:ns160="http://schemas.openxmlformats.org/drawingml/2006/main" prst="line">
            <ns160:avLst/>
          </ns160:prstGeom>
          <ns161:ln xmlns:ns161="http://schemas.openxmlformats.org/drawingml/2006/main" w="6350">
            <ns161:solidFill>
              <ns161:srgbClr val="D5D5D5"/>
            </ns161:solidFill>
          </ns161:ln>
        </p:spPr>
      </p:sp>
      <p:sp>
        <p:nvSpPr>
          <p:cNvPr id="62" name="Writing guide"/>
          <p:cNvSpPr/>
          <p:nvPr/>
        </p:nvSpPr>
        <p:spPr>
          <ns162:xfrm xmlns:ns162="http://schemas.openxmlformats.org/drawingml/2006/main">
            <ns162:off x="7591425" y="2790825"/>
            <ns162:ext cx="723900" cy="0"/>
          </ns162:xfrm>
          <ns163:prstGeom xmlns:ns163="http://schemas.openxmlformats.org/drawingml/2006/main" prst="line">
            <ns163:avLst/>
          </ns163:prstGeom>
          <ns164:ln xmlns:ns164="http://schemas.openxmlformats.org/drawingml/2006/main" w="9525">
            <ns164:solidFill>
              <ns164:srgbClr val="777777"/>
            </ns164:solidFill>
          </ns164:ln>
        </p:spPr>
      </p:sp>
      <p:sp>
        <p:nvSpPr>
          <p:cNvPr id="63" name="Writing guide"/>
          <p:cNvSpPr/>
          <p:nvPr/>
        </p:nvSpPr>
        <p:spPr>
          <ns165:xfrm xmlns:ns165="http://schemas.openxmlformats.org/drawingml/2006/main">
            <ns165:off x="7591425" y="3514725"/>
            <ns165:ext cx="723900" cy="0"/>
          </ns165:xfrm>
          <ns166:prstGeom xmlns:ns166="http://schemas.openxmlformats.org/drawingml/2006/main" prst="line">
            <ns166:avLst/>
          </ns166:prstGeom>
          <ns167:ln xmlns:ns167="http://schemas.openxmlformats.org/drawingml/2006/main" w="9525">
            <ns167:solidFill>
              <ns167:srgbClr val="777777"/>
            </ns167:solidFill>
          </ns167:ln>
        </p:spPr>
      </p:sp>
      <p:sp>
        <p:nvSpPr>
          <p:cNvPr id="64" name="Writing guide"/>
          <p:cNvSpPr/>
          <p:nvPr/>
        </p:nvSpPr>
        <p:spPr>
          <ns168:xfrm xmlns:ns168="http://schemas.openxmlformats.org/drawingml/2006/main">
            <ns168:off x="7591425" y="2790825"/>
            <ns168:ext cx="0" cy="723900"/>
          </ns168:xfrm>
          <ns169:prstGeom xmlns:ns169="http://schemas.openxmlformats.org/drawingml/2006/main" prst="line">
            <ns169:avLst/>
          </ns169:prstGeom>
          <ns170:ln xmlns:ns170="http://schemas.openxmlformats.org/drawingml/2006/main" w="9525">
            <ns170:solidFill>
              <ns170:srgbClr val="777777"/>
            </ns170:solidFill>
          </ns170:ln>
        </p:spPr>
      </p:sp>
      <p:sp>
        <p:nvSpPr>
          <p:cNvPr id="65" name="Writing guide"/>
          <p:cNvSpPr/>
          <p:nvPr/>
        </p:nvSpPr>
        <p:spPr>
          <ns171:xfrm xmlns:ns171="http://schemas.openxmlformats.org/drawingml/2006/main">
            <ns171:off x="8315325" y="2790825"/>
            <ns171:ext cx="0" cy="723900"/>
          </ns171:xfrm>
          <ns172:prstGeom xmlns:ns172="http://schemas.openxmlformats.org/drawingml/2006/main" prst="line">
            <ns172:avLst/>
          </ns172:prstGeom>
          <ns173:ln xmlns:ns173="http://schemas.openxmlformats.org/drawingml/2006/main" w="9525">
            <ns173:solidFill>
              <ns173:srgbClr val="777777"/>
            </ns173:solidFill>
          </ns173:ln>
        </p:spPr>
      </p:sp>
      <p:sp>
        <p:nvSpPr>
          <p:cNvPr id="66" name="Writing guide"/>
          <p:cNvSpPr/>
          <p:nvPr/>
        </p:nvSpPr>
        <p:spPr>
          <ns174:xfrm xmlns:ns174="http://schemas.openxmlformats.org/drawingml/2006/main">
            <ns174:off x="7953375" y="2790825"/>
            <ns174:ext cx="0" cy="723900"/>
          </ns174:xfrm>
          <ns175:prstGeom xmlns:ns175="http://schemas.openxmlformats.org/drawingml/2006/main" prst="line">
            <ns175:avLst/>
          </ns175:prstGeom>
          <ns176:ln xmlns:ns176="http://schemas.openxmlformats.org/drawingml/2006/main" w="6350">
            <ns176:solidFill>
              <ns176:srgbClr val="D5D5D5"/>
            </ns176:solidFill>
          </ns176:ln>
        </p:spPr>
      </p:sp>
      <p:sp>
        <p:nvSpPr>
          <p:cNvPr id="67" name="Writing guide"/>
          <p:cNvSpPr/>
          <p:nvPr/>
        </p:nvSpPr>
        <p:spPr>
          <ns177:xfrm xmlns:ns177="http://schemas.openxmlformats.org/drawingml/2006/main">
            <ns177:off x="7591425" y="3152775"/>
            <ns177:ext cx="723900" cy="0"/>
          </ns177:xfrm>
          <ns178:prstGeom xmlns:ns178="http://schemas.openxmlformats.org/drawingml/2006/main" prst="line">
            <ns178:avLst/>
          </ns178:prstGeom>
          <ns179:ln xmlns:ns179="http://schemas.openxmlformats.org/drawingml/2006/main" w="6350">
            <ns179:solidFill>
              <ns179:srgbClr val="D5D5D5"/>
            </ns179:solidFill>
          </ns179: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901179" y="952500"/>
            <a:ext cx="769393"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2562225" y="952500"/>
            <a:ext cx="781050"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4229100" y="952500"/>
            <a:ext cx="781050" cy="942975"/>
          </a:xfrm>
          <a:prstGeom prst="rect">
            <a:avLst/>
          </a:prstGeom>
          <a:noFill/>
          <a:ln>
            <a:noFill/>
          </a:ln>
        </p:spPr>
      </p:pic>
      <p:pic xmlns:a="http://schemas.openxmlformats.org/drawingml/2006/main" xmlns:r="http://schemas.openxmlformats.org/officeDocument/2006/relationships">
        <p:nvPicPr>
          <p:cNvPr id="153" name="Google Shape;160;p24"/>
          <p:cNvPicPr preferRelativeResize="0"/>
          <p:nvPr/>
        </p:nvPicPr>
        <p:blipFill>
          <a:blip r:embed="rIdStroke3">
            <a:alphaModFix/>
          </a:blip>
          <a:stretch>
            <a:fillRect/>
          </a:stretch>
        </p:blipFill>
        <p:spPr>
          <a:xfrm>
            <a:off x="5897937" y="952500"/>
            <a:ext cx="777125" cy="942975"/>
          </a:xfrm>
          <a:prstGeom prst="rect">
            <a:avLst/>
          </a:prstGeom>
          <a:noFill/>
          <a:ln>
            <a:noFill/>
          </a:ln>
        </p:spPr>
      </p:pic>
      <p:pic xmlns:a="http://schemas.openxmlformats.org/drawingml/2006/main" xmlns:r="http://schemas.openxmlformats.org/officeDocument/2006/relationships">
        <p:nvPicPr>
          <p:cNvPr id="154" name="Google Shape;160;p24"/>
          <p:cNvPicPr preferRelativeResize="0"/>
          <p:nvPr/>
        </p:nvPicPr>
        <p:blipFill>
          <a:blip r:embed="rIdStroke4">
            <a:alphaModFix/>
          </a:blip>
          <a:stretch>
            <a:fillRect/>
          </a:stretch>
        </p:blipFill>
        <p:spPr>
          <a:xfrm>
            <a:off x="7564812" y="952500"/>
            <a:ext cx="777125"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Writing Practice: Vowel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19050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600" b="1">
                <ns0:solidFill>
                  <ns0:srgbClr val="595959"/>
                </ns0:solidFill>
                <ns0:latin typeface="Arial"/>
                <ns0:ea typeface="Noto Sans CJK JP"/>
              </ns0:rPr>
              <ns0:t>Writing Practice: W row and final N</ns0:t>
            </ns0:r>
          </ns0:p>
        </p:txBody>
      </p:sp>
      <p:sp>
        <p:nvSpPr>
          <p:cNvPr id="2" name="Copy each character into the boxes. Then write the romaji for each wor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619125"/>
            <a:ext cx="823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400" b="0">
                <ns0:solidFill>
                  <ns0:srgbClr val="000000"/>
                </ns0:solidFill>
                <ns0:latin typeface="Arial"/>
                <ns0:ea typeface="Noto Sans CJK JP"/>
              </ns0:rPr>
              <ns0:t>Follow the stroke order. Copy each character into the practice boxes.</ns0:t>
            </ns0:r>
          </ns0:p>
        </p:txBody>
      </p:sp>
      <p:sp>
        <p:nvSpPr>
          <p:cNvPr id="4" name="Writing guide"/>
          <p:cNvSpPr/>
          <p:nvPr/>
        </p:nvSpPr>
        <p:spPr>
          <ns0:xfrm xmlns:ns0="http://schemas.openxmlformats.org/drawingml/2006/main">
            <ns0:off x="2590800" y="1952625"/>
            <ns0:ext cx="723900" cy="0"/>
          </ns0:xfrm>
          <ns1:prstGeom xmlns:ns1="http://schemas.openxmlformats.org/drawingml/2006/main" prst="line">
            <ns1:avLst/>
          </ns1:prstGeom>
          <ns2:ln xmlns:ns2="http://schemas.openxmlformats.org/drawingml/2006/main" w="9525">
            <ns2:solidFill>
              <ns2:srgbClr val="777777"/>
            </ns2:solidFill>
          </ns2:ln>
        </p:spPr>
      </p:sp>
      <p:sp>
        <p:nvSpPr>
          <p:cNvPr id="5" name="Writing guide"/>
          <p:cNvSpPr/>
          <p:nvPr/>
        </p:nvSpPr>
        <p:spPr>
          <ns3:xfrm xmlns:ns3="http://schemas.openxmlformats.org/drawingml/2006/main">
            <ns3:off x="2590800" y="2676525"/>
            <ns3:ext cx="723900" cy="0"/>
          </ns3:xfrm>
          <ns4:prstGeom xmlns:ns4="http://schemas.openxmlformats.org/drawingml/2006/main" prst="line">
            <ns4:avLst/>
          </ns4:prstGeom>
          <ns5:ln xmlns:ns5="http://schemas.openxmlformats.org/drawingml/2006/main" w="9525">
            <ns5:solidFill>
              <ns5:srgbClr val="777777"/>
            </ns5:solidFill>
          </ns5:ln>
        </p:spPr>
      </p:sp>
      <p:sp>
        <p:nvSpPr>
          <p:cNvPr id="6" name="Writing guide"/>
          <p:cNvSpPr/>
          <p:nvPr/>
        </p:nvSpPr>
        <p:spPr>
          <ns6:xfrm xmlns:ns6="http://schemas.openxmlformats.org/drawingml/2006/main">
            <ns6:off x="2590800" y="1952625"/>
            <ns6:ext cx="0" cy="723900"/>
          </ns6:xfrm>
          <ns7:prstGeom xmlns:ns7="http://schemas.openxmlformats.org/drawingml/2006/main" prst="line">
            <ns7:avLst/>
          </ns7:prstGeom>
          <ns8:ln xmlns:ns8="http://schemas.openxmlformats.org/drawingml/2006/main" w="9525">
            <ns8:solidFill>
              <ns8:srgbClr val="777777"/>
            </ns8:solidFill>
          </ns8:ln>
        </p:spPr>
      </p:sp>
      <p:sp>
        <p:nvSpPr>
          <p:cNvPr id="7" name="Writing guide"/>
          <p:cNvSpPr/>
          <p:nvPr/>
        </p:nvSpPr>
        <p:spPr>
          <ns9:xfrm xmlns:ns9="http://schemas.openxmlformats.org/drawingml/2006/main">
            <ns9:off x="3314700" y="1952625"/>
            <ns9:ext cx="0" cy="723900"/>
          </ns9:xfrm>
          <ns10:prstGeom xmlns:ns10="http://schemas.openxmlformats.org/drawingml/2006/main" prst="line">
            <ns10:avLst/>
          </ns10:prstGeom>
          <ns11:ln xmlns:ns11="http://schemas.openxmlformats.org/drawingml/2006/main" w="9525">
            <ns11:solidFill>
              <ns11:srgbClr val="777777"/>
            </ns11:solidFill>
          </ns11:ln>
        </p:spPr>
      </p:sp>
      <p:sp>
        <p:nvSpPr>
          <p:cNvPr id="8" name="Writing guide"/>
          <p:cNvSpPr/>
          <p:nvPr/>
        </p:nvSpPr>
        <p:spPr>
          <ns12:xfrm xmlns:ns12="http://schemas.openxmlformats.org/drawingml/2006/main">
            <ns12:off x="2952750" y="1952625"/>
            <ns12:ext cx="0" cy="723900"/>
          </ns12:xfrm>
          <ns13:prstGeom xmlns:ns13="http://schemas.openxmlformats.org/drawingml/2006/main" prst="line">
            <ns13:avLst/>
          </ns13:prstGeom>
          <ns14:ln xmlns:ns14="http://schemas.openxmlformats.org/drawingml/2006/main" w="6350">
            <ns14:solidFill>
              <ns14:srgbClr val="D5D5D5"/>
            </ns14:solidFill>
          </ns14:ln>
        </p:spPr>
      </p:sp>
      <p:sp>
        <p:nvSpPr>
          <p:cNvPr id="9" name="Writing guide"/>
          <p:cNvSpPr/>
          <p:nvPr/>
        </p:nvSpPr>
        <p:spPr>
          <ns15:xfrm xmlns:ns15="http://schemas.openxmlformats.org/drawingml/2006/main">
            <ns15:off x="2590800" y="2314575"/>
            <ns15:ext cx="723900" cy="0"/>
          </ns15:xfrm>
          <ns16:prstGeom xmlns:ns16="http://schemas.openxmlformats.org/drawingml/2006/main" prst="line">
            <ns16:avLst/>
          </ns16:prstGeom>
          <ns17:ln xmlns:ns17="http://schemas.openxmlformats.org/drawingml/2006/main" w="6350">
            <ns17:solidFill>
              <ns17:srgbClr val="D5D5D5"/>
            </ns17:solidFill>
          </ns17:ln>
        </p:spPr>
      </p:sp>
      <p:sp>
        <p:nvSpPr>
          <p:cNvPr id="10" name="Writing guide"/>
          <p:cNvSpPr/>
          <p:nvPr/>
        </p:nvSpPr>
        <p:spPr>
          <ns18:xfrm xmlns:ns18="http://schemas.openxmlformats.org/drawingml/2006/main">
            <ns18:off x="2590800" y="2790825"/>
            <ns18:ext cx="723900" cy="0"/>
          </ns18:xfrm>
          <ns19:prstGeom xmlns:ns19="http://schemas.openxmlformats.org/drawingml/2006/main" prst="line">
            <ns19:avLst/>
          </ns19:prstGeom>
          <ns20:ln xmlns:ns20="http://schemas.openxmlformats.org/drawingml/2006/main" w="9525">
            <ns20:solidFill>
              <ns20:srgbClr val="777777"/>
            </ns20:solidFill>
          </ns20:ln>
        </p:spPr>
      </p:sp>
      <p:sp>
        <p:nvSpPr>
          <p:cNvPr id="11" name="Writing guide"/>
          <p:cNvSpPr/>
          <p:nvPr/>
        </p:nvSpPr>
        <p:spPr>
          <ns21:xfrm xmlns:ns21="http://schemas.openxmlformats.org/drawingml/2006/main">
            <ns21:off x="2590800" y="3514725"/>
            <ns21:ext cx="723900" cy="0"/>
          </ns21:xfrm>
          <ns22:prstGeom xmlns:ns22="http://schemas.openxmlformats.org/drawingml/2006/main" prst="line">
            <ns22:avLst/>
          </ns22:prstGeom>
          <ns23:ln xmlns:ns23="http://schemas.openxmlformats.org/drawingml/2006/main" w="9525">
            <ns23:solidFill>
              <ns23:srgbClr val="777777"/>
            </ns23:solidFill>
          </ns23:ln>
        </p:spPr>
      </p:sp>
      <p:sp>
        <p:nvSpPr>
          <p:cNvPr id="12" name="Writing guide"/>
          <p:cNvSpPr/>
          <p:nvPr/>
        </p:nvSpPr>
        <p:spPr>
          <ns24:xfrm xmlns:ns24="http://schemas.openxmlformats.org/drawingml/2006/main">
            <ns24:off x="2590800" y="2790825"/>
            <ns24:ext cx="0" cy="723900"/>
          </ns24:xfrm>
          <ns25:prstGeom xmlns:ns25="http://schemas.openxmlformats.org/drawingml/2006/main" prst="line">
            <ns25:avLst/>
          </ns25:prstGeom>
          <ns26:ln xmlns:ns26="http://schemas.openxmlformats.org/drawingml/2006/main" w="9525">
            <ns26:solidFill>
              <ns26:srgbClr val="777777"/>
            </ns26:solidFill>
          </ns26:ln>
        </p:spPr>
      </p:sp>
      <p:sp>
        <p:nvSpPr>
          <p:cNvPr id="13" name="Writing guide"/>
          <p:cNvSpPr/>
          <p:nvPr/>
        </p:nvSpPr>
        <p:spPr>
          <ns27:xfrm xmlns:ns27="http://schemas.openxmlformats.org/drawingml/2006/main">
            <ns27:off x="3314700" y="2790825"/>
            <ns27:ext cx="0" cy="723900"/>
          </ns27:xfrm>
          <ns28:prstGeom xmlns:ns28="http://schemas.openxmlformats.org/drawingml/2006/main" prst="line">
            <ns28:avLst/>
          </ns28:prstGeom>
          <ns29:ln xmlns:ns29="http://schemas.openxmlformats.org/drawingml/2006/main" w="9525">
            <ns29:solidFill>
              <ns29:srgbClr val="777777"/>
            </ns29:solidFill>
          </ns29:ln>
        </p:spPr>
      </p:sp>
      <p:sp>
        <p:nvSpPr>
          <p:cNvPr id="14" name="Writing guide"/>
          <p:cNvSpPr/>
          <p:nvPr/>
        </p:nvSpPr>
        <p:spPr>
          <ns30:xfrm xmlns:ns30="http://schemas.openxmlformats.org/drawingml/2006/main">
            <ns30:off x="2952750" y="2790825"/>
            <ns30:ext cx="0" cy="723900"/>
          </ns30:xfrm>
          <ns31:prstGeom xmlns:ns31="http://schemas.openxmlformats.org/drawingml/2006/main" prst="line">
            <ns31:avLst/>
          </ns31:prstGeom>
          <ns32:ln xmlns:ns32="http://schemas.openxmlformats.org/drawingml/2006/main" w="6350">
            <ns32:solidFill>
              <ns32:srgbClr val="D5D5D5"/>
            </ns32:solidFill>
          </ns32:ln>
        </p:spPr>
      </p:sp>
      <p:sp>
        <p:nvSpPr>
          <p:cNvPr id="15" name="Writing guide"/>
          <p:cNvSpPr/>
          <p:nvPr/>
        </p:nvSpPr>
        <p:spPr>
          <ns33:xfrm xmlns:ns33="http://schemas.openxmlformats.org/drawingml/2006/main">
            <ns33:off x="2590800" y="3152775"/>
            <ns33:ext cx="723900" cy="0"/>
          </ns33:xfrm>
          <ns34:prstGeom xmlns:ns34="http://schemas.openxmlformats.org/drawingml/2006/main" prst="line">
            <ns34:avLst/>
          </ns34:prstGeom>
          <ns35:ln xmlns:ns35="http://schemas.openxmlformats.org/drawingml/2006/main" w="6350">
            <ns35:solidFill>
              <ns35:srgbClr val="D5D5D5"/>
            </ns35:solidFill>
          </ns35:ln>
        </p:spPr>
      </p:sp>
      <p:sp>
        <p:nvSpPr>
          <p:cNvPr id="17" name="Writing guide"/>
          <p:cNvSpPr/>
          <p:nvPr/>
        </p:nvSpPr>
        <p:spPr>
          <ns36:xfrm xmlns:ns36="http://schemas.openxmlformats.org/drawingml/2006/main">
            <ns36:off x="4257675" y="1952625"/>
            <ns36:ext cx="723900" cy="0"/>
          </ns36:xfrm>
          <ns37:prstGeom xmlns:ns37="http://schemas.openxmlformats.org/drawingml/2006/main" prst="line">
            <ns37:avLst/>
          </ns37:prstGeom>
          <ns38:ln xmlns:ns38="http://schemas.openxmlformats.org/drawingml/2006/main" w="9525">
            <ns38:solidFill>
              <ns38:srgbClr val="777777"/>
            </ns38:solidFill>
          </ns38:ln>
        </p:spPr>
      </p:sp>
      <p:sp>
        <p:nvSpPr>
          <p:cNvPr id="18" name="Writing guide"/>
          <p:cNvSpPr/>
          <p:nvPr/>
        </p:nvSpPr>
        <p:spPr>
          <ns39:xfrm xmlns:ns39="http://schemas.openxmlformats.org/drawingml/2006/main">
            <ns39:off x="4257675" y="2676525"/>
            <ns39:ext cx="723900" cy="0"/>
          </ns39:xfrm>
          <ns40:prstGeom xmlns:ns40="http://schemas.openxmlformats.org/drawingml/2006/main" prst="line">
            <ns40:avLst/>
          </ns40:prstGeom>
          <ns41:ln xmlns:ns41="http://schemas.openxmlformats.org/drawingml/2006/main" w="9525">
            <ns41:solidFill>
              <ns41:srgbClr val="777777"/>
            </ns41:solidFill>
          </ns41:ln>
        </p:spPr>
      </p:sp>
      <p:sp>
        <p:nvSpPr>
          <p:cNvPr id="19" name="Writing guide"/>
          <p:cNvSpPr/>
          <p:nvPr/>
        </p:nvSpPr>
        <p:spPr>
          <ns42:xfrm xmlns:ns42="http://schemas.openxmlformats.org/drawingml/2006/main">
            <ns42:off x="4257675" y="1952625"/>
            <ns42:ext cx="0" cy="723900"/>
          </ns42:xfrm>
          <ns43:prstGeom xmlns:ns43="http://schemas.openxmlformats.org/drawingml/2006/main" prst="line">
            <ns43:avLst/>
          </ns43:prstGeom>
          <ns44:ln xmlns:ns44="http://schemas.openxmlformats.org/drawingml/2006/main" w="9525">
            <ns44:solidFill>
              <ns44:srgbClr val="777777"/>
            </ns44:solidFill>
          </ns44:ln>
        </p:spPr>
      </p:sp>
      <p:sp>
        <p:nvSpPr>
          <p:cNvPr id="20" name="Writing guide"/>
          <p:cNvSpPr/>
          <p:nvPr/>
        </p:nvSpPr>
        <p:spPr>
          <ns45:xfrm xmlns:ns45="http://schemas.openxmlformats.org/drawingml/2006/main">
            <ns45:off x="4981575" y="1952625"/>
            <ns45:ext cx="0" cy="723900"/>
          </ns45:xfrm>
          <ns46:prstGeom xmlns:ns46="http://schemas.openxmlformats.org/drawingml/2006/main" prst="line">
            <ns46:avLst/>
          </ns46:prstGeom>
          <ns47:ln xmlns:ns47="http://schemas.openxmlformats.org/drawingml/2006/main" w="9525">
            <ns47:solidFill>
              <ns47:srgbClr val="777777"/>
            </ns47:solidFill>
          </ns47:ln>
        </p:spPr>
      </p:sp>
      <p:sp>
        <p:nvSpPr>
          <p:cNvPr id="21" name="Writing guide"/>
          <p:cNvSpPr/>
          <p:nvPr/>
        </p:nvSpPr>
        <p:spPr>
          <ns48:xfrm xmlns:ns48="http://schemas.openxmlformats.org/drawingml/2006/main">
            <ns48:off x="4619625" y="1952625"/>
            <ns48:ext cx="0" cy="723900"/>
          </ns48:xfrm>
          <ns49:prstGeom xmlns:ns49="http://schemas.openxmlformats.org/drawingml/2006/main" prst="line">
            <ns49:avLst/>
          </ns49:prstGeom>
          <ns50:ln xmlns:ns50="http://schemas.openxmlformats.org/drawingml/2006/main" w="6350">
            <ns50:solidFill>
              <ns50:srgbClr val="D5D5D5"/>
            </ns50:solidFill>
          </ns50:ln>
        </p:spPr>
      </p:sp>
      <p:sp>
        <p:nvSpPr>
          <p:cNvPr id="22" name="Writing guide"/>
          <p:cNvSpPr/>
          <p:nvPr/>
        </p:nvSpPr>
        <p:spPr>
          <ns51:xfrm xmlns:ns51="http://schemas.openxmlformats.org/drawingml/2006/main">
            <ns51:off x="4257675" y="2314575"/>
            <ns51:ext cx="723900" cy="0"/>
          </ns51:xfrm>
          <ns52:prstGeom xmlns:ns52="http://schemas.openxmlformats.org/drawingml/2006/main" prst="line">
            <ns52:avLst/>
          </ns52:prstGeom>
          <ns53:ln xmlns:ns53="http://schemas.openxmlformats.org/drawingml/2006/main" w="6350">
            <ns53:solidFill>
              <ns53:srgbClr val="D5D5D5"/>
            </ns53:solidFill>
          </ns53:ln>
        </p:spPr>
      </p:sp>
      <p:sp>
        <p:nvSpPr>
          <p:cNvPr id="23" name="Writing guide"/>
          <p:cNvSpPr/>
          <p:nvPr/>
        </p:nvSpPr>
        <p:spPr>
          <ns54:xfrm xmlns:ns54="http://schemas.openxmlformats.org/drawingml/2006/main">
            <ns54:off x="4257675" y="2790825"/>
            <ns54:ext cx="723900" cy="0"/>
          </ns54:xfrm>
          <ns55:prstGeom xmlns:ns55="http://schemas.openxmlformats.org/drawingml/2006/main" prst="line">
            <ns55:avLst/>
          </ns55:prstGeom>
          <ns56:ln xmlns:ns56="http://schemas.openxmlformats.org/drawingml/2006/main" w="9525">
            <ns56:solidFill>
              <ns56:srgbClr val="777777"/>
            </ns56:solidFill>
          </ns56:ln>
        </p:spPr>
      </p:sp>
      <p:sp>
        <p:nvSpPr>
          <p:cNvPr id="24" name="Writing guide"/>
          <p:cNvSpPr/>
          <p:nvPr/>
        </p:nvSpPr>
        <p:spPr>
          <ns57:xfrm xmlns:ns57="http://schemas.openxmlformats.org/drawingml/2006/main">
            <ns57:off x="4257675" y="3514725"/>
            <ns57:ext cx="723900" cy="0"/>
          </ns57:xfrm>
          <ns58:prstGeom xmlns:ns58="http://schemas.openxmlformats.org/drawingml/2006/main" prst="line">
            <ns58:avLst/>
          </ns58:prstGeom>
          <ns59:ln xmlns:ns59="http://schemas.openxmlformats.org/drawingml/2006/main" w="9525">
            <ns59:solidFill>
              <ns59:srgbClr val="777777"/>
            </ns59:solidFill>
          </ns59:ln>
        </p:spPr>
      </p:sp>
      <p:sp>
        <p:nvSpPr>
          <p:cNvPr id="25" name="Writing guide"/>
          <p:cNvSpPr/>
          <p:nvPr/>
        </p:nvSpPr>
        <p:spPr>
          <ns60:xfrm xmlns:ns60="http://schemas.openxmlformats.org/drawingml/2006/main">
            <ns60:off x="4257675" y="2790825"/>
            <ns60:ext cx="0" cy="723900"/>
          </ns60:xfrm>
          <ns61:prstGeom xmlns:ns61="http://schemas.openxmlformats.org/drawingml/2006/main" prst="line">
            <ns61:avLst/>
          </ns61:prstGeom>
          <ns62:ln xmlns:ns62="http://schemas.openxmlformats.org/drawingml/2006/main" w="9525">
            <ns62:solidFill>
              <ns62:srgbClr val="777777"/>
            </ns62:solidFill>
          </ns62:ln>
        </p:spPr>
      </p:sp>
      <p:sp>
        <p:nvSpPr>
          <p:cNvPr id="26" name="Writing guide"/>
          <p:cNvSpPr/>
          <p:nvPr/>
        </p:nvSpPr>
        <p:spPr>
          <ns63:xfrm xmlns:ns63="http://schemas.openxmlformats.org/drawingml/2006/main">
            <ns63:off x="4981575" y="2790825"/>
            <ns63:ext cx="0" cy="723900"/>
          </ns63:xfrm>
          <ns64:prstGeom xmlns:ns64="http://schemas.openxmlformats.org/drawingml/2006/main" prst="line">
            <ns64:avLst/>
          </ns64:prstGeom>
          <ns65:ln xmlns:ns65="http://schemas.openxmlformats.org/drawingml/2006/main" w="9525">
            <ns65:solidFill>
              <ns65:srgbClr val="777777"/>
            </ns65:solidFill>
          </ns65:ln>
        </p:spPr>
      </p:sp>
      <p:sp>
        <p:nvSpPr>
          <p:cNvPr id="27" name="Writing guide"/>
          <p:cNvSpPr/>
          <p:nvPr/>
        </p:nvSpPr>
        <p:spPr>
          <ns66:xfrm xmlns:ns66="http://schemas.openxmlformats.org/drawingml/2006/main">
            <ns66:off x="4619625" y="2790825"/>
            <ns66:ext cx="0" cy="723900"/>
          </ns66:xfrm>
          <ns67:prstGeom xmlns:ns67="http://schemas.openxmlformats.org/drawingml/2006/main" prst="line">
            <ns67:avLst/>
          </ns67:prstGeom>
          <ns68:ln xmlns:ns68="http://schemas.openxmlformats.org/drawingml/2006/main" w="6350">
            <ns68:solidFill>
              <ns68:srgbClr val="D5D5D5"/>
            </ns68:solidFill>
          </ns68:ln>
        </p:spPr>
      </p:sp>
      <p:sp>
        <p:nvSpPr>
          <p:cNvPr id="28" name="Writing guide"/>
          <p:cNvSpPr/>
          <p:nvPr/>
        </p:nvSpPr>
        <p:spPr>
          <ns69:xfrm xmlns:ns69="http://schemas.openxmlformats.org/drawingml/2006/main">
            <ns69:off x="4257675" y="3152775"/>
            <ns69:ext cx="723900" cy="0"/>
          </ns69:xfrm>
          <ns70:prstGeom xmlns:ns70="http://schemas.openxmlformats.org/drawingml/2006/main" prst="line">
            <ns70:avLst/>
          </ns70:prstGeom>
          <ns71:ln xmlns:ns71="http://schemas.openxmlformats.org/drawingml/2006/main" w="6350">
            <ns71:solidFill>
              <ns71:srgbClr val="D5D5D5"/>
            </ns71:solidFill>
          </ns71:ln>
        </p:spPr>
      </p:sp>
      <p:sp>
        <p:nvSpPr>
          <p:cNvPr id="30" name="Writing guide"/>
          <p:cNvSpPr/>
          <p:nvPr/>
        </p:nvSpPr>
        <p:spPr>
          <ns72:xfrm xmlns:ns72="http://schemas.openxmlformats.org/drawingml/2006/main">
            <ns72:off x="5924550" y="1952625"/>
            <ns72:ext cx="723900" cy="0"/>
          </ns72:xfrm>
          <ns73:prstGeom xmlns:ns73="http://schemas.openxmlformats.org/drawingml/2006/main" prst="line">
            <ns73:avLst/>
          </ns73:prstGeom>
          <ns74:ln xmlns:ns74="http://schemas.openxmlformats.org/drawingml/2006/main" w="9525">
            <ns74:solidFill>
              <ns74:srgbClr val="777777"/>
            </ns74:solidFill>
          </ns74:ln>
        </p:spPr>
      </p:sp>
      <p:sp>
        <p:nvSpPr>
          <p:cNvPr id="31" name="Writing guide"/>
          <p:cNvSpPr/>
          <p:nvPr/>
        </p:nvSpPr>
        <p:spPr>
          <ns75:xfrm xmlns:ns75="http://schemas.openxmlformats.org/drawingml/2006/main">
            <ns75:off x="5924550" y="2676525"/>
            <ns75:ext cx="723900" cy="0"/>
          </ns75:xfrm>
          <ns76:prstGeom xmlns:ns76="http://schemas.openxmlformats.org/drawingml/2006/main" prst="line">
            <ns76:avLst/>
          </ns76:prstGeom>
          <ns77:ln xmlns:ns77="http://schemas.openxmlformats.org/drawingml/2006/main" w="9525">
            <ns77:solidFill>
              <ns77:srgbClr val="777777"/>
            </ns77:solidFill>
          </ns77:ln>
        </p:spPr>
      </p:sp>
      <p:sp>
        <p:nvSpPr>
          <p:cNvPr id="32" name="Writing guide"/>
          <p:cNvSpPr/>
          <p:nvPr/>
        </p:nvSpPr>
        <p:spPr>
          <ns78:xfrm xmlns:ns78="http://schemas.openxmlformats.org/drawingml/2006/main">
            <ns78:off x="5924550" y="1952625"/>
            <ns78:ext cx="0" cy="723900"/>
          </ns78:xfrm>
          <ns79:prstGeom xmlns:ns79="http://schemas.openxmlformats.org/drawingml/2006/main" prst="line">
            <ns79:avLst/>
          </ns79:prstGeom>
          <ns80:ln xmlns:ns80="http://schemas.openxmlformats.org/drawingml/2006/main" w="9525">
            <ns80:solidFill>
              <ns80:srgbClr val="777777"/>
            </ns80:solidFill>
          </ns80:ln>
        </p:spPr>
      </p:sp>
      <p:sp>
        <p:nvSpPr>
          <p:cNvPr id="33" name="Writing guide"/>
          <p:cNvSpPr/>
          <p:nvPr/>
        </p:nvSpPr>
        <p:spPr>
          <ns81:xfrm xmlns:ns81="http://schemas.openxmlformats.org/drawingml/2006/main">
            <ns81:off x="6648450" y="1952625"/>
            <ns81:ext cx="0" cy="723900"/>
          </ns81:xfrm>
          <ns82:prstGeom xmlns:ns82="http://schemas.openxmlformats.org/drawingml/2006/main" prst="line">
            <ns82:avLst/>
          </ns82:prstGeom>
          <ns83:ln xmlns:ns83="http://schemas.openxmlformats.org/drawingml/2006/main" w="9525">
            <ns83:solidFill>
              <ns83:srgbClr val="777777"/>
            </ns83:solidFill>
          </ns83:ln>
        </p:spPr>
      </p:sp>
      <p:sp>
        <p:nvSpPr>
          <p:cNvPr id="34" name="Writing guide"/>
          <p:cNvSpPr/>
          <p:nvPr/>
        </p:nvSpPr>
        <p:spPr>
          <ns84:xfrm xmlns:ns84="http://schemas.openxmlformats.org/drawingml/2006/main">
            <ns84:off x="6286500" y="1952625"/>
            <ns84:ext cx="0" cy="723900"/>
          </ns84:xfrm>
          <ns85:prstGeom xmlns:ns85="http://schemas.openxmlformats.org/drawingml/2006/main" prst="line">
            <ns85:avLst/>
          </ns85:prstGeom>
          <ns86:ln xmlns:ns86="http://schemas.openxmlformats.org/drawingml/2006/main" w="6350">
            <ns86:solidFill>
              <ns86:srgbClr val="D5D5D5"/>
            </ns86:solidFill>
          </ns86:ln>
        </p:spPr>
      </p:sp>
      <p:sp>
        <p:nvSpPr>
          <p:cNvPr id="35" name="Writing guide"/>
          <p:cNvSpPr/>
          <p:nvPr/>
        </p:nvSpPr>
        <p:spPr>
          <ns87:xfrm xmlns:ns87="http://schemas.openxmlformats.org/drawingml/2006/main">
            <ns87:off x="5924550" y="2314575"/>
            <ns87:ext cx="723900" cy="0"/>
          </ns87:xfrm>
          <ns88:prstGeom xmlns:ns88="http://schemas.openxmlformats.org/drawingml/2006/main" prst="line">
            <ns88:avLst/>
          </ns88:prstGeom>
          <ns89:ln xmlns:ns89="http://schemas.openxmlformats.org/drawingml/2006/main" w="6350">
            <ns89:solidFill>
              <ns89:srgbClr val="D5D5D5"/>
            </ns89:solidFill>
          </ns89:ln>
        </p:spPr>
      </p:sp>
      <p:sp>
        <p:nvSpPr>
          <p:cNvPr id="36" name="Writing guide"/>
          <p:cNvSpPr/>
          <p:nvPr/>
        </p:nvSpPr>
        <p:spPr>
          <ns90:xfrm xmlns:ns90="http://schemas.openxmlformats.org/drawingml/2006/main">
            <ns90:off x="5924550" y="2790825"/>
            <ns90:ext cx="723900" cy="0"/>
          </ns90:xfrm>
          <ns91:prstGeom xmlns:ns91="http://schemas.openxmlformats.org/drawingml/2006/main" prst="line">
            <ns91:avLst/>
          </ns91:prstGeom>
          <ns92:ln xmlns:ns92="http://schemas.openxmlformats.org/drawingml/2006/main" w="9525">
            <ns92:solidFill>
              <ns92:srgbClr val="777777"/>
            </ns92:solidFill>
          </ns92:ln>
        </p:spPr>
      </p:sp>
      <p:sp>
        <p:nvSpPr>
          <p:cNvPr id="37" name="Writing guide"/>
          <p:cNvSpPr/>
          <p:nvPr/>
        </p:nvSpPr>
        <p:spPr>
          <ns93:xfrm xmlns:ns93="http://schemas.openxmlformats.org/drawingml/2006/main">
            <ns93:off x="5924550" y="3514725"/>
            <ns93:ext cx="723900" cy="0"/>
          </ns93:xfrm>
          <ns94:prstGeom xmlns:ns94="http://schemas.openxmlformats.org/drawingml/2006/main" prst="line">
            <ns94:avLst/>
          </ns94:prstGeom>
          <ns95:ln xmlns:ns95="http://schemas.openxmlformats.org/drawingml/2006/main" w="9525">
            <ns95:solidFill>
              <ns95:srgbClr val="777777"/>
            </ns95:solidFill>
          </ns95:ln>
        </p:spPr>
      </p:sp>
      <p:sp>
        <p:nvSpPr>
          <p:cNvPr id="38" name="Writing guide"/>
          <p:cNvSpPr/>
          <p:nvPr/>
        </p:nvSpPr>
        <p:spPr>
          <ns96:xfrm xmlns:ns96="http://schemas.openxmlformats.org/drawingml/2006/main">
            <ns96:off x="5924550" y="2790825"/>
            <ns96:ext cx="0" cy="723900"/>
          </ns96:xfrm>
          <ns97:prstGeom xmlns:ns97="http://schemas.openxmlformats.org/drawingml/2006/main" prst="line">
            <ns97:avLst/>
          </ns97:prstGeom>
          <ns98:ln xmlns:ns98="http://schemas.openxmlformats.org/drawingml/2006/main" w="9525">
            <ns98:solidFill>
              <ns98:srgbClr val="777777"/>
            </ns98:solidFill>
          </ns98:ln>
        </p:spPr>
      </p:sp>
      <p:sp>
        <p:nvSpPr>
          <p:cNvPr id="39" name="Writing guide"/>
          <p:cNvSpPr/>
          <p:nvPr/>
        </p:nvSpPr>
        <p:spPr>
          <ns99:xfrm xmlns:ns99="http://schemas.openxmlformats.org/drawingml/2006/main">
            <ns99:off x="6648450" y="2790825"/>
            <ns99:ext cx="0" cy="723900"/>
          </ns99:xfrm>
          <ns100:prstGeom xmlns:ns100="http://schemas.openxmlformats.org/drawingml/2006/main" prst="line">
            <ns100:avLst/>
          </ns100:prstGeom>
          <ns101:ln xmlns:ns101="http://schemas.openxmlformats.org/drawingml/2006/main" w="9525">
            <ns101:solidFill>
              <ns101:srgbClr val="777777"/>
            </ns101:solidFill>
          </ns101:ln>
        </p:spPr>
      </p:sp>
      <p:sp>
        <p:nvSpPr>
          <p:cNvPr id="40" name="Writing guide"/>
          <p:cNvSpPr/>
          <p:nvPr/>
        </p:nvSpPr>
        <p:spPr>
          <ns102:xfrm xmlns:ns102="http://schemas.openxmlformats.org/drawingml/2006/main">
            <ns102:off x="6286500" y="2790825"/>
            <ns102:ext cx="0" cy="723900"/>
          </ns102:xfrm>
          <ns103:prstGeom xmlns:ns103="http://schemas.openxmlformats.org/drawingml/2006/main" prst="line">
            <ns103:avLst/>
          </ns103:prstGeom>
          <ns104:ln xmlns:ns104="http://schemas.openxmlformats.org/drawingml/2006/main" w="6350">
            <ns104:solidFill>
              <ns104:srgbClr val="D5D5D5"/>
            </ns104:solidFill>
          </ns104:ln>
        </p:spPr>
      </p:sp>
      <p:sp>
        <p:nvSpPr>
          <p:cNvPr id="41" name="Writing guide"/>
          <p:cNvSpPr/>
          <p:nvPr/>
        </p:nvSpPr>
        <p:spPr>
          <ns105:xfrm xmlns:ns105="http://schemas.openxmlformats.org/drawingml/2006/main">
            <ns105:off x="5924550" y="3152775"/>
            <ns105:ext cx="723900" cy="0"/>
          </ns105:xfrm>
          <ns106:prstGeom xmlns:ns106="http://schemas.openxmlformats.org/drawingml/2006/main" prst="line">
            <ns106:avLst/>
          </ns106:prstGeom>
          <ns107:ln xmlns:ns107="http://schemas.openxmlformats.org/drawingml/2006/main" w="6350">
            <ns107:solidFill>
              <ns107:srgbClr val="D5D5D5"/>
            </ns107:solidFill>
          </ns107:ln>
        </p:spPr>
      </p:sp>
      <p:sp xmlns:a="http://schemas.openxmlformats.org/drawingml/2006/main" xmlns:r="http://schemas.openxmlformats.org/officeDocument/2006/relationships">
        <p:nvSpPr>
          <p:cNvPr id="160" name="Google Shape;157;p24"/>
          <p:cNvSpPr txBox="1"/>
          <p:nvPr/>
        </p:nvSpPr>
        <p:spPr>
          <a:xfrm>
            <a:off x="894450" y="4404600"/>
            <a:ext cx="735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rPr>
              <a:t>Characters:</a:t>
            </a:r>
            <a:r>
              <a:rPr lang="en" sz="1200">
                <a:solidFill>
                  <a:schemeClr val="dk1"/>
                </a:solidFill>
              </a:rPr>
              <a:t> Pmx, </a:t>
            </a:r>
            <a:r>
              <a:rPr i="1" lang="en" sz="1200" u="sng">
                <a:solidFill>
                  <a:schemeClr val="hlink"/>
                </a:solidFill>
                <a:hlinkClick r:id="rId5"/>
              </a:rPr>
              <a:t>Table katakana.svg</a:t>
            </a:r>
            <a:r>
              <a:rPr lang="en" sz="1200">
                <a:solidFill>
                  <a:schemeClr val="dk1"/>
                </a:solidFill>
              </a:rPr>
              <a:t> — </a:t>
            </a:r>
            <a:r>
              <a:rPr lang="en" sz="1200" u="sng">
                <a:solidFill>
                  <a:schemeClr val="hlink"/>
                </a:solidFill>
                <a:hlinkClick r:id="rId6"/>
              </a:rPr>
              <a:t>CC BY-SA 3.0</a:t>
            </a:r>
            <a:r>
              <a:rPr lang="en" sz="1200">
                <a:solidFill>
                  <a:schemeClr val="dk1"/>
                </a:solidFill>
              </a:rPr>
              <a:t> · </a:t>
            </a:r>
            <a:br>
              <a:rPr lang="en" sz="1200">
                <a:solidFill>
                  <a:schemeClr val="dk1"/>
                </a:solidFill>
              </a:rPr>
            </a:br>
            <a:r>
              <a:rPr lang="en" sz="1200">
                <a:solidFill>
                  <a:schemeClr val="dk1"/>
                </a:solidFill>
              </a:rPr>
              <a:t>Wikimedia Commons · Cropped/resized from the original work</a:t>
            </a:r>
            <a:endParaRPr sz="1200"/>
          </a:p>
        </p:txBody>
      </p:sp>
      <p:pic xmlns:a="http://schemas.openxmlformats.org/drawingml/2006/main" xmlns:r="http://schemas.openxmlformats.org/officeDocument/2006/relationships">
        <p:nvPicPr>
          <p:cNvPr id="150" name="Google Shape;160;p24"/>
          <p:cNvPicPr preferRelativeResize="0"/>
          <p:nvPr/>
        </p:nvPicPr>
        <p:blipFill>
          <a:blip r:embed="rIdStroke0">
            <a:alphaModFix/>
          </a:blip>
          <a:stretch>
            <a:fillRect/>
          </a:stretch>
        </p:blipFill>
        <p:spPr>
          <a:xfrm>
            <a:off x="2565708" y="952500"/>
            <a:ext cx="774084" cy="942975"/>
          </a:xfrm>
          <a:prstGeom prst="rect">
            <a:avLst/>
          </a:prstGeom>
          <a:noFill/>
          <a:ln>
            <a:noFill/>
          </a:ln>
        </p:spPr>
      </p:pic>
      <p:pic xmlns:a="http://schemas.openxmlformats.org/drawingml/2006/main" xmlns:r="http://schemas.openxmlformats.org/officeDocument/2006/relationships">
        <p:nvPicPr>
          <p:cNvPr id="151" name="Google Shape;160;p24"/>
          <p:cNvPicPr preferRelativeResize="0"/>
          <p:nvPr/>
        </p:nvPicPr>
        <p:blipFill>
          <a:blip r:embed="rIdStroke1">
            <a:alphaModFix/>
          </a:blip>
          <a:stretch>
            <a:fillRect/>
          </a:stretch>
        </p:blipFill>
        <p:spPr>
          <a:xfrm>
            <a:off x="4228693" y="952500"/>
            <a:ext cx="781864" cy="942975"/>
          </a:xfrm>
          <a:prstGeom prst="rect">
            <a:avLst/>
          </a:prstGeom>
          <a:noFill/>
          <a:ln>
            <a:noFill/>
          </a:ln>
        </p:spPr>
      </p:pic>
      <p:pic xmlns:a="http://schemas.openxmlformats.org/drawingml/2006/main" xmlns:r="http://schemas.openxmlformats.org/officeDocument/2006/relationships">
        <p:nvPicPr>
          <p:cNvPr id="152" name="Google Shape;160;p24"/>
          <p:cNvPicPr preferRelativeResize="0"/>
          <p:nvPr/>
        </p:nvPicPr>
        <p:blipFill>
          <a:blip r:embed="rIdStroke2">
            <a:alphaModFix/>
          </a:blip>
          <a:stretch>
            <a:fillRect/>
          </a:stretch>
        </p:blipFill>
        <p:spPr>
          <a:xfrm>
            <a:off x="5901804" y="952500"/>
            <a:ext cx="769393" cy="942975"/>
          </a:xfrm>
          <a:prstGeom prst="rect">
            <a:avLst/>
          </a:prstGeom>
          <a:noFill/>
          <a:ln>
            <a:noFill/>
          </a:ln>
        </p:spPr>
      </p:pic>
    </p:spTree>
    <p:extLst>
      <p:ext uri="{BB962C8B-B14F-4D97-AF65-F5344CB8AC3E}">
        <p14:creationId xmlns:p14="http://schemas.microsoft.com/office/powerpoint/2010/main" val="1935321925"/>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コ</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コ</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ア</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cocoa</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ケ</ns0:t>
            </ns0:r>
          </ns0:p>
        </p:txBody>
      </p:sp>
      <p:sp>
        <p:nvSpPr>
          <p:cNvPr id="18"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ア</ns0:t>
            </ns0:r>
          </ns0:p>
        </p:txBody>
      </p:sp>
      <p:sp>
        <p:nvSpPr>
          <p:cNvPr id="20"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care</ns0:t>
            </ns0:r>
          </ns0:p>
        </p:txBody>
      </p:sp>
    </p:spTree>
    <p:extLst>
      <p:ext uri="{BB962C8B-B14F-4D97-AF65-F5344CB8AC3E}">
        <p14:creationId xmlns:p14="http://schemas.microsoft.com/office/powerpoint/2010/main" val="1935321925"/>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ア</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イ</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ス</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ice / ice cream</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キ</ns0:t>
            </ns0:r>
          </ns0:p>
        </p:txBody>
      </p:sp>
      <p:sp>
        <p:nvSpPr>
          <p:cNvPr id="18"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ス</ns0:t>
            </ns0:r>
          </ns0:p>
        </p:txBody>
      </p:sp>
      <p:sp>
        <p:nvSpPr>
          <p:cNvPr id="20"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kiss</ns0:t>
            </ns0:r>
          </ns0:p>
        </p:txBody>
      </p:sp>
    </p:spTree>
    <p:extLst>
      <p:ext uri="{BB962C8B-B14F-4D97-AF65-F5344CB8AC3E}">
        <p14:creationId xmlns:p14="http://schemas.microsoft.com/office/powerpoint/2010/main" val="1935321925"/>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8572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テ</ns0:t>
            </ns0:r>
          </ns0:p>
        </p:txBody>
      </p:sp>
      <p:sp>
        <p:nvSpPr>
          <p:cNvPr id="11" name="Romaji answer box"/>
          <p:cNvSpPr/>
          <p:nvPr/>
        </p:nvSpPr>
        <p:spPr>
          <ns0:xfrm xmlns:ns0="http://schemas.openxmlformats.org/drawingml/2006/main">
            <ns0:off x="8572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6954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キ</ns0:t>
            </ns0:r>
          </ns0:p>
        </p:txBody>
      </p:sp>
      <p:sp>
        <p:nvSpPr>
          <p:cNvPr id="13" name="Romaji answer box"/>
          <p:cNvSpPr/>
          <p:nvPr/>
        </p:nvSpPr>
        <p:spPr>
          <ns0:xfrm xmlns:ns0="http://schemas.openxmlformats.org/drawingml/2006/main">
            <ns0:off x="16954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ス</ns0:t>
            </ns0:r>
          </ns0:p>
        </p:txBody>
      </p:sp>
      <p:sp>
        <p:nvSpPr>
          <p:cNvPr id="15" name="Romaji answer box"/>
          <p:cNvSpPr/>
          <p:nvPr/>
        </p:nvSpPr>
        <p:spPr>
          <ns0:xfrm xmlns:ns0="http://schemas.openxmlformats.org/drawingml/2006/main">
            <ns0:off x="25336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718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ト</ns0:t>
            </ns0:r>
          </ns0:p>
        </p:txBody>
      </p:sp>
      <p:sp>
        <p:nvSpPr>
          <p:cNvPr id="17" name="Romaji answer box"/>
          <p:cNvSpPr/>
          <p:nvPr/>
        </p:nvSpPr>
        <p:spPr>
          <ns0:xfrm xmlns:ns0="http://schemas.openxmlformats.org/drawingml/2006/main">
            <ns0:off x="33718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8"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text / textbook</ns0:t>
            </ns0:r>
          </ns0:p>
        </p:txBody>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67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タ</ns0:t>
            </ns0:r>
          </ns0:p>
        </p:txBody>
      </p:sp>
      <p:sp>
        <p:nvSpPr>
          <p:cNvPr id="20" name="Romaji answer box"/>
          <p:cNvSpPr/>
          <p:nvPr/>
        </p:nvSpPr>
        <p:spPr>
          <ns0:xfrm xmlns:ns0="http://schemas.openxmlformats.org/drawingml/2006/main">
            <ns0:off x="5267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コ</ns0:t>
            </ns0:r>
          </ns0:p>
        </p:txBody>
      </p:sp>
      <p:sp>
        <p:nvSpPr>
          <p:cNvPr id="22" name="Romaji answer box"/>
          <p:cNvSpPr/>
          <p:nvPr/>
        </p:nvSpPr>
        <p:spPr>
          <ns0:xfrm xmlns:ns0="http://schemas.openxmlformats.org/drawingml/2006/main">
            <ns0:off x="6238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3"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210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ス</ns0:t>
            </ns0:r>
          </ns0:p>
        </p:txBody>
      </p:sp>
      <p:sp>
        <p:nvSpPr>
          <p:cNvPr id="24" name="Romaji answer box"/>
          <p:cNvSpPr/>
          <p:nvPr/>
        </p:nvSpPr>
        <p:spPr>
          <ns0:xfrm xmlns:ns0="http://schemas.openxmlformats.org/drawingml/2006/main">
            <ns0:off x="7210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5"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tacos</ns0:t>
            </ns0:r>
          </ns0:p>
        </p:txBody>
      </p:sp>
    </p:spTree>
    <p:extLst>
      <p:ext uri="{BB962C8B-B14F-4D97-AF65-F5344CB8AC3E}">
        <p14:creationId xmlns:p14="http://schemas.microsoft.com/office/powerpoint/2010/main" val="193532192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562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ネ</ns0:t>
            </ns0:r>
          </ns0:p>
        </p:txBody>
      </p:sp>
      <p:sp>
        <p:nvSpPr>
          <p:cNvPr id="11" name="Romaji answer box"/>
          <p:cNvSpPr/>
          <p:nvPr/>
        </p:nvSpPr>
        <p:spPr>
          <ns0:xfrm xmlns:ns0="http://schemas.openxmlformats.org/drawingml/2006/main">
            <ns0:off x="1562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33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コ</ns0:t>
            </ns0:r>
          </ns0:p>
        </p:txBody>
      </p:sp>
      <p:sp>
        <p:nvSpPr>
          <p:cNvPr id="13" name="Romaji answer box"/>
          <p:cNvSpPr/>
          <p:nvPr/>
        </p:nvSpPr>
        <p:spPr>
          <ns0:xfrm xmlns:ns0="http://schemas.openxmlformats.org/drawingml/2006/main">
            <ns0:off x="2533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cat</ns0:t>
            </ns0:r>
          </ns0:p>
        </p:txBody>
      </p:sp>
      <p:sp>
        <p:nvSpPr>
          <p:cNvPr id="15"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イ</ns0:t>
            </ns0:r>
          </ns0:p>
        </p:txBody>
      </p:sp>
      <p:sp>
        <p:nvSpPr>
          <p:cNvPr id="16"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ヌ</ns0:t>
            </ns0:r>
          </ns0:p>
        </p:txBody>
      </p:sp>
      <p:sp>
        <p:nvSpPr>
          <p:cNvPr id="18"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dog</ns0:t>
            </ns0:r>
          </ns0:p>
        </p:txBody>
      </p:sp>
    </p:spTree>
    <p:extLst>
      <p:ext uri="{BB962C8B-B14F-4D97-AF65-F5344CB8AC3E}">
        <p14:creationId xmlns:p14="http://schemas.microsoft.com/office/powerpoint/2010/main" val="1935321925"/>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ハ</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ウ</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ス</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house</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0482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ハ</ns0:t>
            </ns0:r>
          </ns0:p>
        </p:txBody>
      </p:sp>
      <p:sp>
        <p:nvSpPr>
          <p:cNvPr id="18" name="Romaji answer box"/>
          <p:cNvSpPr/>
          <p:nvPr/>
        </p:nvSpPr>
        <p:spPr>
          <ns0:xfrm xmlns:ns0="http://schemas.openxmlformats.org/drawingml/2006/main">
            <ns0:off x="50482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8864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イ</ns0:t>
            </ns0:r>
          </ns0:p>
        </p:txBody>
      </p:sp>
      <p:sp>
        <p:nvSpPr>
          <p:cNvPr id="20" name="Romaji answer box"/>
          <p:cNvSpPr/>
          <p:nvPr/>
        </p:nvSpPr>
        <p:spPr>
          <ns0:xfrm xmlns:ns0="http://schemas.openxmlformats.org/drawingml/2006/main">
            <ns0:off x="58864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エ</ns0:t>
            </ns0:r>
          </ns0:p>
        </p:txBody>
      </p:sp>
      <p:sp>
        <p:nvSpPr>
          <p:cNvPr id="22" name="Romaji answer box"/>
          <p:cNvSpPr/>
          <p:nvPr/>
        </p:nvSpPr>
        <p:spPr>
          <ns0:xfrm xmlns:ns0="http://schemas.openxmlformats.org/drawingml/2006/main">
            <ns0:off x="67246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3"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5628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ナ</ns0:t>
            </ns0:r>
          </ns0:p>
        </p:txBody>
      </p:sp>
      <p:sp>
        <p:nvSpPr>
          <p:cNvPr id="24" name="Romaji answer box"/>
          <p:cNvSpPr/>
          <p:nvPr/>
        </p:nvSpPr>
        <p:spPr>
          <ns0:xfrm xmlns:ns0="http://schemas.openxmlformats.org/drawingml/2006/main">
            <ns0:off x="75628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5"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hyena</ns0:t>
            </ns0:r>
          </ns0:p>
        </p:txBody>
      </p:sp>
    </p:spTree>
    <p:extLst>
      <p:ext uri="{BB962C8B-B14F-4D97-AF65-F5344CB8AC3E}">
        <p14:creationId xmlns:p14="http://schemas.microsoft.com/office/powerpoint/2010/main" val="1935321925"/>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マ</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イ</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ク</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microphone</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75310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ウ</ns0:t>
            </ns0:r>
          </ns0:p>
        </p:txBody>
      </p:sp>
      <p:sp>
        <p:nvSpPr>
          <p:cNvPr id="18" name="Romaji answer box"/>
          <p:cNvSpPr/>
          <p:nvPr/>
        </p:nvSpPr>
        <p:spPr>
          <ns0:xfrm xmlns:ns0="http://schemas.openxmlformats.org/drawingml/2006/main">
            <ns0:off x="575310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マ</ns0:t>
            </ns0:r>
          </ns0:p>
        </p:txBody>
      </p:sp>
      <p:sp>
        <p:nvSpPr>
          <p:cNvPr id="20" name="Romaji answer box"/>
          <p:cNvSpPr/>
          <p:nvPr/>
        </p:nvSpPr>
        <p:spPr>
          <ns0:xfrm xmlns:ns0="http://schemas.openxmlformats.org/drawingml/2006/main">
            <ns0:off x="6724650"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horse</ns0:t>
            </ns0:r>
          </ns0:p>
        </p:txBody>
      </p:sp>
    </p:spTree>
    <p:extLst>
      <p:ext uri="{BB962C8B-B14F-4D97-AF65-F5344CB8AC3E}">
        <p14:creationId xmlns:p14="http://schemas.microsoft.com/office/powerpoint/2010/main" val="193532192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タ</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イ</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ヤ</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tire</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0482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ヤ</ns0:t>
            </ns0:r>
          </ns0:p>
        </p:txBody>
      </p:sp>
      <p:sp>
        <p:nvSpPr>
          <p:cNvPr id="18" name="Romaji answer box"/>
          <p:cNvSpPr/>
          <p:nvPr/>
        </p:nvSpPr>
        <p:spPr>
          <ns0:xfrm xmlns:ns0="http://schemas.openxmlformats.org/drawingml/2006/main">
            <ns0:off x="50482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8864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マ</ns0:t>
            </ns0:r>
          </ns0:p>
        </p:txBody>
      </p:sp>
      <p:sp>
        <p:nvSpPr>
          <p:cNvPr id="20" name="Romaji answer box"/>
          <p:cNvSpPr/>
          <p:nvPr/>
        </p:nvSpPr>
        <p:spPr>
          <ns0:xfrm xmlns:ns0="http://schemas.openxmlformats.org/drawingml/2006/main">
            <ns0:off x="58864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246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ネ</ns0:t>
            </ns0:r>
          </ns0:p>
        </p:txBody>
      </p:sp>
      <p:sp>
        <p:nvSpPr>
          <p:cNvPr id="22" name="Romaji answer box"/>
          <p:cNvSpPr/>
          <p:nvPr/>
        </p:nvSpPr>
        <p:spPr>
          <ns0:xfrm xmlns:ns0="http://schemas.openxmlformats.org/drawingml/2006/main">
            <ns0:off x="67246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3"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562850" y="1524000"/>
            <a:ext cx="723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300" b="0">
                <ns0:solidFill>
                  <ns0:srgbClr val="000000"/>
                </ns0:solidFill>
                <ns0:latin typeface="Arial"/>
                <ns0:ea typeface="Noto Sans CJK JP"/>
              </ns0:rPr>
              <ns0:t>コ</ns0:t>
            </ns0:r>
          </ns0:p>
        </p:txBody>
      </p:sp>
      <p:sp>
        <p:nvSpPr>
          <p:cNvPr id="24" name="Romaji answer box"/>
          <p:cNvSpPr/>
          <p:nvPr/>
        </p:nvSpPr>
        <p:spPr>
          <ns0:xfrm xmlns:ns0="http://schemas.openxmlformats.org/drawingml/2006/main">
            <ns0:off x="7562850" y="2619375"/>
            <ns0:ext cx="723900" cy="7239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5"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wildcat</ns0:t>
            </ns0:r>
          </ns0:p>
        </p:txBody>
      </p:sp>
    </p:spTree>
    <p:extLst>
      <p:ext uri="{BB962C8B-B14F-4D97-AF65-F5344CB8AC3E}">
        <p14:creationId xmlns:p14="http://schemas.microsoft.com/office/powerpoint/2010/main" val="193532192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ミ</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ル</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ク</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milk</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67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ホ</ns0:t>
            </ns0:r>
          </ns0:p>
        </p:txBody>
      </p:sp>
      <p:sp>
        <p:nvSpPr>
          <p:cNvPr id="18" name="Romaji answer box"/>
          <p:cNvSpPr/>
          <p:nvPr/>
        </p:nvSpPr>
        <p:spPr>
          <ns0:xfrm xmlns:ns0="http://schemas.openxmlformats.org/drawingml/2006/main">
            <ns0:off x="5267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テ</ns0:t>
            </ns0:r>
          </ns0:p>
        </p:txBody>
      </p:sp>
      <p:sp>
        <p:nvSpPr>
          <p:cNvPr id="20" name="Romaji answer box"/>
          <p:cNvSpPr/>
          <p:nvPr/>
        </p:nvSpPr>
        <p:spPr>
          <ns0:xfrm xmlns:ns0="http://schemas.openxmlformats.org/drawingml/2006/main">
            <ns0:off x="6238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210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ル</ns0:t>
            </ns0:r>
          </ns0:p>
        </p:txBody>
      </p:sp>
      <p:sp>
        <p:nvSpPr>
          <p:cNvPr id="22" name="Romaji answer box"/>
          <p:cNvSpPr/>
          <p:nvPr/>
        </p:nvSpPr>
        <p:spPr>
          <ns0:xfrm xmlns:ns0="http://schemas.openxmlformats.org/drawingml/2006/main">
            <ns0:off x="7210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3"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hotel</ns0:t>
            </ns0:r>
          </ns0:p>
        </p:txBody>
      </p:sp>
    </p:spTree>
    <p:extLst>
      <p:ext uri="{BB962C8B-B14F-4D97-AF65-F5344CB8AC3E}">
        <p14:creationId xmlns:p14="http://schemas.microsoft.com/office/powerpoint/2010/main" val="1935321925"/>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Read These Words!</ns0:t>
            </ns0:r>
          </ns0:p>
        </p:txBody>
      </p:sp>
      <p:sp>
        <p:nvSpPr>
          <p:cNvPr id="2" name="Write the romaji below each character. Then read the whole word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romaji below each character. Then read the whole word aloud.</ns0:t>
            </ns0:r>
          </ns0:p>
        </p:txBody>
      </p:sp>
      <p:sp>
        <p:nvSpPr>
          <p:cNvPr id="10"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1076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ワ</ns0:t>
            </ns0:r>
          </ns0:p>
        </p:txBody>
      </p:sp>
      <p:sp>
        <p:nvSpPr>
          <p:cNvPr id="11" name="Romaji answer box"/>
          <p:cNvSpPr/>
          <p:nvPr/>
        </p:nvSpPr>
        <p:spPr>
          <ns0:xfrm xmlns:ns0="http://schemas.openxmlformats.org/drawingml/2006/main">
            <ns0:off x="1076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047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イ</ns0:t>
            </ns0:r>
          </ns0:p>
        </p:txBody>
      </p:sp>
      <p:sp>
        <p:nvSpPr>
          <p:cNvPr id="13" name="Romaji answer box"/>
          <p:cNvSpPr/>
          <p:nvPr/>
        </p:nvSpPr>
        <p:spPr>
          <ns0:xfrm xmlns:ns0="http://schemas.openxmlformats.org/drawingml/2006/main">
            <ns0:off x="2047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019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ン</ns0:t>
            </ns0:r>
          </ns0:p>
        </p:txBody>
      </p:sp>
      <p:sp>
        <p:nvSpPr>
          <p:cNvPr id="15" name="Romaji answer box"/>
          <p:cNvSpPr/>
          <p:nvPr/>
        </p:nvSpPr>
        <p:spPr>
          <ns0:xfrm xmlns:ns0="http://schemas.openxmlformats.org/drawingml/2006/main">
            <ns0:off x="3019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6"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66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wine</ns0:t>
            </ns0:r>
          </ns0:p>
        </p:txBody>
      </p:sp>
      <p:sp>
        <p:nvSpPr>
          <p:cNvPr id="17"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673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ア</ns0:t>
            </ns0:r>
          </ns0:p>
        </p:txBody>
      </p:sp>
      <p:sp>
        <p:nvSpPr>
          <p:cNvPr id="18" name="Romaji answer box"/>
          <p:cNvSpPr/>
          <p:nvPr/>
        </p:nvSpPr>
        <p:spPr>
          <ns0:xfrm xmlns:ns0="http://schemas.openxmlformats.org/drawingml/2006/main">
            <ns0:off x="52673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9"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ニ</ns0:t>
            </ns0:r>
          </ns0:p>
        </p:txBody>
      </p:sp>
      <p:sp>
        <p:nvSpPr>
          <p:cNvPr id="20" name="Romaji answer box"/>
          <p:cNvSpPr/>
          <p:nvPr/>
        </p:nvSpPr>
        <p:spPr>
          <ns0:xfrm xmlns:ns0="http://schemas.openxmlformats.org/drawingml/2006/main">
            <ns0:off x="623887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1" name="エ">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7210425" y="1524000"/>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4900" b="0">
                <ns0:solidFill>
                  <ns0:srgbClr val="000000"/>
                </ns0:solidFill>
                <ns0:latin typeface="Arial"/>
                <ns0:ea typeface="Noto Sans CJK JP"/>
              </ns0:rPr>
              <ns0:t>メ</ns0:t>
            </ns0:r>
          </ns0:p>
        </p:txBody>
      </p:sp>
      <p:sp>
        <p:nvSpPr>
          <p:cNvPr id="22" name="Romaji answer box"/>
          <p:cNvSpPr/>
          <p:nvPr/>
        </p:nvSpPr>
        <p:spPr>
          <ns0:xfrm xmlns:ns0="http://schemas.openxmlformats.org/drawingml/2006/main">
            <ns0:off x="7210425" y="2619375"/>
            <ns0:ext cx="857250" cy="8572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23" name="ai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857750" y="37147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animation / anime</ns0:t>
            </ns0:r>
          </ns0:p>
        </p:txBody>
      </p:sp>
    </p:spTree>
    <p:extLst>
      <p:ext uri="{BB962C8B-B14F-4D97-AF65-F5344CB8AC3E}">
        <p14:creationId xmlns:p14="http://schemas.microsoft.com/office/powerpoint/2010/main" val="1935321925"/>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Build These Sound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800" b="1">
                <ns0:solidFill>
                  <ns0:srgbClr val="595959"/>
                </ns0:solidFill>
                <ns0:latin typeface="Arial"/>
                <ns0:ea typeface="Noto Sans CJK JP"/>
              </ns0:rPr>
              <ns0:t>Build These Sounds!</ns0:t>
            </ns0:r>
          </ns0:p>
        </p:txBody>
      </p:sp>
      <p:sp>
        <p:nvSpPr>
          <p:cNvPr id="2" name="Write the resulting katakana. Keep small kana small.">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resulting katakana. Keep small kana small.</ns0:t>
            </ns0:r>
          </ns0:p>
        </p:txBody>
      </p:sp>
      <p:sp>
        <p:nvSpPr>
          <p:cNvPr id="10" name="カ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カ + ゛</ns0:t>
            </ns0:r>
          </ns0:p>
        </p:txBody>
      </p:sp>
      <p:sp>
        <p:nvSpPr>
          <p:cNvPr id="20" name="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286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Dakuten</ns0:t>
            </ns0:r>
          </ns0:p>
        </p:txBody>
      </p:sp>
      <p:sp>
        <p:nvSpPr>
          <p:cNvPr id="30" name="Romaji answer box"/>
          <p:cNvSpPr/>
          <p:nvPr/>
        </p:nvSpPr>
        <p:spPr>
          <ns0:xfrm xmlns:ns0="http://schemas.openxmlformats.org/drawingml/2006/main">
            <ns0:off x="1095375"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0" name="Romaji answer box"/>
          <p:cNvSpPr/>
          <p:nvPr/>
        </p:nvSpPr>
        <p:spPr>
          <ns0:xfrm xmlns:ns0="http://schemas.openxmlformats.org/drawingml/2006/main">
            <ns0:off x="1428750"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1" name="Romaji answer box"/>
          <p:cNvSpPr/>
          <p:nvPr/>
        </p:nvSpPr>
        <p:spPr>
          <ns0:xfrm xmlns:ns0="http://schemas.openxmlformats.org/drawingml/2006/main">
            <ns0:off x="1095375"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1" name="ハ + ゜">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ハ + ゜</ns0:t>
            </ns0:r>
          </ns0:p>
        </p:txBody>
      </p:sp>
      <p:sp>
        <p:nvSpPr>
          <p:cNvPr id="21" name="Handakuten">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25241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Handakuten</ns0:t>
            </ns0:r>
          </ns0:p>
        </p:txBody>
      </p:sp>
      <p:sp>
        <p:nvSpPr>
          <p:cNvPr id="33" name="Romaji answer box"/>
          <p:cNvSpPr/>
          <p:nvPr/>
        </p:nvSpPr>
        <p:spPr>
          <ns0:xfrm xmlns:ns0="http://schemas.openxmlformats.org/drawingml/2006/main">
            <ns0:off x="3190875"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3" name="Romaji answer box"/>
          <p:cNvSpPr/>
          <p:nvPr/>
        </p:nvSpPr>
        <p:spPr>
          <ns0:xfrm xmlns:ns0="http://schemas.openxmlformats.org/drawingml/2006/main">
            <ns0:off x="3524250"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4" name="Romaji answer box"/>
          <p:cNvSpPr/>
          <p:nvPr/>
        </p:nvSpPr>
        <p:spPr>
          <ns0:xfrm xmlns:ns0="http://schemas.openxmlformats.org/drawingml/2006/main">
            <ns0:off x="3190875"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2" name="キ + small 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キ + small ャ</ns0:t>
            </ns0:r>
          </ns0:p>
        </p:txBody>
      </p:sp>
      <p:sp>
        <p:nvSpPr>
          <p:cNvPr id="22" name="Combined soun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6196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Combined sound</ns0:t>
            </ns0:r>
          </ns0:p>
        </p:txBody>
      </p:sp>
      <p:sp>
        <p:nvSpPr>
          <p:cNvPr id="36" name="Romaji answer box"/>
          <p:cNvSpPr/>
          <p:nvPr/>
        </p:nvSpPr>
        <p:spPr>
          <ns0:xfrm xmlns:ns0="http://schemas.openxmlformats.org/drawingml/2006/main">
            <ns0:off x="491490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6" name="Romaji answer box"/>
          <p:cNvSpPr/>
          <p:nvPr/>
        </p:nvSpPr>
        <p:spPr>
          <ns0:xfrm xmlns:ns0="http://schemas.openxmlformats.org/drawingml/2006/main">
            <ns0:off x="524827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7" name="Romaji answer box"/>
          <p:cNvSpPr/>
          <p:nvPr/>
        </p:nvSpPr>
        <p:spPr>
          <ns0:xfrm xmlns:ns0="http://schemas.openxmlformats.org/drawingml/2006/main">
            <ns0:off x="491490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37" name="Romaji answer box"/>
          <p:cNvSpPr/>
          <p:nvPr/>
        </p:nvSpPr>
        <p:spPr>
          <ns0:xfrm xmlns:ns0="http://schemas.openxmlformats.org/drawingml/2006/main">
            <ns0:off x="565785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7" name="Romaji answer box"/>
          <p:cNvSpPr/>
          <p:nvPr/>
        </p:nvSpPr>
        <p:spPr>
          <ns0:xfrm xmlns:ns0="http://schemas.openxmlformats.org/drawingml/2006/main">
            <ns0:off x="599122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38" name="Romaji answer box"/>
          <p:cNvSpPr/>
          <p:nvPr/>
        </p:nvSpPr>
        <p:spPr>
          <ns0:xfrm xmlns:ns0="http://schemas.openxmlformats.org/drawingml/2006/main">
            <ns0:off x="565785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3" name="テ + small ィ">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1619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300" b="0">
                <ns0:solidFill>
                  <ns0:srgbClr val="000000"/>
                </ns0:solidFill>
                <ns0:latin typeface="Arial"/>
                <ns0:ea typeface="Noto Sans CJK JP"/>
              </ns0:rPr>
              <ns0:t>テ + small ィ</ns0:t>
            </ns0:r>
          </ns0:p>
        </p:txBody>
      </p:sp>
      <p:sp>
        <p:nvSpPr>
          <p:cNvPr id="23" name="Loanword soun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715125" y="2238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1">
                <ns0:solidFill>
                  <ns0:srgbClr val="595959"/>
                </ns0:solidFill>
                <ns0:latin typeface="Arial"/>
                <ns0:ea typeface="Noto Sans CJK JP"/>
              </ns0:rPr>
              <ns0:t>Loanword sound</ns0:t>
            </ns0:r>
          </ns0:p>
        </p:txBody>
      </p:sp>
      <p:sp>
        <p:nvSpPr>
          <p:cNvPr id="39" name="Romaji answer box"/>
          <p:cNvSpPr/>
          <p:nvPr/>
        </p:nvSpPr>
        <p:spPr>
          <ns0:xfrm xmlns:ns0="http://schemas.openxmlformats.org/drawingml/2006/main">
            <ns0:off x="701040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39" name="Romaji answer box"/>
          <p:cNvSpPr/>
          <p:nvPr/>
        </p:nvSpPr>
        <p:spPr>
          <ns0:xfrm xmlns:ns0="http://schemas.openxmlformats.org/drawingml/2006/main">
            <ns0:off x="734377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40" name="Romaji answer box"/>
          <p:cNvSpPr/>
          <p:nvPr/>
        </p:nvSpPr>
        <p:spPr>
          <ns0:xfrm xmlns:ns0="http://schemas.openxmlformats.org/drawingml/2006/main">
            <ns0:off x="701040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40" name="Romaji answer box"/>
          <p:cNvSpPr/>
          <p:nvPr/>
        </p:nvSpPr>
        <p:spPr>
          <ns0:xfrm xmlns:ns0="http://schemas.openxmlformats.org/drawingml/2006/main">
            <ns0:off x="7753350" y="2857500"/>
            <ns0:ext cx="666750" cy="66675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040" name="Romaji answer box"/>
          <p:cNvSpPr/>
          <p:nvPr/>
        </p:nvSpPr>
        <p:spPr>
          <ns0:xfrm xmlns:ns0="http://schemas.openxmlformats.org/drawingml/2006/main">
            <ns0:off x="8086725" y="2857500"/>
            <ns0:ext cx="0" cy="66675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1041" name="Romaji answer box"/>
          <p:cNvSpPr/>
          <p:nvPr/>
        </p:nvSpPr>
        <p:spPr>
          <ns0:xfrm xmlns:ns0="http://schemas.openxmlformats.org/drawingml/2006/main">
            <ns0:off x="7753350" y="3190875"/>
            <ns0:ext cx="666750" cy="0"/>
          </ns0:xfrm>
          <ns1:prstGeom xmlns:ns1="http://schemas.openxmlformats.org/drawingml/2006/main" prst="line">
            <ns1:avLst/>
          </ns1:prstGeom>
          <ns2:noFill xmlns:ns2="http://schemas.openxmlformats.org/drawingml/2006/main"/>
          <ns3:ln xmlns:ns3="http://schemas.openxmlformats.org/drawingml/2006/main" w="12700">
            <ns3:solidFill>
              <ns3:srgbClr val="D5D5D5"/>
            </ns3:solidFill>
          </ns3:ln>
        </p:spPr>
      </p:sp>
      <p:sp>
        <p:nvSpPr>
          <p:cNvPr id="50" name="For combinations, use the second box for the small character.">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19125" y="385762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l"/>
            <ns0:r>
              <ns0:rPr sz="1600" b="0">
                <ns0:solidFill>
                  <ns0:srgbClr val="000000"/>
                </ns0:solidFill>
                <ns0:latin typeface="Arial"/>
                <ns0:ea typeface="Noto Sans CJK JP"/>
              </ns0:rPr>
              <ns0:t>For combinations, use the second box for the small character.</ns0:t>
            </ns0:r>
          </ns0:p>
        </p:txBody>
      </p:sp>
    </p:spTree>
    <p:extLst>
      <p:ext uri="{BB962C8B-B14F-4D97-AF65-F5344CB8AC3E}">
        <p14:creationId xmlns:p14="http://schemas.microsoft.com/office/powerpoint/2010/main" val="193532192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ead These Words! Sound Rules">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238125"/>
            <a:ext cx="8229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2700" b="1">
                <ns0:solidFill>
                  <ns0:srgbClr val="595959"/>
                </ns0:solidFill>
                <ns0:latin typeface="Arial"/>
                <ns0:ea typeface="Noto Sans CJK JP"/>
              </ns0:rPr>
              <ns0:t>Read These Words! Sound Rules</ns0:t>
            </ns0:r>
          </ns0:p>
        </p:txBody>
      </p:sp>
      <p:sp>
        <p:nvSpPr>
          <p:cNvPr id="2" name="Write the whole word in romaji. Then read it aloud.">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457200" y="80962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700" b="0">
                <ns0:solidFill>
                  <ns0:srgbClr val="000000"/>
                </ns0:solidFill>
                <ns0:latin typeface="Arial"/>
                <ns0:ea typeface="Noto Sans CJK JP"/>
              </ns0:rPr>
              <ns0:t>Write the whole word in romaji. Then read it aloud.</ns0:t>
            </ns0:r>
          </ns0:p>
        </p:txBody>
      </p:sp>
      <p:sp>
        <p:nvSpPr>
          <p:cNvPr id="10" name="バナナ">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1333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300" b="0">
                <ns0:solidFill>
                  <ns0:srgbClr val="000000"/>
                </ns0:solidFill>
                <ns0:latin typeface="Arial"/>
                <ns0:ea typeface="Noto Sans CJK JP"/>
              </ns0:rPr>
              <ns0:t>バナナ</ns0:t>
            </ns0:r>
          </ns0:p>
        </p:txBody>
      </p:sp>
      <p:sp>
        <p:nvSpPr>
          <p:cNvPr id="20" name="banan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1905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banana</ns0:t>
            </ns0:r>
          </ns0:p>
        </p:txBody>
      </p:sp>
      <p:sp>
        <p:nvSpPr>
          <p:cNvPr id="30" name="Romaji answer box"/>
          <p:cNvSpPr/>
          <p:nvPr/>
        </p:nvSpPr>
        <p:spPr>
          <ns0:xfrm xmlns:ns0="http://schemas.openxmlformats.org/drawingml/2006/main">
            <ns0:off x="571500" y="2286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1" name="パンダ">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1333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300" b="0">
                <ns0:solidFill>
                  <ns0:srgbClr val="000000"/>
                </ns0:solidFill>
                <ns0:latin typeface="Arial"/>
                <ns0:ea typeface="Noto Sans CJK JP"/>
              </ns0:rPr>
              <ns0:t>パンダ</ns0:t>
            </ns0:r>
          </ns0:p>
        </p:txBody>
      </p:sp>
      <p:sp>
        <p:nvSpPr>
          <p:cNvPr id="21" name="pand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1905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panda</ns0:t>
            </ns0:r>
          </ns0:p>
        </p:txBody>
      </p:sp>
      <p:sp>
        <p:nvSpPr>
          <p:cNvPr id="31" name="Romaji answer box"/>
          <p:cNvSpPr/>
          <p:nvPr/>
        </p:nvSpPr>
        <p:spPr>
          <ns0:xfrm xmlns:ns0="http://schemas.openxmlformats.org/drawingml/2006/main">
            <ns0:off x="3429000" y="2286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2" name="シャツ">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333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300" b="0">
                <ns0:solidFill>
                  <ns0:srgbClr val="000000"/>
                </ns0:solidFill>
                <ns0:latin typeface="Arial"/>
                <ns0:ea typeface="Noto Sans CJK JP"/>
              </ns0:rPr>
              <ns0:t>シャツ</ns0:t>
            </ns0:r>
          </ns0:p>
        </p:txBody>
      </p:sp>
      <p:sp>
        <p:nvSpPr>
          <p:cNvPr id="22" name="shirt">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1905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shirt</ns0:t>
            </ns0:r>
          </ns0:p>
        </p:txBody>
      </p:sp>
      <p:sp>
        <p:nvSpPr>
          <p:cNvPr id="32" name="Romaji answer box"/>
          <p:cNvSpPr/>
          <p:nvPr/>
        </p:nvSpPr>
        <p:spPr>
          <ns0:xfrm xmlns:ns0="http://schemas.openxmlformats.org/drawingml/2006/main">
            <ns0:off x="6286500" y="2286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3" name="ティー">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2857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300" b="0">
                <ns0:solidFill>
                  <ns0:srgbClr val="000000"/>
                </ns0:solidFill>
                <ns0:latin typeface="Arial"/>
                <ns0:ea typeface="Noto Sans CJK JP"/>
              </ns0:rPr>
              <ns0:t>ティー</ns0:t>
            </ns0:r>
          </ns0:p>
        </p:txBody>
      </p:sp>
      <p:sp>
        <p:nvSpPr>
          <p:cNvPr id="23" name="tea">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523875" y="3429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tea</ns0:t>
            </ns0:r>
          </ns0:p>
        </p:txBody>
      </p:sp>
      <p:sp>
        <p:nvSpPr>
          <p:cNvPr id="33" name="Romaji answer box"/>
          <p:cNvSpPr/>
          <p:nvPr/>
        </p:nvSpPr>
        <p:spPr>
          <ns0:xfrm xmlns:ns0="http://schemas.openxmlformats.org/drawingml/2006/main">
            <ns0:off x="571500" y="3810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4" name="ケーキ">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2857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300" b="0">
                <ns0:solidFill>
                  <ns0:srgbClr val="000000"/>
                </ns0:solidFill>
                <ns0:latin typeface="Arial"/>
                <ns0:ea typeface="Noto Sans CJK JP"/>
              </ns0:rPr>
              <ns0:t>ケーキ</ns0:t>
            </ns0:r>
          </ns0:p>
        </p:txBody>
      </p:sp>
      <p:sp>
        <p:nvSpPr>
          <p:cNvPr id="24" name="cake">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3381375" y="3429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cake</ns0:t>
            </ns0:r>
          </ns0:p>
        </p:txBody>
      </p:sp>
      <p:sp>
        <p:nvSpPr>
          <p:cNvPr id="34" name="Romaji answer box"/>
          <p:cNvSpPr/>
          <p:nvPr/>
        </p:nvSpPr>
        <p:spPr>
          <ns0:xfrm xmlns:ns0="http://schemas.openxmlformats.org/drawingml/2006/main">
            <ns0:off x="3429000" y="3810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
        <p:nvSpPr>
          <p:cNvPr id="15" name="カップ">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2857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3300" b="0">
                <ns0:solidFill>
                  <ns0:srgbClr val="000000"/>
                </ns0:solidFill>
                <ns0:latin typeface="Arial"/>
                <ns0:ea typeface="Noto Sans CJK JP"/>
              </ns0:rPr>
              <ns0:t>カップ</ns0:t>
            </ns0:r>
          </ns0:p>
        </p:txBody>
      </p:sp>
      <p:sp>
        <p:nvSpPr>
          <p:cNvPr id="25" name="cup">
            <a:extLst xmlns:a="http://schemas.openxmlformats.org/drawingml/2006/main">
              <a:ext uri="{FF2B5EF4-FFF2-40B4-BE49-F238E27FC236}">
                <a16:creationId xmlns:a16="http://schemas.microsoft.com/office/drawing/2014/main" id="{EB2F4B29-860A-4120-BE05-F666687ECBA7}"/>
              </a:ext>
            </a:extLst>
          </p:cNvPr>
          <p:cNvSpPr>
            <a:spLocks xmlns:a="http://schemas.openxmlformats.org/drawingml/2006/main" noGrp="1"/>
          </p:cNvSpPr>
          <p:nvPr/>
        </p:nvSpPr>
        <p:spPr>
          <a:xfrm xmlns:a="http://schemas.openxmlformats.org/drawingml/2006/main">
            <a:off x="6238875" y="34290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ns0:p xmlns:ns0="http://schemas.openxmlformats.org/drawingml/2006/main">
            <ns0:pPr algn="ctr"/>
            <ns0:r>
              <ns0:rPr sz="1600" b="0">
                <ns0:solidFill>
                  <ns0:srgbClr val="000000"/>
                </ns0:solidFill>
                <ns0:latin typeface="Arial"/>
                <ns0:ea typeface="Noto Sans CJK JP"/>
              </ns0:rPr>
              <ns0:t>cup</ns0:t>
            </ns0:r>
          </ns0:p>
        </p:txBody>
      </p:sp>
      <p:sp>
        <p:nvSpPr>
          <p:cNvPr id="35" name="Romaji answer box"/>
          <p:cNvSpPr/>
          <p:nvPr/>
        </p:nvSpPr>
        <p:spPr>
          <ns0:xfrm xmlns:ns0="http://schemas.openxmlformats.org/drawingml/2006/main">
            <ns0:off x="6286500" y="3810000"/>
            <ns0:ext cx="2286000" cy="457200"/>
          </ns0:xfrm>
          <ns1:prstGeom xmlns:ns1="http://schemas.openxmlformats.org/drawingml/2006/main" prst="rect">
            <ns1:avLst/>
          </ns1:prstGeom>
          <ns2:noFill xmlns:ns2="http://schemas.openxmlformats.org/drawingml/2006/main"/>
          <ns3:ln xmlns:ns3="http://schemas.openxmlformats.org/drawingml/2006/main" w="12700">
            <ns3:solidFill>
              <ns3:srgbClr val="777777"/>
            </ns3:solidFill>
          </ns3:ln>
        </p:spPr>
      </p:sp>
    </p:spTree>
    <p:extLst>
      <p:ext uri="{BB962C8B-B14F-4D97-AF65-F5344CB8AC3E}">
        <p14:creationId xmlns:p14="http://schemas.microsoft.com/office/powerpoint/2010/main" val="1935321925"/>
      </p:ext>
    </p:extLst>
  </p:cSld>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